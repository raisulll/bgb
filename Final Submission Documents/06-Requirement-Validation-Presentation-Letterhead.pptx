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Lst>
  <p:notesMasterIdLst>
    <p:notesMasterId r:id="rId1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114bc9-4f3a-57b7-6134-d82bd535ef8a}">
          <p14:sldIdLst>
            <p14:sldId id="256"/>
            <p14:sldId id="257"/>
            <p14:sldId id="258"/>
            <p14:sldId id="259"/>
            <p14:sldId id="260"/>
          </p14:sldIdLst>
        </p14:section>
        <p14:section name="Solution" id="{44d3148e-d5fb-770c-62b4-64dc89573a8b}">
          <p14:sldIdLst>
            <p14:sldId id="261"/>
            <p14:sldId id="262"/>
            <p14:sldId id="263"/>
          </p14:sldIdLst>
        </p14:section>
        <p14:section name="Access and security" id="{235e33a2-c03d-8998-8cd1-b48784eeb772}">
          <p14:sldIdLst>
            <p14:sldId id="264"/>
            <p14:sldId id="265"/>
            <p14:sldId id="266"/>
            <p14:sldId id="267"/>
            <p14:sldId id="268"/>
            <p14:sldId id="269"/>
            <p14:sldId id="270"/>
          </p14:sldIdLst>
        </p14:section>
        <p14:section name="Incident registration" id="{1b765955-e834-8e1a-1e6b-2cc250dbd2c3}">
          <p14:sldIdLst>
            <p14:sldId id="271"/>
            <p14:sldId id="272"/>
            <p14:sldId id="273"/>
            <p14:sldId id="274"/>
            <p14:sldId id="275"/>
            <p14:sldId id="276"/>
            <p14:sldId id="277"/>
            <p14:sldId id="278"/>
            <p14:sldId id="279"/>
            <p14:sldId id="280"/>
            <p14:sldId id="281"/>
            <p14:sldId id="282"/>
            <p14:sldId id="283"/>
          </p14:sldIdLst>
        </p14:section>
        <p14:section name="Workflow and verification" id="{37b9748b-8234-50fe-32cf-0768fbd4d3d9}">
          <p14:sldIdLst>
            <p14:sldId id="284"/>
            <p14:sldId id="285"/>
            <p14:sldId id="286"/>
            <p14:sldId id="287"/>
            <p14:sldId id="288"/>
            <p14:sldId id="289"/>
            <p14:sldId id="290"/>
            <p14:sldId id="291"/>
            <p14:sldId id="292"/>
            <p14:sldId id="293"/>
            <p14:sldId id="294"/>
            <p14:sldId id="295"/>
            <p14:sldId id="296"/>
          </p14:sldIdLst>
        </p14:section>
        <p14:section name="Tracking and dashboards" id="{911323e5-56f2-a3d0-378b-e379c74bc172}">
          <p14:sldIdLst>
            <p14:sldId id="297"/>
            <p14:sldId id="298"/>
            <p14:sldId id="299"/>
            <p14:sldId id="300"/>
            <p14:sldId id="301"/>
            <p14:sldId id="302"/>
            <p14:sldId id="303"/>
          </p14:sldIdLst>
        </p14:section>
        <p14:section name="GIS map" id="{238c1af7-ba93-4267-c99d-95827b7a14c6}">
          <p14:sldIdLst>
            <p14:sldId id="304"/>
            <p14:sldId id="305"/>
            <p14:sldId id="306"/>
            <p14:sldId id="307"/>
            <p14:sldId id="308"/>
            <p14:sldId id="309"/>
            <p14:sldId id="310"/>
            <p14:sldId id="311"/>
            <p14:sldId id="312"/>
          </p14:sldIdLst>
        </p14:section>
        <p14:section name="Analytics" id="{ae107a3f-18e5-3cd2-6ac1-1ef172bf2d1b}">
          <p14:sldIdLst>
            <p14:sldId id="313"/>
            <p14:sldId id="314"/>
            <p14:sldId id="315"/>
            <p14:sldId id="316"/>
            <p14:sldId id="317"/>
            <p14:sldId id="318"/>
            <p14:sldId id="319"/>
          </p14:sldIdLst>
        </p14:section>
        <p14:section name="Reports and printing" id="{b7856ddc-a6cc-1ffc-b24b-5ac643a208f5}">
          <p14:sldIdLst>
            <p14:sldId id="320"/>
            <p14:sldId id="321"/>
            <p14:sldId id="322"/>
            <p14:sldId id="323"/>
            <p14:sldId id="324"/>
            <p14:sldId id="325"/>
            <p14:sldId id="326"/>
            <p14:sldId id="327"/>
            <p14:sldId id="328"/>
            <p14:sldId id="329"/>
            <p14:sldId id="330"/>
            <p14:sldId id="331"/>
          </p14:sldIdLst>
        </p14:section>
        <p14:section name="Audit and integrity" id="{672fe26a-9140-7f50-9b73-02ed3b545a7c}">
          <p14:sldIdLst>
            <p14:sldId id="332"/>
            <p14:sldId id="333"/>
            <p14:sldId id="334"/>
            <p14:sldId id="335"/>
            <p14:sldId id="336"/>
          </p14:sldIdLst>
        </p14:section>
        <p14:section name="Administration" id="{d95e8650-0a30-3b3a-28d6-6d35298b5ba2}">
          <p14:sldIdLst>
            <p14:sldId id="337"/>
            <p14:sldId id="338"/>
            <p14:sldId id="339"/>
            <p14:sldId id="340"/>
            <p14:sldId id="341"/>
            <p14:sldId id="342"/>
            <p14:sldId id="343"/>
            <p14:sldId id="344"/>
            <p14:sldId id="345"/>
            <p14:sldId id="346"/>
            <p14:sldId id="347"/>
          </p14:sldIdLst>
        </p14:section>
        <p14:section name="Platform and integration" id="{b3a008f3-49b6-37d1-e050-9000c46e97c0}">
          <p14:sldIdLst>
            <p14:sldId id="348"/>
            <p14:sldId id="349"/>
            <p14:sldId id="350"/>
            <p14:sldId id="351"/>
            <p14:sldId id="352"/>
            <p14:sldId id="353"/>
            <p14:sldId id="354"/>
          </p14:sldIdLst>
        </p14:section>
        <p14:section name="Messaging and calls" id="{1da4a9f2-26ac-d456-e24c-959739b6bb48}">
          <p14:sldIdLst>
            <p14:sldId id="355"/>
            <p14:sldId id="356"/>
            <p14:sldId id="357"/>
            <p14:sldId id="358"/>
            <p14:sldId id="359"/>
            <p14:sldId id="360"/>
            <p14:sldId id="361"/>
            <p14:sldId id="362"/>
            <p14:sldId id="363"/>
            <p14:sldId id="364"/>
            <p14:sldId id="365"/>
            <p14:sldId id="366"/>
            <p14:sldId id="367"/>
          </p14:sldIdLst>
        </p14:section>
        <p14:section name="Value additions" id="{187ef10e-4ea8-b7bf-1c7d-9897f2505b4b}">
          <p14:sldIdLst>
            <p14:sldId id="368"/>
            <p14:sldId id="369"/>
            <p14:sldId id="370"/>
          </p14:sldIdLst>
        </p14:section>
        <p14:section name="Delivery" id="{c1a05f48-2c42-f703-0964-71f346ec6ec9}">
          <p14:sldIdLst>
            <p14:sldId id="371"/>
            <p14:sldId id="372"/>
            <p14:sldId id="373"/>
            <p14:sldId id="374"/>
            <p14:sldId id="375"/>
          </p14:sldIdLst>
        </p14:section>
        <p14:section name="Summary" id="{b618b037-83a3-e7c4-d0e9-80e3a7691120}">
          <p14:sldIdLst>
            <p14:sldId id="376"/>
            <p14:sldId id="3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notesMaster" Target="notesMasters/notesMaster1.xml"/><Relationship Id="rId125" Type="http://schemas.openxmlformats.org/officeDocument/2006/relationships/presProps" Target="presProps.xml"/><Relationship Id="rId126" Type="http://schemas.openxmlformats.org/officeDocument/2006/relationships/viewProps" Target="viewProps.xml"/><Relationship Id="rId127" Type="http://schemas.openxmlformats.org/officeDocument/2006/relationships/theme" Target="theme/theme1.xml"/><Relationship Id="rId1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Grace International, and we are here for e-GP tender 1347267, BIRDS Phase II, the Border Incident Reporting and Documentation System.
This presentation takes the committee through every screen of the system we offer and shows, against each of the 58 items of the Technical Specification, where and how the item is met.
What you see is working software, not a mock-up. It runs now at birds-demo.onrender.com with demonstration data, and we can switch to it at any point. Questions are welcome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follows the life of an incident: access, filing, workflow, tracking, the map, analytics, reports, audit and administration, then the platform and secure communications, the value additions, and how the system is delivered. Each screen slide shows on the right the specification items it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58 items are answered "Comply". The Technical Specification columns are reproduced word for word, as the tender rules require.
32 items can be demonstrated working today. 12 work today and are completed or configured when the system is installed on BGB servers, such as directory sign-in or database storage encryption. The remaining 14 are delivered during implementation: backup, the DR site, high availability, load testing, the vulnerability assessment, documentation, training, warranty and UAT.
In addition we offer 32 value additions, included in the quoted price and not conditions of the offer.
If asked: Annex A gives, for every item, how it is met and where to verify it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demonstration runs at birds-demo.onrender.com. These five accounts cover the five roles; every screen in this presentation can be opened with them.
The demonstration data covers the whole border from April 2025 to October 2026: 130 incidents at 32 BOPs, every category and every workflow state, 361 evidence files and about 2,500 audit entries. The places are real; the people and events are fictional.
If asked: the free hosting may take a few seconds for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guide to the slides. Green badges are specification items. The violet Demo marker means a feature is shown as it will look in production but is not functional in this demo version; it applies to the operations items such as backup and high availability. Values with a dashed frame inside such panels are samples, not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2 asks for a centralized, web-based, three-tier architecture.
The presentation layer is a web application in Chrome, Edge or Firefox on desktops, tablets and phones, in English and Bangla; nothing is installed on users' computers.
The application layer holds every business rule: permissions, workflow, audit, files, messaging. It exposes a secure REST API; the browser decides nothing on its own.
The data layer is PostgreSQL with a standby copy and central encrypted storage for evidence. Application servers keep no session state in memory, so more can be added behind the load balancer. All components are open source.
If asked: Technical Proposal,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not one feature but six layers, each protecting the records even if another fails: encrypted transport; strong identity and session control; roles and unit scope checked by the server on every request; records protected by workflow rules and by append-only tables in the database; evidence files checked, encrypted and fingerprinted; and a hash-chained audit trail.
If asked: the OWASP Top 10 assessment and vulnerability scan are delivered before production (items 49,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built from proven open-source components with permissive licences, so BGB pays no licence fees. The complete source code, database schema, configuration and documentation are handed over, item 51. The server has an automated test suite of 166 tests that runs before every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access and security, items 3, 4 and 26 to 29. How users sign in, how sessions are controlled, and how roles and units limit what each officer can see and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sign in with username and password, always over HTTPS. The language can be switched to Bangla on this first page, and every screen after it follows.
Passwords are never stored, only a bcrypt hash. Error messages are generic, so they never reveal whether a username exists. Repeated failures lock the account and are written to the audit trail.
Show: sign in as hq_admin / Admin@123; switch the language with the EN / বাংলা switch.
If asked: directory (AD/LDAP) sign-in is configured at deployment once BGB provides the directory details; the settings page is ready (item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dashboard for five officers. Col. Rahman at HQ sees the whole country: 127 filed incidents. Capt. Hasan, a battalion operator of 17 BGB, sees only his battalion: 39. The Sector-7 officer and the Sector-7 verifier see their sector.
The menu also differs: the battalion operator has no Analytics, Reports, Audit or Administration; the auditor has no "New incident". This comes from the permission matrix, and the server enforces it on every request, not just by hiding buttons.
Show: sign in as batt_op / Batt@123 and as hq_admin; compare the menu and the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and system page opens with the status of the system: the API service, the database, e-mail delivery and the sign-in method, each stated in words with an icon.
Below it, every security setting is grouped into sections, with a section menu on the left. Each change applies at once and is recorded in the audit trail with the old and new value.
Show: Administration › Security &amp; system (hq_admin).
If asked: e-mail shows "Not configured" in the demo because no SMTP server is connected; in-app notifications work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29: minimum length, uppercase, number and special character, the number of failed attempts before the account locks and how long it stays locked.
Item 28: the idle session timeout, 30 minutes here, and single active session: a new sign-in ends the user's other sessions.
Every value is checked against its allowed range by the server, for example 8 to 64 characters.
Show: change "Lockout duration" and point to the new CONFIG_CHANGE entry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user can see where they are signed in, with browser and device, and sign out other sessions. Below is their own recent activity: sign-ins, sign-outs and idle timeouts, with IP address.
This lets an officer notice a sign-in they did not make, which supports item 28 and the audit requirement.
Show: user menu › My profile (any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password change page shows the policy and ticks each rule as the user types. After an administrator resets a password, the user must change it at the next sign-in.
On the right, the audit trail filtered for lockouts: on 14-01-2026 the 8 BGB operator was locked after five wrong passwords, and the HQ administrator unlocked the account 19 minutes later. Both events are permanent entries.
Show: Audit trail › search "Locked" (auditor or hq_admin).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filing an incident, items 5 to 11 and 15. We follow Capt. Hasan, battalion operator of 17 BGB, as he files a report with GPS location, photos, a video and the seizure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incident opens a three-step form. Step one is the title, date and time, severity and the category and sub-category, here Smuggling and Yaba/Ice.
The categories are not fixed in the code: administrators add or rename them in the Admin module, item 6. The report can be saved as a draft at any step and finished later.
Show: New incident as batt_op / Batt@123.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places the incident. The officer can only choose units inside his own scope: Capt. Hasan sees 17 BGB and its BOPs, nothing else.
"Detect GPS" takes the position from the phone or laptop; it can also be typed in. The location name can be written in English and Bangla.
Show: Detect GPS on a phone shows the device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narrative and the operational details: persons involved, action taken and outcome. Text can be written in Bangla, English or both, as here; it is stored and printed exactly as entered.
Evidence files are attached in the same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four files are attached: two photographs, a video and the seizure list as a PDF. They show in place before anything is uploaded, so the officer can check them.
Accepted types are JPEG, PNG, GIF, PDF, MP4, MOV and office documents (Word, Excel, PowerPoint, OpenDocument, RTF), up to 50 MB each. The server checks the real content of each file, not just its name, and stores it encrypted.
Show: drag files onto the drop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filing, BIRDS looks for incidents reported nearby on the same day or the day before: here the same BOP Himchari and category as BIRDS-2026-1080. The warning names that report so the officer can open it and, if it is the same event, add to it instead of filing again.
It is advice only; the officer can still file. This is one of our value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BIRDS-2026-1072: an unidentified drone over BOP Himchari, with a Bangla title. At the top: the unique reference number, status Verified, severity High, and the red flag "Overdue · 6 d" because it has waited six days in this step.
The narrative is in English and Bangla. On the right, the timeline. The buttons at the top are the actions this user may take now: Maj. Alam, the verifier, sees Approve, Return and Reject.
Show: open BIRDS-2026-1072 as verifier / Verify@123.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opens in place. Under each file: name, size, upload time and, for photographs, the camera and capture time read from the file's own EXIF data, here a Samsung phone. Each file also has a SHA-256 fingerprint taken at upload.
On the right, related incidents: other reports at the same BOP or within 5 km in the 30 days before and after.
If asked: the demo photographs are freely licensed pictures of real border places; their EXIF is their own, so capture dates differ from the fictional incident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photos, videos and PDFs, officers attach reports and other documents: Word, Excel and PowerPoint in current and older formats, OpenDocument and RTF. Here the BOP's seizure inventory as a Word file.
Under the file: the author and the created and modified dates, read from the document's own properties, next to its SHA-256 fingerprint. The file type is decided from the content, not the name, and documents that contain macros are refused.
Show: open BIRDS-2026-1067 as batt_op / Batt@123 and attach a Word or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evidence plays inside the page, here the night recording of the drone. Photos open full size with one click.
Every file is fetched with the user's access token, decrypted on the server and checked; opening evidence is recorded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re-reads the stored file, decrypts it and recomputes the SHA-256 fingerprint. The message confirms it matches the one taken at upload, so the file is exactly as filed.
If a stored file had been altered, decryption fails and BIRDS refuses to serve it, records the attempt and says so plainly. This supports chain of custody for court cases.
Show: Verify on any evidence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demo incident carries a document such as this seizure list: crest, classification, unit and incident reference, the seized items with quantity and value, witnesses and signature lines, in English and Bangla.
In operation these are the officer's scanned documents; any PDF is accepted. The footer marks this one as demonstration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down: the incident on the map, and the comments. Reviewers and the filing officer discuss the report here instead of by phone; comments are part of the record, cannot be edited or deleted, and notify the other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workflow, items 12 to 14, 23 and 25. From submission through review, verification and approval to closure, with return for correction and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states the workflow rules. Six stages, plus Returned and Rejected. For each transition: who may perform it and the rule that applies.
Two rules apply everywhere: an officer acts only on incidents inside their scope, and nobody can review, verify or approve a report they filed themselves. The server enforces both; the buttons only reflect them.
Show: Administration ›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my action" is each officer's queue. For Lt. Col. Karim, the Sector-7 officer, it lists the nine reports that wait for his review, newest first. Red "Overdue" badges show which have waited longer than the configured three days. The action button sits on each row.
Show: Incidents › Needs my action as sector_off / Sector@123.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 submitted report as the Sector officer sees it: Modify report, Review, Return or Reject. On the right, a reviewed report as the Verifier sees it: Modify report, Verify, Return or Reject.
There is no fixed list in the browser: the server sends the actions allowed for this user, at this stage, for this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14 asks that supervisory officers can modify a report, not only return it. "Modify report" opens the same form with a notice: the change will be recorded and the filing officer informed. Here Lt. Col. Karim raises the severity from Medium to High.
Saving asks for a reason. Only the officer who may act on the report at its current stage can do this, never on a report they filed, and never once it is approved, closed or rejected; the server enforces all three.
Show: BIRDS-2026-1080 as sector_off / Sector@123 › "Modify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saving, the timeline shows "Modified by reviewer" with the changed fields and the reason. The audit trail records each changed field with its old and new value, so anyone can see exactly what the supervisor changed: here severity "Medium" → "High". The filing officer receives a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a report for correction, or rejecting it, requires a reason. The reason goes into the timeline, the audit trail and the notification to the filing officer.
Show: Return on a submitted report as sector_off; cancel without confirming if you want to keep the demo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 Hasan opens his returned report and sees why: returned by Lt. Col. Karim on 03-10-2026, "Add the addresses of the detained persons". He edits the report and resubmits it.
The officer who filed a report can change it only while it is a draft or returned. After submission, only a supervisor at the current stage can modify it before approval, with a reason and a field-by-field audit entry; once approved, closed or rejected, nobody can.
Show: BIRDS-2026-1067 as batt_op.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verification, the approver approves, and the HQ administrator closes the case. Closed records can no longer be modified by anyone. This one, BIRDS-2026-1068, waits for Col. Rahman to close it.
Show: hq_admin › Needs my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of BIRDS-2026-1070 shows its whole life: filed, returned with a reason, edited, resubmitted, reviewed, verified and approved, each with the officer and the time in Bangladesh time.
Timeline rows and comments are append-only in the database itself: the database refuses to change or delete them, whoever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"Overdue only" filter lists reports that have waited longer than the configured period in one step, three days in the demo. The badge shows how long. HQ uses this to chase delays; the period is set in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bell shows notifications: here a new comment, new submissions waiting for Lt. Col. Karim and a missed call. Each links to its incident. Notifications go to the next responsible officers within scope, never to the person who acted.
E-mail is sent for submissions, approvals, returns and rejections once an SMTP relay is connected, and push notifications reach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 Hasan has two drafts he has not submitted. Drafts are visible only to their author; nobody else sees or counts them until they are submitted. A draft that was never submitted can be discarded; once filed, a report stays 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tracking, search and the dashboard, items 15 to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 register shows every report in the officer's scope, 100 active records for HQ. Titles appear as entered, in Bangla or English. Status, overdue flag and the next action are on each row; columns sort and the list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 combine: here Sector-7, 17 BGB, the category Smuggling and the incident type Yaba/Ice. Filters are kept in the address, so a filtered list can be bookmarked or shared.
On the right, the archive: 27 closed records older than a year were archived by the nightly job. They stay searchable, in statistics and on record; nothing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box in the header finds incidents by reference number or title from any page; suggestions appear while typing. Here "Yaba" finds recent smuggling reports with their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HQ dashboard. At the top, "Waiting for you": 15 reports need Col. Rahman's action, 11 of them overdue. Then the period selector and the key figures: 127 filed, 17 open, 12 awaiting review or approval, 106 verified (passed verification, including approved and closed), 104 approved or closed, 54 high or critical.
Below, incidents by category and the 12-month trend with high and critical incidents and approvals.
Show: Dashboard as hq_admin; change the period to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down: incidents by sector with a severity-weighted risk score, and the most recent reports. The category card can switch from chart to breakdown, showing the high and critical share of each category. Clicking any figure opens those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archived incident from April 2026 opens read-only with a banner stating when it was archived. The administrator can restore it with a reason; both archiving and restoring are in the timeline and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the GIS map, items 8 and 18. Where incidents happen, how to zoom in on a place and go from the map to the incidents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the 127 geotagged incidents from Tetulia in the north to Teknaf in the south. Each point is a BOP; the number is its incidents, the size grows with it, and the colour is the most severe incident there. Where points overlap, the busiest stays on top.
On opening, the map flies in from the whole country to the area of the incidents shown, and again whenever a filter changes the set.
Show: GIS map as hq_admin.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Pointing at a point shows the BOP, its total, and its two most recent incidents with reference number and date, here BOP Ghumdhum with 8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the point zooms the map in on it, street level, and opens the popup with the last two incidents and "View details" for each.
Zoom in, zoom out and the close button appear at the top right while zoomed in. The close button returns to the whole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zoom in further with the plus button. Step two: "Show all 8 incidents" opens the incident register filtered to BOP Ghumdhum, with the map's filters carried over. Step three: "Back to the map" returns to the map exactly as it was left: same filters, same zoom, same popup open. The browser's Back button does the same.
Show: click a point, Show all, then Back to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button returns to the whole country. Filters re-draw the map and fit it to the matching incidents: Critical only, 17 incidents, mostly along the Myanmar border.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Clusters mode shows each incident at its own GPS position, grouped by zoom level, each group coloured by its most severe incident. Clicking a group zooms into it until the individual incidents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map weights each incident by severity, so concentrations of serious incidents stand out: Teknaf and the Naf River, the south-west around Benapole and Satkhira, and the north around Burimari and Hili.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map, every incident location with coordinates and status, each opening the incident. On a phone the map works the same way; the zoom controls move to the bottom so they never cover the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analytics and trend analysis, items 19 and 20. Every chart opens the incidents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for the last year: 94 incidents, 8 % more than the previous month, 42 high or critical, a resolution rate of 79 %, and 12 pending review, 13 of them overdue, with a link to those.
The trend shows all incidents, the high and critical ones, and the same months a year earlier as a dashed line. Clicking a point opens that month's incidents.
Show: Analytics as hq_admin.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category and sector breakdowns. Categories are sorted bars split into high or critical and the rest, so the most serious problems stand out: smuggling and security threats. The sector chart stacks the four severity levels.
Any bar opens the matching incidents with the same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incidents happen": the busiest hour is 02:00 to 03:00, and 62 % of incidents happen at night, between 18:00 and 06:00, which supports night ambush planning. Below, the pattern by day of the week.
Hotspots: the BOPs with the highest severity-weighted risk score, with their high or critical count and latest date. Each opens its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sector risk summary: for each sector, total incidents, the share that is high or critical, the risk score and an assessment. The rule is printed under the table: 60 % or more is a critical sector, 40 % high risk, 20 % moderate; the score weights Low 1 to Critical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the Smuggling bar opened the register with the analytics period and the category set: 29 incidents. The figures and the records always agree, because both come from the same server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page for 30 days by day, three years by quarter, and Sector-7 only. A battalion operator sees only his battalion's figures; the server applies the scope to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seven: reports, printing and export, items 21 and 22. Four report templates, a formal printed document, the full incident annex, the single-incident printout, and Excel and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Reports page: choose a template, the period, the unit, category, severity and status, then "Update report". Here the operational log for 1 September to today: 27 incidents, 14 high or critical, 13 overdue.
Option "Include full details of each incident" adds the annex with every incident and its evidence.
Show: Reports as hq_admin.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the report shows its tables: distribution by category with high or critical share, distribution by sector with risk score, and the register of every incident in the report. Nothing is printed until the officer chooses Print /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 PDF opens a preview of the formal document exactly as it prints: CONFIDENTIAL // OPERATIONAL, the crest and letterhead, the reference "issued when printed", the date and subject, then numbered sections.
When the officer prints, the server issues the next reference number and records the print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printed pages, saved as PDF from the browser. Page one: the reference number BGB/BIRDS/RPT/2026/0001, scope and parameters. Page two: the summary of incidents and the distributions. The classification marking is at the top and bottom of every page with "Page x of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pages: the register of incidents in the report, a certificate that the figures come from the BIRDS records at the stated time, the Prepared, Checked and Approved signature blocks, prefilled with the officer who printed it, and the distribution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operational log there are three more templates: the statistical and threat summary, the high-threat alert digest of high and critical incidents only, and the sector performance report. Each prints in the same formal layout with its own reference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Ticking "Include full details of each incident" adds Annex A: each incident in the report on its own page, with all its particulars, timeline and evidence; photographs are reproduced and each video gets a still frame. Here for the high-threat digest: 14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printed annex pages for BIRDS-2026-1079, the rescue at Shah Porir Dwip. First the particulars and the bilingual narrative; then the evidence: each photograph reproduced with its file name, type, size, camera, capture and upload time and SHA-256 fingerprint. A document that cannot be reproduced is listed with its details. The full report with annex was 42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incident can be printed on its own from its page: the same formal layout with the incident's particulars, narrative, evidence, record history and signature blocks. It gets its own reference number and audit entry.
Show: BIRDS-2026-1072 › Print /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printed incident record: particulars, the Bangla title and the bilingual narrative, action and outcome, and the evidence with photographs and their metadata, followed by the record history and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and CSV are generated by the server. The file starts with CONFIDENTIAL // OPERATIONAL, the report title and who generated it, when and with which filters, then one row per incident. Bangla text is kept. Every export is recorded in the audit trail, and cells are protected against formula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eight: the audit trail and data integrity, items 24 and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trail of the demo holds about 2,500 entries since installation in March 2025: sign-ins and sign-outs, every workflow action, evidence uploads and views, prints with their reference numbers, exports, settings changes, user management and calls. Each has user, time, action, details and IP address. It can be searched, filtered, exported and printed.
Show: Audit trail as auditor / Audit@123.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entry stores a SHA-256 hash of its contents and of the entry before it, so the entries form a chain. "Verify integrity now" recomputes the chain in the database and reports "Chain intact" with the number of entries checked. If any entry had been changed or removed, it would report the first broken entry. Updates and deletions of audit rows are refused by the database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one entry: time in Bangladesh time, user identity, action, origin IP address, browser, the full event details, and the two hashes: the previous entry's and this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by action shows, for example, every printed report with its reference number, so any paper copy can be traced. Searching for an incident number shows everything that happened to it: who viewed, verified, printed or downloaded its evidence,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nine: administration and configuration, everything that can be changed without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accounts: 21 in the demo, each with role, unit scope, status and last sign-in. The administrator creates users, edits role and scope, resets passwords with a one-time temporary password, unlocks and deactivates; accounts are never deleted, so the history stays complete. One former 8 BGB operator is deactivated.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an account: name, username, e-mail, role and scope. When role or scope changes, the user's current sessions end at once so nothing runs on the old privileges. The administrator cannot demote themself, and the last HQ administrator cannot be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permissions matrix: each role's access to each module, as checkboxes. The server enforces the matrix on every request. Administration access for the HQ administrator is locked so nobody can lock themselves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categories and sub-categories, with the number of incidents in each. New ones can be added at any time; categories already used keep their name so history stays consistent, and can be deactivated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hierarchy of the demo: HQ, five sectors, ten battalions and 32 BOPs, each placed at its real location. New units are added here. Units are never renamed or removed once used, because incidents and user scopes refer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Archiving and retention: closed or rejected incidents untouched for 365 days are archived every night; 27 are archived in the demo. Records past the retention period are only flagged for review; nothing is deleted automatically.
E-mail notifications go through an outbox, so a mail-server outage loses nothing; the delivery state is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Directory sign-in: the settings for BGB's Active Directory are laid out and marked Demo, because BGB's directory details are needed to connect it. Below, the next incident reference number for each year, allocated by the server so numbers are never duplicated.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Operations tab shows how backup, disaster recovery, high availability, performance monitoring and log management will appear in production. It is clearly marked Demo: the buttons do nothing and sample values are marked as samples. These items are delivered on BGB infrastructure, as the Technical Proposal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interval is a real stored setting; the method is an encrypted, compressed database dump copied off-site, evidence files included. Disaster recovery: streaming replication to a second site, with recovery point and time objectives. High availability: load balancer, two application nodes and a database standby.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the tender's targets of up to 500 concurrent users (the system is sized with reserve capacity), under three seconds and 99.5 % availability, and where the load-test results will be shown. Logs: application, error, security and HTTP access logs are recorded now; rotation and forwarding to a SIEM are configured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ten: Bangla, phones and tablets, and the API for other BGB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dashboard in Bangla. Every label, message, notification and printout is translated; the Bengali font is part of the application, so it shows correctly on every computer. Data entered by officers is shown as entered.
Show: the EN / বাংলা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 record and the analytics page in Bangla. Charts, buttons, status names and messages follow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administration is translated, including the setting names, units and hints.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phone the same system adapts: dashboard, an incident with its return banner, and the incident list as cards. BIRDS installs from the browser to the home screen on Android and iPhone, without an app store, and updates itself with the server.
Show: open the demo address on a phone; Chrome › Install app, or Safari › Share › Add to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tablet in portrait shows the full register. The user menu gives My profile, Change password and Sign out on every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documentation: how to authenticate, permissions, the error format, rate limits and the realtime channel, then every endpoint by group with its parameters and responses. An authorised BGB system can file, read and report through the same API the application uses.
Show: birds-demo.onrender.com/api/docs.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eleven: secure communication inside BIRDS. Direct and group messages, voice messages and audio calls, all on BGB servers and kept as official records. This is a value addition, not a specification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Capt. Hasan's direct conversations and groups, with unread counts. Officers can talk about incidents inside BIRDS instead of on public messaging apps; every message stays on BGB servers as a permanent record. Messaging is a permission in the matrix and can be withheld from any role.
Show: Messages as batt_op.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 conversation between Capt. Hasan and Lt. Col. Karim, in Bangla and English, about the seizure list and the night ambush. Messages are delivered instantly over the realtime channel and cannot be edited or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messages for officers in the field: tap the microphone, speak, tap send. The recording shows a timer and can be cancelled. The audio is stored encrypted with a SHA-256 fingerprint and plays inside the conversation.
Show: microphone button in any conversation (needs microphone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 Col. Karim receives the voice message at once and plays it in place. The audio is checked against its fingerprint before it is 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 Col. Karim presses Call in the conversation. Capt. Hasan, working on his dashboard, gets the incoming call with Answer and Decline and a ring tone. On a phone with notifications switched on, the call rings even when BIRDS is closed.
Show: sign in as two users in two browsers; Call from a direct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is connected on both sides with a timer, Mute and Hang up. Audio flows directly between the two browsers, encrypted; BIRDS never records it. What is kept is the call record: who called whom, when, how long and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log: each officer's calls with direction, result, time and duration, and a Call back button. The "All calls" tab, for administrators and auditors only, shows every call in the system. Each call is also a CALL entry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chat: "Sector-7 Operations" with the sector officer, the verifier and the battalion operators. Orders, weather reports from the BOPs and reminders, in English and Bangla.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settings: the group admins, the members, and requests waiting for approval. Here Capt. Hasan has asked to add Maj. Selina Parvin; an admin must approve. Admins can make other admins, remove members, rename the group and change its photo; every change is a system message in the group and an audit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officer with messaging can create a group, naming it in English or Bangla and choosing members from the directory. "Naf River Watch" coordinates the night patrols on the Naf River and has its own photo, stored encrypted like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"HQ Duty Officers" links HQ with the five sector officers for daily coordination: floods at Roumari, rescue boats at Jaflong, fishing boats detained in the Raimangal.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phone, conversations and chat work as in a messaging app. With push notifications switched on, calls and messages reach the phone while BIRDS is closed; notifications show names only, never message text, and stop when the user signs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twelve: features we add beyond the specification. They are included in the quoted price, offered in addition to and not in place of any required item, and none is a condition of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32 value additions grouped by area: secure communications, the installable app and push notifications, evidence integrity, the hash-chained audit, work management features such as the work queue and overdue flags, formal printouts, map and analytics extras, full Bangla, and the API documentation. Annex B gives the benefit of each and where to see it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value additions to work in production, BGB provides some infrastructure: a TURN relay server for calls across networks, outbound internet access for push notifications, secure mobile access for field devices, a trusted HTTPS certificate for installing the app, extra storage, WebSocket through the proxy and an SMTP relay. Without them the features degrade gracefully; the 58 specified items do not depend on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thirteen: how the system is delivered on BGB infrastructure, tested, handed over and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items are answered Comply and are completed during implementation because they need BGB infrastructure or BGB input: directory sign-in, backup, DR and high availability, load and availability testing, log management, the vulnerability assessment, the manuals and training, deployment and UAT. The Operations tab shows where each will appear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plan takes ten weeks from contract to go-live: requirement confirmation, configuration, installation at the main and DR sites, integration with the directory, mail relay and antivirus, data migration if needed, full testing including security, load and a DR rehearsal, the user acceptance test, training and go-live with handover of source code and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hands-on on the installed system: two days for system administrators, one day for operators, one day for supervisory officers and half a day for auditors. Six documents are delivered, from the administration and user manuals to the backup and recovery procedure; the API documentation already exists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year of warranty and support from acceptance, with response and resolution targets by priority: two hours and eight hours for a critical incident. Support by phone, e-mail and on site, Sunday to Thursday office hours, and critical incidents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58 items at a glance: 32 demonstrated now, 12 demonstrated and completed at deployment, 14 delivered during implementation. Annex A gives the detail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demo stays available during the evaluation; the documents submitted with the offer give the detail behind each slide. We are happy to answer questions or to show any screen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LH1" Type="http://schemas.openxmlformats.org/officeDocument/2006/relationships/image" Target="../media/letterhead-header.jpg"/><Relationship Id="rIdLH2" Type="http://schemas.openxmlformats.org/officeDocument/2006/relationships/image" Target="../media/letterhead-footer.jpg"/></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 Id="rIdLH1" Type="http://schemas.openxmlformats.org/officeDocument/2006/relationships/image" Target="../media/letterhead-header.jpg"/><Relationship Id="rIdLH2" Type="http://schemas.openxmlformats.org/officeDocument/2006/relationships/image" Target="../media/letterhead-footer.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LH1" Type="http://schemas.openxmlformats.org/officeDocument/2006/relationships/image" Target="../media/letterhead-header.jpg"/><Relationship Id="rIdLH2" Type="http://schemas.openxmlformats.org/officeDocument/2006/relationships/image" Target="../media/letterhead-footer.jpg"/></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 Id="rIdLH1" Type="http://schemas.openxmlformats.org/officeDocument/2006/relationships/image" Target="../media/letterhead-header.jpg"/><Relationship Id="rIdLH2" Type="http://schemas.openxmlformats.org/officeDocument/2006/relationships/image" Target="../media/letterhead-footer.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1" name="Letterhead header"/>
          <p:cNvPicPr>
            <a:picLocks noChangeAspect="1"/>
          </p:cNvPicPr>
          <p:nvPr/>
        </p:nvPicPr>
        <p:blipFill>
          <a:blip r:embed="rIdLH1"/>
          <a:stretch>
            <a:fillRect/>
          </a:stretch>
        </p:blipFill>
        <p:spPr>
          <a:xfrm>
            <a:off x="0" y="0"/>
            <a:ext cx="12191695" cy="1097280"/>
          </a:xfrm>
          <a:prstGeom prst="rect">
            <a:avLst/>
          </a:prstGeom>
        </p:spPr>
      </p:pic>
      <p:pic>
        <p:nvPicPr>
          <p:cNvPr id="9002" name="Letterhead footer"/>
          <p:cNvPicPr>
            <a:picLocks noChangeAspect="1"/>
          </p:cNvPicPr>
          <p:nvPr/>
        </p:nvPicPr>
        <p:blipFill>
          <a:blip r:embed="rIdLH2"/>
          <a:stretch>
            <a:fillRect/>
          </a:stretch>
        </p:blipFill>
        <p:spPr>
          <a:xfrm>
            <a:off x="0" y="5897880"/>
            <a:ext cx="12191695" cy="960120"/>
          </a:xfrm>
          <a:prstGeom prst="rect">
            <a:avLst/>
          </a:prstGeom>
        </p:spPr>
      </p:pic>
      <p:sp>
        <p:nvSpPr>
          <p:cNvPr id="9003" name="Letterhead name"/>
          <p:cNvSpPr txBox="1"/>
          <p:nvPr/>
        </p:nvSpPr>
        <p:spPr>
          <a:xfrm>
            <a:off x="365760" y="128016"/>
            <a:ext cx="5486400" cy="502920"/>
          </a:xfrm>
          <a:prstGeom prst="rect">
            <a:avLst/>
          </a:prstGeom>
          <a:noFill/>
        </p:spPr>
        <p:txBody>
          <a:bodyPr wrap="none" lIns="0" tIns="0" rIns="0" bIns="0" anchor="ctr">
            <a:noAutofit/>
          </a:bodyPr>
          <a:lstStyle/>
          <a:p>
            <a:pPr algn="l">
              <a:lnSpc>
                <a:spcPct val="100000"/>
              </a:lnSpc>
              <a:spcBef>
                <a:spcPts val="0"/>
              </a:spcBef>
              <a:spcAft>
                <a:spcPts val="0"/>
              </a:spcAft>
              <a:buNone/>
            </a:pPr>
            <a:r>
              <a:rPr lang="en-US" sz="2800" b="1" dirty="0">
                <a:solidFill>
                  <a:srgbClr val="000000"/>
                </a:solidFill>
                <a:latin typeface="Calibri"/>
                <a:cs typeface="Calibri"/>
              </a:rPr>
              <a:t xml:space="preserve">Grace International</a:t>
            </a:r>
          </a:p>
        </p:txBody>
      </p:sp>
      <p:sp>
        <p:nvSpPr>
          <p:cNvPr id="9004" name="Letterhead address"/>
          <p:cNvSpPr txBox="1"/>
          <p:nvPr/>
        </p:nvSpPr>
        <p:spPr>
          <a:xfrm>
            <a:off x="274320" y="6382512"/>
            <a:ext cx="5486400" cy="457200"/>
          </a:xfrm>
          <a:prstGeom prst="rect">
            <a:avLst/>
          </a:prstGeom>
          <a:noFill/>
        </p:spPr>
        <p:txBody>
          <a:bodyPr wrap="none" lIns="0" tIns="0" rIns="0" bIns="0" anchor="t">
            <a:noAutofit/>
          </a:bodyPr>
          <a:lstStyle/>
          <a:p>
            <a:pPr algn="l">
              <a:lnSpc>
                <a:spcPct val="100000"/>
              </a:lnSpc>
              <a:spcBef>
                <a:spcPts val="0"/>
              </a:spcBef>
              <a:spcAft>
                <a:spcPts val="0"/>
              </a:spcAft>
              <a:buNone/>
            </a:pPr>
            <a:r>
              <a:rPr lang="en-US" sz="850" b="1" dirty="0">
                <a:solidFill>
                  <a:srgbClr val="000000"/>
                </a:solidFill>
                <a:latin typeface="Calibri"/>
                <a:cs typeface="Calibri"/>
              </a:rPr>
              <a:t xml:space="preserve">Address : House 5, Road 2, Block C, Banasree, Rampura, Dhaka 1219</a:t>
            </a:r>
          </a:p>
          <a:p>
            <a:pPr algn="l">
              <a:lnSpc>
                <a:spcPct val="100000"/>
              </a:lnSpc>
              <a:spcBef>
                <a:spcPts val="0"/>
              </a:spcBef>
              <a:spcAft>
                <a:spcPts val="0"/>
              </a:spcAft>
              <a:buNone/>
            </a:pPr>
            <a:r>
              <a:rPr lang="en-US" sz="850" b="1" dirty="0">
                <a:solidFill>
                  <a:srgbClr val="000000"/>
                </a:solidFill>
                <a:latin typeface="Calibri"/>
                <a:cs typeface="Calibri"/>
              </a:rPr>
              <a:t xml:space="preserve">Phone    : 01755253505, 01730357123, 01701072702</a:t>
            </a:r>
          </a:p>
          <a:p>
            <a:pPr algn="l">
              <a:lnSpc>
                <a:spcPct val="100000"/>
              </a:lnSpc>
              <a:spcBef>
                <a:spcPts val="0"/>
              </a:spcBef>
              <a:spcAft>
                <a:spcPts val="0"/>
              </a:spcAft>
              <a:buNone/>
            </a:pPr>
            <a:r>
              <a:rPr lang="en-US" sz="850" b="1" dirty="0">
                <a:solidFill>
                  <a:srgbClr val="000000"/>
                </a:solidFill>
                <a:latin typeface="Calibri"/>
                <a:cs typeface="Calibri"/>
              </a:rPr>
              <a:t xml:space="preserve">E-mail   : graceinternational98@gmail.com</a:t>
            </a:r>
          </a:p>
        </p:txBody>
      </p:sp>
      <p:sp>
        <p:nvSpPr>
          <p:cNvPr id="9005" name="Document reference"/>
          <p:cNvSpPr txBox="1"/>
          <p:nvPr/>
        </p:nvSpPr>
        <p:spPr>
          <a:xfrm>
            <a:off x="5978053" y="6382512"/>
            <a:ext cx="5486400" cy="457200"/>
          </a:xfrm>
          <a:prstGeom prst="rect">
            <a:avLst/>
          </a:prstGeom>
          <a:noFill/>
        </p:spPr>
        <p:txBody>
          <a:bodyPr wrap="none" lIns="0" tIns="0" rIns="0" bIns="0" anchor="t">
            <a:noAutofit/>
          </a:bodyPr>
          <a:lstStyle/>
          <a:p>
            <a:pPr algn="r">
              <a:lnSpc>
                <a:spcPct val="100000"/>
              </a:lnSpc>
              <a:spcBef>
                <a:spcPts val="0"/>
              </a:spcBef>
              <a:spcAft>
                <a:spcPts val="0"/>
              </a:spcAft>
              <a:buNone/>
            </a:pPr>
            <a:r>
              <a:rPr lang="en-US" sz="850" b="0" dirty="0">
                <a:solidFill>
                  <a:srgbClr val="000000"/>
                </a:solidFill>
                <a:latin typeface="Calibri"/>
                <a:cs typeface="Calibri"/>
              </a:rPr>
              <a:t xml:space="preserve">BIRDS Phase II — Requirement Validation Presentation</a:t>
            </a:r>
          </a:p>
          <a:p>
            <a:pPr algn="r">
              <a:lnSpc>
                <a:spcPct val="100000"/>
              </a:lnSpc>
              <a:spcBef>
                <a:spcPts val="0"/>
              </a:spcBef>
              <a:spcAft>
                <a:spcPts val="0"/>
              </a:spcAft>
              <a:buNone/>
            </a:pPr>
            <a:r>
              <a:rPr lang="en-US" sz="850" b="0" dirty="0">
                <a:solidFill>
                  <a:srgbClr val="000000"/>
                </a:solidFill>
                <a:latin typeface="Calibri"/>
                <a:cs typeface="Calibri"/>
              </a:rPr>
              <a:t xml:space="preserve">e-GP tender tracking no. 1347267</a:t>
            </a:r>
          </a:p>
          <a:p>
            <a:pPr algn="r">
              <a:lnSpc>
                <a:spcPct val="100000"/>
              </a:lnSpc>
              <a:spcBef>
                <a:spcPts val="0"/>
              </a:spcBef>
              <a:spcAft>
                <a:spcPts val="0"/>
              </a:spcAft>
              <a:buNone/>
            </a:pPr>
            <a:r>
              <a:rPr lang="en-US" sz="850" b="0" dirty="0">
                <a:solidFill>
                  <a:srgbClr val="000000"/>
                </a:solidFill>
                <a:latin typeface="Calibri"/>
                <a:cs typeface="Calibri"/>
              </a:rPr>
              <a:t xml:space="preserve">Slide </a:t>
            </a:r>
            <a:fld id="{B6F15528-21DE-4FAA-801E-634DDDAF4B2B}" type="slidenum">
              <a:rPr lang="en-US" sz="850" b="0" dirty="0">
                <a:solidFill>
                  <a:srgbClr val="000000"/>
                </a:solidFill>
                <a:latin typeface="Calibri"/>
                <a:cs typeface="Calibri"/>
              </a:rPr>
              <a:t>1</a:t>
            </a:fld>
            <a:r>
              <a:rPr lang="en-US" sz="850" b="0" dirty="0">
                <a:solidFill>
                  <a:srgbClr val="000000"/>
                </a:solidFill>
                <a:latin typeface="Calibri"/>
                <a:cs typeface="Calibri"/>
              </a:rPr>
              <a:t xml:space="preserve"> of 122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9001" name="Letterhead header"/>
          <p:cNvPicPr>
            <a:picLocks noChangeAspect="1"/>
          </p:cNvPicPr>
          <p:nvPr/>
        </p:nvPicPr>
        <p:blipFill>
          <a:blip r:embed="rIdLH1"/>
          <a:stretch>
            <a:fillRect/>
          </a:stretch>
        </p:blipFill>
        <p:spPr>
          <a:xfrm>
            <a:off x="0" y="0"/>
            <a:ext cx="12191695" cy="1097280"/>
          </a:xfrm>
          <a:prstGeom prst="rect">
            <a:avLst/>
          </a:prstGeom>
        </p:spPr>
      </p:pic>
      <p:pic>
        <p:nvPicPr>
          <p:cNvPr id="9002" name="Letterhead footer"/>
          <p:cNvPicPr>
            <a:picLocks noChangeAspect="1"/>
          </p:cNvPicPr>
          <p:nvPr/>
        </p:nvPicPr>
        <p:blipFill>
          <a:blip r:embed="rIdLH2"/>
          <a:stretch>
            <a:fillRect/>
          </a:stretch>
        </p:blipFill>
        <p:spPr>
          <a:xfrm>
            <a:off x="0" y="5897880"/>
            <a:ext cx="12191695" cy="960120"/>
          </a:xfrm>
          <a:prstGeom prst="rect">
            <a:avLst/>
          </a:prstGeom>
        </p:spPr>
      </p:pic>
      <p:sp>
        <p:nvSpPr>
          <p:cNvPr id="9003" name="Letterhead name"/>
          <p:cNvSpPr txBox="1"/>
          <p:nvPr/>
        </p:nvSpPr>
        <p:spPr>
          <a:xfrm>
            <a:off x="365760" y="128016"/>
            <a:ext cx="5486400" cy="502920"/>
          </a:xfrm>
          <a:prstGeom prst="rect">
            <a:avLst/>
          </a:prstGeom>
          <a:noFill/>
        </p:spPr>
        <p:txBody>
          <a:bodyPr wrap="none" lIns="0" tIns="0" rIns="0" bIns="0" anchor="ctr">
            <a:noAutofit/>
          </a:bodyPr>
          <a:lstStyle/>
          <a:p>
            <a:pPr algn="l">
              <a:lnSpc>
                <a:spcPct val="100000"/>
              </a:lnSpc>
              <a:spcBef>
                <a:spcPts val="0"/>
              </a:spcBef>
              <a:spcAft>
                <a:spcPts val="0"/>
              </a:spcAft>
              <a:buNone/>
            </a:pPr>
            <a:r>
              <a:rPr lang="en-US" sz="2800" b="1" dirty="0">
                <a:solidFill>
                  <a:srgbClr val="000000"/>
                </a:solidFill>
                <a:latin typeface="Calibri"/>
                <a:cs typeface="Calibri"/>
              </a:rPr>
              <a:t xml:space="preserve">Grace International</a:t>
            </a:r>
          </a:p>
        </p:txBody>
      </p:sp>
      <p:sp>
        <p:nvSpPr>
          <p:cNvPr id="9004" name="Letterhead address"/>
          <p:cNvSpPr txBox="1"/>
          <p:nvPr/>
        </p:nvSpPr>
        <p:spPr>
          <a:xfrm>
            <a:off x="274320" y="6382512"/>
            <a:ext cx="5486400" cy="457200"/>
          </a:xfrm>
          <a:prstGeom prst="rect">
            <a:avLst/>
          </a:prstGeom>
          <a:noFill/>
        </p:spPr>
        <p:txBody>
          <a:bodyPr wrap="none" lIns="0" tIns="0" rIns="0" bIns="0" anchor="t">
            <a:noAutofit/>
          </a:bodyPr>
          <a:lstStyle/>
          <a:p>
            <a:pPr algn="l">
              <a:lnSpc>
                <a:spcPct val="100000"/>
              </a:lnSpc>
              <a:spcBef>
                <a:spcPts val="0"/>
              </a:spcBef>
              <a:spcAft>
                <a:spcPts val="0"/>
              </a:spcAft>
              <a:buNone/>
            </a:pPr>
            <a:r>
              <a:rPr lang="en-US" sz="850" b="1" dirty="0">
                <a:solidFill>
                  <a:srgbClr val="000000"/>
                </a:solidFill>
                <a:latin typeface="Calibri"/>
                <a:cs typeface="Calibri"/>
              </a:rPr>
              <a:t xml:space="preserve">Address : House 5, Road 2, Block C, Banasree, Rampura, Dhaka 1219</a:t>
            </a:r>
          </a:p>
          <a:p>
            <a:pPr algn="l">
              <a:lnSpc>
                <a:spcPct val="100000"/>
              </a:lnSpc>
              <a:spcBef>
                <a:spcPts val="0"/>
              </a:spcBef>
              <a:spcAft>
                <a:spcPts val="0"/>
              </a:spcAft>
              <a:buNone/>
            </a:pPr>
            <a:r>
              <a:rPr lang="en-US" sz="850" b="1" dirty="0">
                <a:solidFill>
                  <a:srgbClr val="000000"/>
                </a:solidFill>
                <a:latin typeface="Calibri"/>
                <a:cs typeface="Calibri"/>
              </a:rPr>
              <a:t xml:space="preserve">Phone    : 01755253505, 01730357123, 01701072702</a:t>
            </a:r>
          </a:p>
          <a:p>
            <a:pPr algn="l">
              <a:lnSpc>
                <a:spcPct val="100000"/>
              </a:lnSpc>
              <a:spcBef>
                <a:spcPts val="0"/>
              </a:spcBef>
              <a:spcAft>
                <a:spcPts val="0"/>
              </a:spcAft>
              <a:buNone/>
            </a:pPr>
            <a:r>
              <a:rPr lang="en-US" sz="850" b="1" dirty="0">
                <a:solidFill>
                  <a:srgbClr val="000000"/>
                </a:solidFill>
                <a:latin typeface="Calibri"/>
                <a:cs typeface="Calibri"/>
              </a:rPr>
              <a:t xml:space="preserve">E-mail   : graceinternational98@gmail.com</a:t>
            </a:r>
          </a:p>
        </p:txBody>
      </p:sp>
      <p:sp>
        <p:nvSpPr>
          <p:cNvPr id="9005" name="Document reference"/>
          <p:cNvSpPr txBox="1"/>
          <p:nvPr/>
        </p:nvSpPr>
        <p:spPr>
          <a:xfrm>
            <a:off x="5978053" y="6382512"/>
            <a:ext cx="5486400" cy="457200"/>
          </a:xfrm>
          <a:prstGeom prst="rect">
            <a:avLst/>
          </a:prstGeom>
          <a:noFill/>
        </p:spPr>
        <p:txBody>
          <a:bodyPr wrap="none" lIns="0" tIns="0" rIns="0" bIns="0" anchor="t">
            <a:noAutofit/>
          </a:bodyPr>
          <a:lstStyle/>
          <a:p>
            <a:pPr algn="r">
              <a:lnSpc>
                <a:spcPct val="100000"/>
              </a:lnSpc>
              <a:spcBef>
                <a:spcPts val="0"/>
              </a:spcBef>
              <a:spcAft>
                <a:spcPts val="0"/>
              </a:spcAft>
              <a:buNone/>
            </a:pPr>
            <a:r>
              <a:rPr lang="en-US" sz="850" b="0" dirty="0">
                <a:solidFill>
                  <a:srgbClr val="000000"/>
                </a:solidFill>
                <a:latin typeface="Calibri"/>
                <a:cs typeface="Calibri"/>
              </a:rPr>
              <a:t xml:space="preserve">BIRDS Phase II — Requirement Validation Presentation</a:t>
            </a:r>
          </a:p>
          <a:p>
            <a:pPr algn="r">
              <a:lnSpc>
                <a:spcPct val="100000"/>
              </a:lnSpc>
              <a:spcBef>
                <a:spcPts val="0"/>
              </a:spcBef>
              <a:spcAft>
                <a:spcPts val="0"/>
              </a:spcAft>
              <a:buNone/>
            </a:pPr>
            <a:r>
              <a:rPr lang="en-US" sz="850" b="0" dirty="0">
                <a:solidFill>
                  <a:srgbClr val="000000"/>
                </a:solidFill>
                <a:latin typeface="Calibri"/>
                <a:cs typeface="Calibri"/>
              </a:rPr>
              <a:t xml:space="preserve">e-GP tender tracking no. 1347267</a:t>
            </a:r>
          </a:p>
          <a:p>
            <a:pPr algn="r">
              <a:lnSpc>
                <a:spcPct val="100000"/>
              </a:lnSpc>
              <a:spcBef>
                <a:spcPts val="0"/>
              </a:spcBef>
              <a:spcAft>
                <a:spcPts val="0"/>
              </a:spcAft>
              <a:buNone/>
            </a:pPr>
            <a:r>
              <a:rPr lang="en-US" sz="850" b="0" dirty="0">
                <a:solidFill>
                  <a:srgbClr val="000000"/>
                </a:solidFill>
                <a:latin typeface="Calibri"/>
                <a:cs typeface="Calibri"/>
              </a:rPr>
              <a:t xml:space="preserve">Slide </a:t>
            </a:r>
            <a:fld id="{B6F15528-21DE-4FAA-801E-634DDDAF4B2B}" type="slidenum">
              <a:rPr lang="en-US" sz="850" b="0" dirty="0">
                <a:solidFill>
                  <a:srgbClr val="000000"/>
                </a:solidFill>
                <a:latin typeface="Calibri"/>
                <a:cs typeface="Calibri"/>
              </a:rPr>
              <a:t>1</a:t>
            </a:fld>
            <a:r>
              <a:rPr lang="en-US" sz="850" b="0" dirty="0">
                <a:solidFill>
                  <a:srgbClr val="000000"/>
                </a:solidFill>
                <a:latin typeface="Calibri"/>
                <a:cs typeface="Calibri"/>
              </a:rPr>
              <a:t xml:space="preserve"> of 122</a:t>
            </a:r>
          </a:p>
        </p:txBody>
      </p:sp>
      <p:sp>
        <p:nvSpPr>
          <p:cNvPr id="9006" name="Green panel"/>
          <p:cNvSpPr/>
          <p:nvPr/>
        </p:nvSpPr>
        <p:spPr>
          <a:xfrm>
            <a:off x="0" y="1051560"/>
            <a:ext cx="12191695" cy="4937760"/>
          </a:xfrm>
          <a:prstGeom prst="rect">
            <a:avLst/>
          </a:prstGeom>
          <a:solidFill>
            <a:srgbClr val="164716"/>
          </a:solidFill>
          <a:ln>
            <a:noFill/>
          </a:ln>
        </p:spPr>
      </p:sp>
      <p:pic>
        <p:nvPicPr>
          <p:cNvPr id="2" name="Image 0" descr="E:\Tender\BGB\public\bgb.png">    </p:cNvPr>
          <p:cNvPicPr>
            <a:picLocks noChangeAspect="1"/>
          </p:cNvPicPr>
          <p:nvPr/>
        </p:nvPicPr>
        <p:blipFill>
          <a:blip r:embed="rId1"/>
          <a:stretch>
            <a:fillRect/>
          </a:stretch>
        </p:blipFill>
        <p:spPr>
          <a:xfrm>
            <a:off x="1650407" y="1369907"/>
            <a:ext cx="1005840" cy="10058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pic>
        <p:nvPicPr>
          <p:cNvPr id="9001" name="Letterhead header"/>
          <p:cNvPicPr>
            <a:picLocks noChangeAspect="1"/>
          </p:cNvPicPr>
          <p:nvPr/>
        </p:nvPicPr>
        <p:blipFill>
          <a:blip r:embed="rIdLH1"/>
          <a:stretch>
            <a:fillRect/>
          </a:stretch>
        </p:blipFill>
        <p:spPr>
          <a:xfrm>
            <a:off x="0" y="0"/>
            <a:ext cx="12191695" cy="1097280"/>
          </a:xfrm>
          <a:prstGeom prst="rect">
            <a:avLst/>
          </a:prstGeom>
        </p:spPr>
      </p:pic>
      <p:pic>
        <p:nvPicPr>
          <p:cNvPr id="9002" name="Letterhead footer"/>
          <p:cNvPicPr>
            <a:picLocks noChangeAspect="1"/>
          </p:cNvPicPr>
          <p:nvPr/>
        </p:nvPicPr>
        <p:blipFill>
          <a:blip r:embed="rIdLH2"/>
          <a:stretch>
            <a:fillRect/>
          </a:stretch>
        </p:blipFill>
        <p:spPr>
          <a:xfrm>
            <a:off x="0" y="5897880"/>
            <a:ext cx="12191695" cy="960120"/>
          </a:xfrm>
          <a:prstGeom prst="rect">
            <a:avLst/>
          </a:prstGeom>
        </p:spPr>
      </p:pic>
      <p:sp>
        <p:nvSpPr>
          <p:cNvPr id="9003" name="Letterhead name"/>
          <p:cNvSpPr txBox="1"/>
          <p:nvPr/>
        </p:nvSpPr>
        <p:spPr>
          <a:xfrm>
            <a:off x="365760" y="128016"/>
            <a:ext cx="5486400" cy="502920"/>
          </a:xfrm>
          <a:prstGeom prst="rect">
            <a:avLst/>
          </a:prstGeom>
          <a:noFill/>
        </p:spPr>
        <p:txBody>
          <a:bodyPr wrap="none" lIns="0" tIns="0" rIns="0" bIns="0" anchor="ctr">
            <a:noAutofit/>
          </a:bodyPr>
          <a:lstStyle/>
          <a:p>
            <a:pPr algn="l">
              <a:lnSpc>
                <a:spcPct val="100000"/>
              </a:lnSpc>
              <a:spcBef>
                <a:spcPts val="0"/>
              </a:spcBef>
              <a:spcAft>
                <a:spcPts val="0"/>
              </a:spcAft>
              <a:buNone/>
            </a:pPr>
            <a:r>
              <a:rPr lang="en-US" sz="2800" b="1" dirty="0">
                <a:solidFill>
                  <a:srgbClr val="000000"/>
                </a:solidFill>
                <a:latin typeface="Calibri"/>
                <a:cs typeface="Calibri"/>
              </a:rPr>
              <a:t xml:space="preserve">Grace International</a:t>
            </a:r>
          </a:p>
        </p:txBody>
      </p:sp>
      <p:sp>
        <p:nvSpPr>
          <p:cNvPr id="9004" name="Letterhead address"/>
          <p:cNvSpPr txBox="1"/>
          <p:nvPr/>
        </p:nvSpPr>
        <p:spPr>
          <a:xfrm>
            <a:off x="274320" y="6382512"/>
            <a:ext cx="5486400" cy="457200"/>
          </a:xfrm>
          <a:prstGeom prst="rect">
            <a:avLst/>
          </a:prstGeom>
          <a:noFill/>
        </p:spPr>
        <p:txBody>
          <a:bodyPr wrap="none" lIns="0" tIns="0" rIns="0" bIns="0" anchor="t">
            <a:noAutofit/>
          </a:bodyPr>
          <a:lstStyle/>
          <a:p>
            <a:pPr algn="l">
              <a:lnSpc>
                <a:spcPct val="100000"/>
              </a:lnSpc>
              <a:spcBef>
                <a:spcPts val="0"/>
              </a:spcBef>
              <a:spcAft>
                <a:spcPts val="0"/>
              </a:spcAft>
              <a:buNone/>
            </a:pPr>
            <a:r>
              <a:rPr lang="en-US" sz="850" b="1" dirty="0">
                <a:solidFill>
                  <a:srgbClr val="000000"/>
                </a:solidFill>
                <a:latin typeface="Calibri"/>
                <a:cs typeface="Calibri"/>
              </a:rPr>
              <a:t xml:space="preserve">Address : House 5, Road 2, Block C, Banasree, Rampura, Dhaka 1219</a:t>
            </a:r>
          </a:p>
          <a:p>
            <a:pPr algn="l">
              <a:lnSpc>
                <a:spcPct val="100000"/>
              </a:lnSpc>
              <a:spcBef>
                <a:spcPts val="0"/>
              </a:spcBef>
              <a:spcAft>
                <a:spcPts val="0"/>
              </a:spcAft>
              <a:buNone/>
            </a:pPr>
            <a:r>
              <a:rPr lang="en-US" sz="850" b="1" dirty="0">
                <a:solidFill>
                  <a:srgbClr val="000000"/>
                </a:solidFill>
                <a:latin typeface="Calibri"/>
                <a:cs typeface="Calibri"/>
              </a:rPr>
              <a:t xml:space="preserve">Phone    : 01755253505, 01730357123, 01701072702</a:t>
            </a:r>
          </a:p>
          <a:p>
            <a:pPr algn="l">
              <a:lnSpc>
                <a:spcPct val="100000"/>
              </a:lnSpc>
              <a:spcBef>
                <a:spcPts val="0"/>
              </a:spcBef>
              <a:spcAft>
                <a:spcPts val="0"/>
              </a:spcAft>
              <a:buNone/>
            </a:pPr>
            <a:r>
              <a:rPr lang="en-US" sz="850" b="1" dirty="0">
                <a:solidFill>
                  <a:srgbClr val="000000"/>
                </a:solidFill>
                <a:latin typeface="Calibri"/>
                <a:cs typeface="Calibri"/>
              </a:rPr>
              <a:t xml:space="preserve">E-mail   : graceinternational98@gmail.com</a:t>
            </a:r>
          </a:p>
        </p:txBody>
      </p:sp>
      <p:sp>
        <p:nvSpPr>
          <p:cNvPr id="9005" name="Document reference"/>
          <p:cNvSpPr txBox="1"/>
          <p:nvPr/>
        </p:nvSpPr>
        <p:spPr>
          <a:xfrm>
            <a:off x="5978053" y="6382512"/>
            <a:ext cx="5486400" cy="457200"/>
          </a:xfrm>
          <a:prstGeom prst="rect">
            <a:avLst/>
          </a:prstGeom>
          <a:noFill/>
        </p:spPr>
        <p:txBody>
          <a:bodyPr wrap="none" lIns="0" tIns="0" rIns="0" bIns="0" anchor="t">
            <a:noAutofit/>
          </a:bodyPr>
          <a:lstStyle/>
          <a:p>
            <a:pPr algn="r">
              <a:lnSpc>
                <a:spcPct val="100000"/>
              </a:lnSpc>
              <a:spcBef>
                <a:spcPts val="0"/>
              </a:spcBef>
              <a:spcAft>
                <a:spcPts val="0"/>
              </a:spcAft>
              <a:buNone/>
            </a:pPr>
            <a:r>
              <a:rPr lang="en-US" sz="850" b="0" dirty="0">
                <a:solidFill>
                  <a:srgbClr val="000000"/>
                </a:solidFill>
                <a:latin typeface="Calibri"/>
                <a:cs typeface="Calibri"/>
              </a:rPr>
              <a:t xml:space="preserve">BIRDS Phase II — Requirement Validation Presentation</a:t>
            </a:r>
          </a:p>
          <a:p>
            <a:pPr algn="r">
              <a:lnSpc>
                <a:spcPct val="100000"/>
              </a:lnSpc>
              <a:spcBef>
                <a:spcPts val="0"/>
              </a:spcBef>
              <a:spcAft>
                <a:spcPts val="0"/>
              </a:spcAft>
              <a:buNone/>
            </a:pPr>
            <a:r>
              <a:rPr lang="en-US" sz="850" b="0" dirty="0">
                <a:solidFill>
                  <a:srgbClr val="000000"/>
                </a:solidFill>
                <a:latin typeface="Calibri"/>
                <a:cs typeface="Calibri"/>
              </a:rPr>
              <a:t xml:space="preserve">e-GP tender tracking no. 1347267</a:t>
            </a:r>
          </a:p>
          <a:p>
            <a:pPr algn="r">
              <a:lnSpc>
                <a:spcPct val="100000"/>
              </a:lnSpc>
              <a:spcBef>
                <a:spcPts val="0"/>
              </a:spcBef>
              <a:spcAft>
                <a:spcPts val="0"/>
              </a:spcAft>
              <a:buNone/>
            </a:pPr>
            <a:r>
              <a:rPr lang="en-US" sz="850" b="0" dirty="0">
                <a:solidFill>
                  <a:srgbClr val="000000"/>
                </a:solidFill>
                <a:latin typeface="Calibri"/>
                <a:cs typeface="Calibri"/>
              </a:rPr>
              <a:t xml:space="preserve">Slide </a:t>
            </a:r>
            <a:fld id="{B6F15528-21DE-4FAA-801E-634DDDAF4B2B}" type="slidenum">
              <a:rPr lang="en-US" sz="850" b="0" dirty="0">
                <a:solidFill>
                  <a:srgbClr val="000000"/>
                </a:solidFill>
                <a:latin typeface="Calibri"/>
                <a:cs typeface="Calibri"/>
              </a:rPr>
              <a:t>1</a:t>
            </a:fld>
            <a:r>
              <a:rPr lang="en-US" sz="850" b="0" dirty="0">
                <a:solidFill>
                  <a:srgbClr val="000000"/>
                </a:solidFill>
                <a:latin typeface="Calibri"/>
                <a:cs typeface="Calibri"/>
              </a:rPr>
              <a:t xml:space="preserve"> of 122</a:t>
            </a:r>
          </a:p>
        </p:txBody>
      </p:sp>
      <p:sp>
        <p:nvSpPr>
          <p:cNvPr id="9007" name="Green panel"/>
          <p:cNvSpPr/>
          <p:nvPr/>
        </p:nvSpPr>
        <p:spPr>
          <a:xfrm>
            <a:off x="0" y="1051560"/>
            <a:ext cx="12191695" cy="4937760"/>
          </a:xfrm>
          <a:prstGeom prst="rect">
            <a:avLst/>
          </a:prstGeom>
          <a:solidFill>
            <a:srgbClr val="164716"/>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9001" name="Letterhead header"/>
          <p:cNvPicPr>
            <a:picLocks noChangeAspect="1"/>
          </p:cNvPicPr>
          <p:nvPr/>
        </p:nvPicPr>
        <p:blipFill>
          <a:blip r:embed="rIdLH1"/>
          <a:stretch>
            <a:fillRect/>
          </a:stretch>
        </p:blipFill>
        <p:spPr>
          <a:xfrm>
            <a:off x="0" y="0"/>
            <a:ext cx="12191695" cy="1097280"/>
          </a:xfrm>
          <a:prstGeom prst="rect">
            <a:avLst/>
          </a:prstGeom>
        </p:spPr>
      </p:pic>
      <p:pic>
        <p:nvPicPr>
          <p:cNvPr id="9002" name="Letterhead footer"/>
          <p:cNvPicPr>
            <a:picLocks noChangeAspect="1"/>
          </p:cNvPicPr>
          <p:nvPr/>
        </p:nvPicPr>
        <p:blipFill>
          <a:blip r:embed="rIdLH2"/>
          <a:stretch>
            <a:fillRect/>
          </a:stretch>
        </p:blipFill>
        <p:spPr>
          <a:xfrm>
            <a:off x="0" y="5897880"/>
            <a:ext cx="12191695" cy="960120"/>
          </a:xfrm>
          <a:prstGeom prst="rect">
            <a:avLst/>
          </a:prstGeom>
        </p:spPr>
      </p:pic>
      <p:sp>
        <p:nvSpPr>
          <p:cNvPr id="9003" name="Letterhead name"/>
          <p:cNvSpPr txBox="1"/>
          <p:nvPr/>
        </p:nvSpPr>
        <p:spPr>
          <a:xfrm>
            <a:off x="365760" y="128016"/>
            <a:ext cx="5486400" cy="502920"/>
          </a:xfrm>
          <a:prstGeom prst="rect">
            <a:avLst/>
          </a:prstGeom>
          <a:noFill/>
        </p:spPr>
        <p:txBody>
          <a:bodyPr wrap="none" lIns="0" tIns="0" rIns="0" bIns="0" anchor="ctr">
            <a:noAutofit/>
          </a:bodyPr>
          <a:lstStyle/>
          <a:p>
            <a:pPr algn="l">
              <a:lnSpc>
                <a:spcPct val="100000"/>
              </a:lnSpc>
              <a:spcBef>
                <a:spcPts val="0"/>
              </a:spcBef>
              <a:spcAft>
                <a:spcPts val="0"/>
              </a:spcAft>
              <a:buNone/>
            </a:pPr>
            <a:r>
              <a:rPr lang="en-US" sz="2800" b="1" dirty="0">
                <a:solidFill>
                  <a:srgbClr val="000000"/>
                </a:solidFill>
                <a:latin typeface="Calibri"/>
                <a:cs typeface="Calibri"/>
              </a:rPr>
              <a:t xml:space="preserve">Grace International</a:t>
            </a:r>
          </a:p>
        </p:txBody>
      </p:sp>
      <p:sp>
        <p:nvSpPr>
          <p:cNvPr id="9004" name="Letterhead address"/>
          <p:cNvSpPr txBox="1"/>
          <p:nvPr/>
        </p:nvSpPr>
        <p:spPr>
          <a:xfrm>
            <a:off x="274320" y="6382512"/>
            <a:ext cx="5486400" cy="457200"/>
          </a:xfrm>
          <a:prstGeom prst="rect">
            <a:avLst/>
          </a:prstGeom>
          <a:noFill/>
        </p:spPr>
        <p:txBody>
          <a:bodyPr wrap="none" lIns="0" tIns="0" rIns="0" bIns="0" anchor="t">
            <a:noAutofit/>
          </a:bodyPr>
          <a:lstStyle/>
          <a:p>
            <a:pPr algn="l">
              <a:lnSpc>
                <a:spcPct val="100000"/>
              </a:lnSpc>
              <a:spcBef>
                <a:spcPts val="0"/>
              </a:spcBef>
              <a:spcAft>
                <a:spcPts val="0"/>
              </a:spcAft>
              <a:buNone/>
            </a:pPr>
            <a:r>
              <a:rPr lang="en-US" sz="850" b="1" dirty="0">
                <a:solidFill>
                  <a:srgbClr val="000000"/>
                </a:solidFill>
                <a:latin typeface="Calibri"/>
                <a:cs typeface="Calibri"/>
              </a:rPr>
              <a:t xml:space="preserve">Address : House 5, Road 2, Block C, Banasree, Rampura, Dhaka 1219</a:t>
            </a:r>
          </a:p>
          <a:p>
            <a:pPr algn="l">
              <a:lnSpc>
                <a:spcPct val="100000"/>
              </a:lnSpc>
              <a:spcBef>
                <a:spcPts val="0"/>
              </a:spcBef>
              <a:spcAft>
                <a:spcPts val="0"/>
              </a:spcAft>
              <a:buNone/>
            </a:pPr>
            <a:r>
              <a:rPr lang="en-US" sz="850" b="1" dirty="0">
                <a:solidFill>
                  <a:srgbClr val="000000"/>
                </a:solidFill>
                <a:latin typeface="Calibri"/>
                <a:cs typeface="Calibri"/>
              </a:rPr>
              <a:t xml:space="preserve">Phone    : 01755253505, 01730357123, 01701072702</a:t>
            </a:r>
          </a:p>
          <a:p>
            <a:pPr algn="l">
              <a:lnSpc>
                <a:spcPct val="100000"/>
              </a:lnSpc>
              <a:spcBef>
                <a:spcPts val="0"/>
              </a:spcBef>
              <a:spcAft>
                <a:spcPts val="0"/>
              </a:spcAft>
              <a:buNone/>
            </a:pPr>
            <a:r>
              <a:rPr lang="en-US" sz="850" b="1" dirty="0">
                <a:solidFill>
                  <a:srgbClr val="000000"/>
                </a:solidFill>
                <a:latin typeface="Calibri"/>
                <a:cs typeface="Calibri"/>
              </a:rPr>
              <a:t xml:space="preserve">E-mail   : graceinternational98@gmail.com</a:t>
            </a:r>
          </a:p>
        </p:txBody>
      </p:sp>
      <p:sp>
        <p:nvSpPr>
          <p:cNvPr id="9005" name="Document reference"/>
          <p:cNvSpPr txBox="1"/>
          <p:nvPr/>
        </p:nvSpPr>
        <p:spPr>
          <a:xfrm>
            <a:off x="5978053" y="6382512"/>
            <a:ext cx="5486400" cy="457200"/>
          </a:xfrm>
          <a:prstGeom prst="rect">
            <a:avLst/>
          </a:prstGeom>
          <a:noFill/>
        </p:spPr>
        <p:txBody>
          <a:bodyPr wrap="none" lIns="0" tIns="0" rIns="0" bIns="0" anchor="t">
            <a:noAutofit/>
          </a:bodyPr>
          <a:lstStyle/>
          <a:p>
            <a:pPr algn="r">
              <a:lnSpc>
                <a:spcPct val="100000"/>
              </a:lnSpc>
              <a:spcBef>
                <a:spcPts val="0"/>
              </a:spcBef>
              <a:spcAft>
                <a:spcPts val="0"/>
              </a:spcAft>
              <a:buNone/>
            </a:pPr>
            <a:r>
              <a:rPr lang="en-US" sz="850" b="0" dirty="0">
                <a:solidFill>
                  <a:srgbClr val="000000"/>
                </a:solidFill>
                <a:latin typeface="Calibri"/>
                <a:cs typeface="Calibri"/>
              </a:rPr>
              <a:t xml:space="preserve">BIRDS Phase II — Requirement Validation Presentation</a:t>
            </a:r>
          </a:p>
          <a:p>
            <a:pPr algn="r">
              <a:lnSpc>
                <a:spcPct val="100000"/>
              </a:lnSpc>
              <a:spcBef>
                <a:spcPts val="0"/>
              </a:spcBef>
              <a:spcAft>
                <a:spcPts val="0"/>
              </a:spcAft>
              <a:buNone/>
            </a:pPr>
            <a:r>
              <a:rPr lang="en-US" sz="850" b="0" dirty="0">
                <a:solidFill>
                  <a:srgbClr val="000000"/>
                </a:solidFill>
                <a:latin typeface="Calibri"/>
                <a:cs typeface="Calibri"/>
              </a:rPr>
              <a:t xml:space="preserve">e-GP tender tracking no. 1347267</a:t>
            </a:r>
          </a:p>
          <a:p>
            <a:pPr algn="r">
              <a:lnSpc>
                <a:spcPct val="100000"/>
              </a:lnSpc>
              <a:spcBef>
                <a:spcPts val="0"/>
              </a:spcBef>
              <a:spcAft>
                <a:spcPts val="0"/>
              </a:spcAft>
              <a:buNone/>
            </a:pPr>
            <a:r>
              <a:rPr lang="en-US" sz="850" b="0" dirty="0">
                <a:solidFill>
                  <a:srgbClr val="000000"/>
                </a:solidFill>
                <a:latin typeface="Calibri"/>
                <a:cs typeface="Calibri"/>
              </a:rPr>
              <a:t xml:space="preserve">Slide </a:t>
            </a:r>
            <a:fld id="{B6F15528-21DE-4FAA-801E-634DDDAF4B2B}" type="slidenum">
              <a:rPr lang="en-US" sz="850" b="0" dirty="0">
                <a:solidFill>
                  <a:srgbClr val="000000"/>
                </a:solidFill>
                <a:latin typeface="Calibri"/>
                <a:cs typeface="Calibri"/>
              </a:rPr>
              <a:t>1</a:t>
            </a:fld>
            <a:r>
              <a:rPr lang="en-US" sz="850" b="0" dirty="0">
                <a:solidFill>
                  <a:srgbClr val="000000"/>
                </a:solidFill>
                <a:latin typeface="Calibri"/>
                <a:cs typeface="Calibri"/>
              </a:rPr>
              <a:t xml:space="preserve"> of 122</a:t>
            </a:r>
          </a:p>
        </p:txBody>
      </p:sp>
      <p:pic>
        <p:nvPicPr>
          <p:cNvPr id="2" name="Image 0" descr="E:\Tender\BGB\public\bgb.png">    </p:cNvPr>
          <p:cNvPicPr>
            <a:picLocks noChangeAspect="1"/>
          </p:cNvPicPr>
          <p:nvPr/>
        </p:nvPicPr>
        <p:blipFill>
          <a:blip r:embed="rId1"/>
          <a:stretch>
            <a:fillRect/>
          </a:stretch>
        </p:blipFill>
        <p:spPr>
          <a:xfrm>
            <a:off x="10330434" y="1056979"/>
            <a:ext cx="372533" cy="37253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jp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jp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47-2.jp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3-2.jpg"/><Relationship Id="rId3" Type="http://schemas.openxmlformats.org/officeDocument/2006/relationships/image" Target="../media/image-53-3.jp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image" Target="../media/image-54-2.jp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jp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image" Target="../media/image-64-2.jpg"/><Relationship Id="rId3" Type="http://schemas.openxmlformats.org/officeDocument/2006/relationships/image" Target="../media/image-64-3.jpg"/><Relationship Id="rId4" Type="http://schemas.openxmlformats.org/officeDocument/2006/relationships/slideLayout" Target="../slideLayouts/slideLayout4.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image" Target="../media/image-69-2.jpg"/><Relationship Id="rId3" Type="http://schemas.openxmlformats.org/officeDocument/2006/relationships/slideLayout" Target="../slideLayouts/slideLayout4.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slideLayout" Target="../slideLayouts/slideLayout4.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image" Target="../media/image-71-2.jpg"/><Relationship Id="rId3" Type="http://schemas.openxmlformats.org/officeDocument/2006/relationships/image" Target="../media/image-71-3.jpg"/><Relationship Id="rId4" Type="http://schemas.openxmlformats.org/officeDocument/2006/relationships/slideLayout" Target="../slideLayouts/slideLayout4.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image" Target="../media/image-75-2.jpg"/><Relationship Id="rId3" Type="http://schemas.openxmlformats.org/officeDocument/2006/relationships/slideLayout" Target="../slideLayouts/slideLayout4.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image" Target="../media/image-81-2.jpg"/><Relationship Id="rId3" Type="http://schemas.openxmlformats.org/officeDocument/2006/relationships/slideLayout" Target="../slideLayouts/slideLayout4.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image" Target="../media/image-88-2.jpg"/><Relationship Id="rId3" Type="http://schemas.openxmlformats.org/officeDocument/2006/relationships/slideLayout" Target="../slideLayouts/slideLayout4.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4.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slideLayout" Target="../slideLayouts/slideLayout4.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jpg"/><Relationship Id="rId3" Type="http://schemas.openxmlformats.org/officeDocument/2006/relationships/slideLayout" Target="../slideLayouts/slideLayout4.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4.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image" Target="../media/image-95-2.jpg"/><Relationship Id="rId3" Type="http://schemas.openxmlformats.org/officeDocument/2006/relationships/slideLayout" Target="../slideLayouts/slideLayout4.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4.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image" Target="../media/image-97-2.jpg"/><Relationship Id="rId3" Type="http://schemas.openxmlformats.org/officeDocument/2006/relationships/image" Target="../media/image-97-3.jpg"/><Relationship Id="rId4" Type="http://schemas.openxmlformats.org/officeDocument/2006/relationships/slideLayout" Target="../slideLayouts/slideLayout4.xml"/><Relationship Id="rId5"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image" Target="../media/image-98-2.jpg"/><Relationship Id="rId3" Type="http://schemas.openxmlformats.org/officeDocument/2006/relationships/slideLayout" Target="../slideLayouts/slideLayout4.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image" Target="../media/image-99-2.jpg"/><Relationship Id="rId3" Type="http://schemas.openxmlformats.org/officeDocument/2006/relationships/slideLayout" Target="../slideLayouts/slideLayout4.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4.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4.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image" Target="../media/image-103-2.jpg"/><Relationship Id="rId3" Type="http://schemas.openxmlformats.org/officeDocument/2006/relationships/slideLayout" Target="../slideLayouts/slideLayout4.xml"/><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4.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image" Target="../media/image-105-2.jpg"/><Relationship Id="rId3" Type="http://schemas.openxmlformats.org/officeDocument/2006/relationships/slideLayout" Target="../slideLayouts/slideLayout4.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image" Target="../media/image-106-2.jpg"/><Relationship Id="rId3" Type="http://schemas.openxmlformats.org/officeDocument/2006/relationships/slideLayout" Target="../slideLayouts/slideLayout4.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image" Target="../media/image-107-2.jpg"/><Relationship Id="rId3" Type="http://schemas.openxmlformats.org/officeDocument/2006/relationships/slideLayout" Target="../slideLayouts/slideLayout4.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4.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slideLayout" Target="../slideLayouts/slideLayout4.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image" Target="../media/image-110-2.jpg"/><Relationship Id="rId3" Type="http://schemas.openxmlformats.org/officeDocument/2006/relationships/slideLayout" Target="../slideLayouts/slideLayout4.xm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4.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slideLayout" Target="../slideLayouts/slideLayout4.xml"/><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650407" y="2636520"/>
            <a:ext cx="8791787" cy="447040"/>
          </a:xfrm>
          <a:prstGeom prst="rect">
            <a:avLst/>
          </a:prstGeom>
          <a:noFill/>
          <a:ln/>
        </p:spPr>
        <p:txBody>
          <a:bodyPr wrap="square" lIns="0" tIns="0" rIns="0" bIns="0" rtlCol="0" anchor="ctr"/>
          <a:lstStyle/>
          <a:p>
            <a:pPr indent="0" marL="0">
              <a:buNone/>
            </a:pPr>
            <a:r>
              <a:rPr lang="en-US" sz="1793" dirty="0">
                <a:solidFill>
                  <a:srgbClr val="D6E4D5"/>
                </a:solidFill>
              </a:rPr>
              <a:t>Border Incident Reporting &amp; Documentation System</a:t>
            </a:r>
            <a:endParaRPr lang="en-US" sz="1793" dirty="0"/>
          </a:p>
        </p:txBody>
      </p:sp>
      <p:sp>
        <p:nvSpPr>
          <p:cNvPr id="3" name="Title"/>
          <p:cNvSpPr txBox="1"/>
          <p:nvPr/>
        </p:nvSpPr>
        <p:spPr>
          <a:xfrm>
            <a:off x="1650407" y="3083560"/>
            <a:ext cx="8791787" cy="819573"/>
          </a:xfrm>
          <a:prstGeom prst="rect">
            <a:avLst/>
          </a:prstGeom>
          <a:noFill/>
          <a:ln/>
        </p:spPr>
        <p:txBody>
          <a:bodyPr wrap="square" lIns="0" tIns="0" rIns="0" bIns="0" rtlCol="0" anchor="ctr"/>
          <a:lstStyle/>
          <a:p>
            <a:pPr indent="0" marL="0">
              <a:buNone/>
            </a:pPr>
            <a:r>
              <a:rPr lang="en-US" sz="3585" b="1" dirty="0">
                <a:solidFill>
                  <a:srgbClr val="FFFFFF"/>
                </a:solidFill>
                <a:latin typeface="Cambria" pitchFamily="34" charset="0"/>
                <a:ea typeface="Cambria" pitchFamily="34" charset="-122"/>
                <a:cs typeface="Cambria" pitchFamily="34" charset="-120"/>
              </a:rPr>
              <a:t>BIRDS Phase II: requirement validation</a:t>
            </a:r>
            <a:endParaRPr lang="en-US" sz="3585" dirty="0"/>
          </a:p>
        </p:txBody>
      </p:sp>
      <p:sp>
        <p:nvSpPr>
          <p:cNvPr id="4" name="Text 2"/>
          <p:cNvSpPr txBox="1"/>
          <p:nvPr/>
        </p:nvSpPr>
        <p:spPr>
          <a:xfrm>
            <a:off x="1650407" y="3940387"/>
            <a:ext cx="8791787" cy="596053"/>
          </a:xfrm>
          <a:prstGeom prst="rect">
            <a:avLst/>
          </a:prstGeom>
          <a:noFill/>
          <a:ln/>
        </p:spPr>
        <p:txBody>
          <a:bodyPr wrap="square" lIns="0" tIns="0" rIns="0" bIns="0" rtlCol="0" anchor="ctr"/>
          <a:lstStyle/>
          <a:p>
            <a:pPr indent="0" marL="0">
              <a:buNone/>
            </a:pPr>
            <a:r>
              <a:rPr lang="en-US" sz="1467" dirty="0">
                <a:solidFill>
                  <a:srgbClr val="D6E4D5"/>
                </a:solidFill>
              </a:rPr>
              <a:t>Every screen of the offered system, shown on realistic demonstration data and mapped to the 58 items of the Technical Specification</a:t>
            </a:r>
            <a:endParaRPr lang="en-US" sz="1467" dirty="0"/>
          </a:p>
        </p:txBody>
      </p:sp>
      <p:sp>
        <p:nvSpPr>
          <p:cNvPr id="5" name="Text 3"/>
          <p:cNvSpPr txBox="1"/>
          <p:nvPr/>
        </p:nvSpPr>
        <p:spPr>
          <a:xfrm>
            <a:off x="1650407" y="4908973"/>
            <a:ext cx="8791787" cy="596053"/>
          </a:xfrm>
          <a:prstGeom prst="rect">
            <a:avLst/>
          </a:prstGeom>
          <a:noFill/>
          <a:ln/>
        </p:spPr>
        <p:txBody>
          <a:bodyPr wrap="square" lIns="0" tIns="0" rIns="0" bIns="0" rtlCol="0" anchor="ctr"/>
          <a:lstStyle/>
          <a:p>
            <a:pPr indent="0" marL="0">
              <a:buNone/>
            </a:pPr>
            <a:r>
              <a:rPr lang="en-US" sz="1141" b="1" dirty="0">
                <a:solidFill>
                  <a:srgbClr val="FFFFFF"/>
                </a:solidFill>
              </a:rPr>
              <a:t>Grace International</a:t>
            </a:r>
            <a:endParaRPr lang="en-US" sz="1141" dirty="0"/>
          </a:p>
          <a:p>
            <a:pPr indent="0" marL="0">
              <a:buNone/>
            </a:pPr>
            <a:r>
              <a:rPr lang="en-US" sz="1141" dirty="0">
                <a:solidFill>
                  <a:srgbClr val="FFFFFF"/>
                </a:solidFill>
              </a:rPr>
              <a:t>For the Technical Evaluation Committee, Headquarters Border Guard Bangladesh  ·  e-GP tender 1347267</a:t>
            </a:r>
            <a:endParaRPr lang="en-US" sz="114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Agenda</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Opening and solution, eleven sections of screens, value additions, delivery and summary</a:t>
            </a:r>
            <a:endParaRPr lang="en-US" sz="1141" dirty="0"/>
          </a:p>
        </p:txBody>
      </p:sp>
      <p:sp>
        <p:nvSpPr>
          <p:cNvPr id="4" name="Agenda 1"/>
          <p:cNvSpPr/>
          <p:nvPr/>
        </p:nvSpPr>
        <p:spPr>
          <a:xfrm>
            <a:off x="1501394" y="1965960"/>
            <a:ext cx="387435" cy="387435"/>
          </a:xfrm>
          <a:prstGeom prst="ellipse">
            <a:avLst/>
          </a:prstGeom>
          <a:solidFill>
            <a:srgbClr val="164716"/>
          </a:solidFill>
          <a:ln w="10348">
            <a:solidFill>
              <a:srgbClr val="164716"/>
            </a:solidFill>
            <a:prstDash val="solid"/>
          </a:ln>
        </p:spPr>
      </p:sp>
      <p:sp>
        <p:nvSpPr>
          <p:cNvPr id="5" name="Text 3"/>
          <p:cNvSpPr txBox="1"/>
          <p:nvPr/>
        </p:nvSpPr>
        <p:spPr>
          <a:xfrm>
            <a:off x="1501394" y="1965960"/>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1</a:t>
            </a:r>
            <a:endParaRPr lang="en-US" sz="1141" dirty="0"/>
          </a:p>
        </p:txBody>
      </p:sp>
      <p:sp>
        <p:nvSpPr>
          <p:cNvPr id="6" name="Text 4"/>
          <p:cNvSpPr txBox="1"/>
          <p:nvPr/>
        </p:nvSpPr>
        <p:spPr>
          <a:xfrm>
            <a:off x="2022941" y="1936157"/>
            <a:ext cx="4023360" cy="461941"/>
          </a:xfrm>
          <a:prstGeom prst="rect">
            <a:avLst/>
          </a:prstGeom>
          <a:noFill/>
          <a:ln/>
        </p:spPr>
        <p:txBody>
          <a:bodyPr wrap="square" lIns="0" tIns="0" rIns="0" bIns="0" rtlCol="0" anchor="t"/>
          <a:lstStyle/>
          <a:p>
            <a:pPr indent="0" marL="0">
              <a:buNone/>
            </a:pPr>
            <a:r>
              <a:rPr lang="en-US" sz="1222" b="1" dirty="0">
                <a:solidFill>
                  <a:srgbClr val="1F2937"/>
                </a:solidFill>
              </a:rPr>
              <a:t>Access and security</a:t>
            </a:r>
            <a:endParaRPr lang="en-US" sz="1222" dirty="0"/>
          </a:p>
          <a:p>
            <a:pPr indent="0" marL="0">
              <a:buNone/>
            </a:pPr>
            <a:r>
              <a:rPr lang="en-US" sz="937" dirty="0">
                <a:solidFill>
                  <a:srgbClr val="5B6472"/>
                </a:solidFill>
              </a:rPr>
              <a:t>Items 3, 4, 26–29</a:t>
            </a:r>
            <a:endParaRPr lang="en-US" sz="1222" dirty="0"/>
          </a:p>
        </p:txBody>
      </p:sp>
      <p:sp>
        <p:nvSpPr>
          <p:cNvPr id="7" name="Agenda 2"/>
          <p:cNvSpPr/>
          <p:nvPr/>
        </p:nvSpPr>
        <p:spPr>
          <a:xfrm>
            <a:off x="1501394" y="2517309"/>
            <a:ext cx="387435" cy="387435"/>
          </a:xfrm>
          <a:prstGeom prst="ellipse">
            <a:avLst/>
          </a:prstGeom>
          <a:solidFill>
            <a:srgbClr val="164716"/>
          </a:solidFill>
          <a:ln w="10348">
            <a:solidFill>
              <a:srgbClr val="164716"/>
            </a:solidFill>
            <a:prstDash val="solid"/>
          </a:ln>
        </p:spPr>
      </p:sp>
      <p:sp>
        <p:nvSpPr>
          <p:cNvPr id="8" name="Text 6"/>
          <p:cNvSpPr txBox="1"/>
          <p:nvPr/>
        </p:nvSpPr>
        <p:spPr>
          <a:xfrm>
            <a:off x="1501394" y="2517309"/>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2</a:t>
            </a:r>
            <a:endParaRPr lang="en-US" sz="1141" dirty="0"/>
          </a:p>
        </p:txBody>
      </p:sp>
      <p:sp>
        <p:nvSpPr>
          <p:cNvPr id="9" name="Text 7"/>
          <p:cNvSpPr txBox="1"/>
          <p:nvPr/>
        </p:nvSpPr>
        <p:spPr>
          <a:xfrm>
            <a:off x="2022941" y="2487507"/>
            <a:ext cx="4023360" cy="461941"/>
          </a:xfrm>
          <a:prstGeom prst="rect">
            <a:avLst/>
          </a:prstGeom>
          <a:noFill/>
          <a:ln/>
        </p:spPr>
        <p:txBody>
          <a:bodyPr wrap="square" lIns="0" tIns="0" rIns="0" bIns="0" rtlCol="0" anchor="t"/>
          <a:lstStyle/>
          <a:p>
            <a:pPr indent="0" marL="0">
              <a:buNone/>
            </a:pPr>
            <a:r>
              <a:rPr lang="en-US" sz="1222" b="1" dirty="0">
                <a:solidFill>
                  <a:srgbClr val="1F2937"/>
                </a:solidFill>
              </a:rPr>
              <a:t>Incident registration</a:t>
            </a:r>
            <a:endParaRPr lang="en-US" sz="1222" dirty="0"/>
          </a:p>
          <a:p>
            <a:pPr indent="0" marL="0">
              <a:buNone/>
            </a:pPr>
            <a:r>
              <a:rPr lang="en-US" sz="937" dirty="0">
                <a:solidFill>
                  <a:srgbClr val="5B6472"/>
                </a:solidFill>
              </a:rPr>
              <a:t>Items 5–11, 15</a:t>
            </a:r>
            <a:endParaRPr lang="en-US" sz="1222" dirty="0"/>
          </a:p>
        </p:txBody>
      </p:sp>
      <p:sp>
        <p:nvSpPr>
          <p:cNvPr id="10" name="Agenda 3"/>
          <p:cNvSpPr/>
          <p:nvPr/>
        </p:nvSpPr>
        <p:spPr>
          <a:xfrm>
            <a:off x="1501394" y="3068659"/>
            <a:ext cx="387435" cy="387435"/>
          </a:xfrm>
          <a:prstGeom prst="ellipse">
            <a:avLst/>
          </a:prstGeom>
          <a:solidFill>
            <a:srgbClr val="164716"/>
          </a:solidFill>
          <a:ln w="10348">
            <a:solidFill>
              <a:srgbClr val="164716"/>
            </a:solidFill>
            <a:prstDash val="solid"/>
          </a:ln>
        </p:spPr>
      </p:sp>
      <p:sp>
        <p:nvSpPr>
          <p:cNvPr id="11" name="Text 9"/>
          <p:cNvSpPr txBox="1"/>
          <p:nvPr/>
        </p:nvSpPr>
        <p:spPr>
          <a:xfrm>
            <a:off x="1501394" y="3068659"/>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3</a:t>
            </a:r>
            <a:endParaRPr lang="en-US" sz="1141" dirty="0"/>
          </a:p>
        </p:txBody>
      </p:sp>
      <p:sp>
        <p:nvSpPr>
          <p:cNvPr id="12" name="Text 10"/>
          <p:cNvSpPr txBox="1"/>
          <p:nvPr/>
        </p:nvSpPr>
        <p:spPr>
          <a:xfrm>
            <a:off x="2022941" y="3038856"/>
            <a:ext cx="4023360" cy="461941"/>
          </a:xfrm>
          <a:prstGeom prst="rect">
            <a:avLst/>
          </a:prstGeom>
          <a:noFill/>
          <a:ln/>
        </p:spPr>
        <p:txBody>
          <a:bodyPr wrap="square" lIns="0" tIns="0" rIns="0" bIns="0" rtlCol="0" anchor="t"/>
          <a:lstStyle/>
          <a:p>
            <a:pPr indent="0" marL="0">
              <a:buNone/>
            </a:pPr>
            <a:r>
              <a:rPr lang="en-US" sz="1222" b="1" dirty="0">
                <a:solidFill>
                  <a:srgbClr val="1F2937"/>
                </a:solidFill>
              </a:rPr>
              <a:t>Workflow and verification</a:t>
            </a:r>
            <a:endParaRPr lang="en-US" sz="1222" dirty="0"/>
          </a:p>
          <a:p>
            <a:pPr indent="0" marL="0">
              <a:buNone/>
            </a:pPr>
            <a:r>
              <a:rPr lang="en-US" sz="937" dirty="0">
                <a:solidFill>
                  <a:srgbClr val="5B6472"/>
                </a:solidFill>
              </a:rPr>
              <a:t>Items 12–14, 23, 25</a:t>
            </a:r>
            <a:endParaRPr lang="en-US" sz="1222" dirty="0"/>
          </a:p>
        </p:txBody>
      </p:sp>
      <p:sp>
        <p:nvSpPr>
          <p:cNvPr id="13" name="Agenda 4"/>
          <p:cNvSpPr/>
          <p:nvPr/>
        </p:nvSpPr>
        <p:spPr>
          <a:xfrm>
            <a:off x="1501394" y="3620008"/>
            <a:ext cx="387435" cy="387435"/>
          </a:xfrm>
          <a:prstGeom prst="ellipse">
            <a:avLst/>
          </a:prstGeom>
          <a:solidFill>
            <a:srgbClr val="164716"/>
          </a:solidFill>
          <a:ln w="10348">
            <a:solidFill>
              <a:srgbClr val="164716"/>
            </a:solidFill>
            <a:prstDash val="solid"/>
          </a:ln>
        </p:spPr>
      </p:sp>
      <p:sp>
        <p:nvSpPr>
          <p:cNvPr id="14" name="Text 12"/>
          <p:cNvSpPr txBox="1"/>
          <p:nvPr/>
        </p:nvSpPr>
        <p:spPr>
          <a:xfrm>
            <a:off x="1501394" y="3620008"/>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4</a:t>
            </a:r>
            <a:endParaRPr lang="en-US" sz="1141" dirty="0"/>
          </a:p>
        </p:txBody>
      </p:sp>
      <p:sp>
        <p:nvSpPr>
          <p:cNvPr id="15" name="Text 13"/>
          <p:cNvSpPr txBox="1"/>
          <p:nvPr/>
        </p:nvSpPr>
        <p:spPr>
          <a:xfrm>
            <a:off x="2022941" y="3590205"/>
            <a:ext cx="4023360" cy="461941"/>
          </a:xfrm>
          <a:prstGeom prst="rect">
            <a:avLst/>
          </a:prstGeom>
          <a:noFill/>
          <a:ln/>
        </p:spPr>
        <p:txBody>
          <a:bodyPr wrap="square" lIns="0" tIns="0" rIns="0" bIns="0" rtlCol="0" anchor="t"/>
          <a:lstStyle/>
          <a:p>
            <a:pPr indent="0" marL="0">
              <a:buNone/>
            </a:pPr>
            <a:r>
              <a:rPr lang="en-US" sz="1222" b="1" dirty="0">
                <a:solidFill>
                  <a:srgbClr val="1F2937"/>
                </a:solidFill>
              </a:rPr>
              <a:t>Tracking, search and dashboards</a:t>
            </a:r>
            <a:endParaRPr lang="en-US" sz="1222" dirty="0"/>
          </a:p>
          <a:p>
            <a:pPr indent="0" marL="0">
              <a:buNone/>
            </a:pPr>
            <a:r>
              <a:rPr lang="en-US" sz="937" dirty="0">
                <a:solidFill>
                  <a:srgbClr val="5B6472"/>
                </a:solidFill>
              </a:rPr>
              <a:t>Items 15–17</a:t>
            </a:r>
            <a:endParaRPr lang="en-US" sz="1222" dirty="0"/>
          </a:p>
        </p:txBody>
      </p:sp>
      <p:sp>
        <p:nvSpPr>
          <p:cNvPr id="16" name="Agenda 5"/>
          <p:cNvSpPr/>
          <p:nvPr/>
        </p:nvSpPr>
        <p:spPr>
          <a:xfrm>
            <a:off x="1501394" y="4171357"/>
            <a:ext cx="387435" cy="387435"/>
          </a:xfrm>
          <a:prstGeom prst="ellipse">
            <a:avLst/>
          </a:prstGeom>
          <a:solidFill>
            <a:srgbClr val="164716"/>
          </a:solidFill>
          <a:ln w="10348">
            <a:solidFill>
              <a:srgbClr val="164716"/>
            </a:solidFill>
            <a:prstDash val="solid"/>
          </a:ln>
        </p:spPr>
      </p:sp>
      <p:sp>
        <p:nvSpPr>
          <p:cNvPr id="17" name="Text 15"/>
          <p:cNvSpPr txBox="1"/>
          <p:nvPr/>
        </p:nvSpPr>
        <p:spPr>
          <a:xfrm>
            <a:off x="1501394" y="4171357"/>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5</a:t>
            </a:r>
            <a:endParaRPr lang="en-US" sz="1141" dirty="0"/>
          </a:p>
        </p:txBody>
      </p:sp>
      <p:sp>
        <p:nvSpPr>
          <p:cNvPr id="18" name="Text 16"/>
          <p:cNvSpPr txBox="1"/>
          <p:nvPr/>
        </p:nvSpPr>
        <p:spPr>
          <a:xfrm>
            <a:off x="2022941" y="4141555"/>
            <a:ext cx="4023360" cy="461941"/>
          </a:xfrm>
          <a:prstGeom prst="rect">
            <a:avLst/>
          </a:prstGeom>
          <a:noFill/>
          <a:ln/>
        </p:spPr>
        <p:txBody>
          <a:bodyPr wrap="square" lIns="0" tIns="0" rIns="0" bIns="0" rtlCol="0" anchor="t"/>
          <a:lstStyle/>
          <a:p>
            <a:pPr indent="0" marL="0">
              <a:buNone/>
            </a:pPr>
            <a:r>
              <a:rPr lang="en-US" sz="1222" b="1" dirty="0">
                <a:solidFill>
                  <a:srgbClr val="1F2937"/>
                </a:solidFill>
              </a:rPr>
              <a:t>GIS map dashboard</a:t>
            </a:r>
            <a:endParaRPr lang="en-US" sz="1222" dirty="0"/>
          </a:p>
          <a:p>
            <a:pPr indent="0" marL="0">
              <a:buNone/>
            </a:pPr>
            <a:r>
              <a:rPr lang="en-US" sz="937" dirty="0">
                <a:solidFill>
                  <a:srgbClr val="5B6472"/>
                </a:solidFill>
              </a:rPr>
              <a:t>Items 8, 18</a:t>
            </a:r>
            <a:endParaRPr lang="en-US" sz="1222" dirty="0"/>
          </a:p>
        </p:txBody>
      </p:sp>
      <p:sp>
        <p:nvSpPr>
          <p:cNvPr id="19" name="Agenda 6"/>
          <p:cNvSpPr/>
          <p:nvPr/>
        </p:nvSpPr>
        <p:spPr>
          <a:xfrm>
            <a:off x="1501394" y="4722707"/>
            <a:ext cx="387435" cy="387435"/>
          </a:xfrm>
          <a:prstGeom prst="ellipse">
            <a:avLst/>
          </a:prstGeom>
          <a:solidFill>
            <a:srgbClr val="164716"/>
          </a:solidFill>
          <a:ln w="10348">
            <a:solidFill>
              <a:srgbClr val="164716"/>
            </a:solidFill>
            <a:prstDash val="solid"/>
          </a:ln>
        </p:spPr>
      </p:sp>
      <p:sp>
        <p:nvSpPr>
          <p:cNvPr id="20" name="Text 18"/>
          <p:cNvSpPr txBox="1"/>
          <p:nvPr/>
        </p:nvSpPr>
        <p:spPr>
          <a:xfrm>
            <a:off x="1501394" y="4722707"/>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6</a:t>
            </a:r>
            <a:endParaRPr lang="en-US" sz="1141" dirty="0"/>
          </a:p>
        </p:txBody>
      </p:sp>
      <p:sp>
        <p:nvSpPr>
          <p:cNvPr id="21" name="Text 19"/>
          <p:cNvSpPr txBox="1"/>
          <p:nvPr/>
        </p:nvSpPr>
        <p:spPr>
          <a:xfrm>
            <a:off x="2022941" y="4692904"/>
            <a:ext cx="4023360" cy="461941"/>
          </a:xfrm>
          <a:prstGeom prst="rect">
            <a:avLst/>
          </a:prstGeom>
          <a:noFill/>
          <a:ln/>
        </p:spPr>
        <p:txBody>
          <a:bodyPr wrap="square" lIns="0" tIns="0" rIns="0" bIns="0" rtlCol="0" anchor="t"/>
          <a:lstStyle/>
          <a:p>
            <a:pPr indent="0" marL="0">
              <a:buNone/>
            </a:pPr>
            <a:r>
              <a:rPr lang="en-US" sz="1222" b="1" dirty="0">
                <a:solidFill>
                  <a:srgbClr val="1F2937"/>
                </a:solidFill>
              </a:rPr>
              <a:t>Analytics and trends</a:t>
            </a:r>
            <a:endParaRPr lang="en-US" sz="1222" dirty="0"/>
          </a:p>
          <a:p>
            <a:pPr indent="0" marL="0">
              <a:buNone/>
            </a:pPr>
            <a:r>
              <a:rPr lang="en-US" sz="937" dirty="0">
                <a:solidFill>
                  <a:srgbClr val="5B6472"/>
                </a:solidFill>
              </a:rPr>
              <a:t>Items 19, 20</a:t>
            </a:r>
            <a:endParaRPr lang="en-US" sz="1222" dirty="0"/>
          </a:p>
        </p:txBody>
      </p:sp>
      <p:sp>
        <p:nvSpPr>
          <p:cNvPr id="22" name="Agenda 7"/>
          <p:cNvSpPr/>
          <p:nvPr/>
        </p:nvSpPr>
        <p:spPr>
          <a:xfrm>
            <a:off x="1501394" y="5274056"/>
            <a:ext cx="387435" cy="387435"/>
          </a:xfrm>
          <a:prstGeom prst="ellipse">
            <a:avLst/>
          </a:prstGeom>
          <a:solidFill>
            <a:srgbClr val="164716"/>
          </a:solidFill>
          <a:ln w="10348">
            <a:solidFill>
              <a:srgbClr val="164716"/>
            </a:solidFill>
            <a:prstDash val="solid"/>
          </a:ln>
        </p:spPr>
      </p:sp>
      <p:sp>
        <p:nvSpPr>
          <p:cNvPr id="23" name="Text 21"/>
          <p:cNvSpPr txBox="1"/>
          <p:nvPr/>
        </p:nvSpPr>
        <p:spPr>
          <a:xfrm>
            <a:off x="1501394" y="5274056"/>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7</a:t>
            </a:r>
            <a:endParaRPr lang="en-US" sz="1141" dirty="0"/>
          </a:p>
        </p:txBody>
      </p:sp>
      <p:sp>
        <p:nvSpPr>
          <p:cNvPr id="24" name="Text 22"/>
          <p:cNvSpPr txBox="1"/>
          <p:nvPr/>
        </p:nvSpPr>
        <p:spPr>
          <a:xfrm>
            <a:off x="2022941" y="5244253"/>
            <a:ext cx="4023360" cy="461941"/>
          </a:xfrm>
          <a:prstGeom prst="rect">
            <a:avLst/>
          </a:prstGeom>
          <a:noFill/>
          <a:ln/>
        </p:spPr>
        <p:txBody>
          <a:bodyPr wrap="square" lIns="0" tIns="0" rIns="0" bIns="0" rtlCol="0" anchor="t"/>
          <a:lstStyle/>
          <a:p>
            <a:pPr indent="0" marL="0">
              <a:buNone/>
            </a:pPr>
            <a:r>
              <a:rPr lang="en-US" sz="1222" b="1" dirty="0">
                <a:solidFill>
                  <a:srgbClr val="1F2937"/>
                </a:solidFill>
              </a:rPr>
              <a:t>Reports, printing and export</a:t>
            </a:r>
            <a:endParaRPr lang="en-US" sz="1222" dirty="0"/>
          </a:p>
          <a:p>
            <a:pPr indent="0" marL="0">
              <a:buNone/>
            </a:pPr>
            <a:r>
              <a:rPr lang="en-US" sz="937" dirty="0">
                <a:solidFill>
                  <a:srgbClr val="5B6472"/>
                </a:solidFill>
              </a:rPr>
              <a:t>Items 21, 22</a:t>
            </a:r>
            <a:endParaRPr lang="en-US" sz="1222" dirty="0"/>
          </a:p>
        </p:txBody>
      </p:sp>
      <p:sp>
        <p:nvSpPr>
          <p:cNvPr id="25" name="Agenda 8"/>
          <p:cNvSpPr/>
          <p:nvPr/>
        </p:nvSpPr>
        <p:spPr>
          <a:xfrm>
            <a:off x="6195314" y="1965960"/>
            <a:ext cx="387435" cy="387435"/>
          </a:xfrm>
          <a:prstGeom prst="ellipse">
            <a:avLst/>
          </a:prstGeom>
          <a:solidFill>
            <a:srgbClr val="164716"/>
          </a:solidFill>
          <a:ln w="10348">
            <a:solidFill>
              <a:srgbClr val="164716"/>
            </a:solidFill>
            <a:prstDash val="solid"/>
          </a:ln>
        </p:spPr>
      </p:sp>
      <p:sp>
        <p:nvSpPr>
          <p:cNvPr id="26" name="Text 24"/>
          <p:cNvSpPr txBox="1"/>
          <p:nvPr/>
        </p:nvSpPr>
        <p:spPr>
          <a:xfrm>
            <a:off x="6195314" y="1965960"/>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8</a:t>
            </a:r>
            <a:endParaRPr lang="en-US" sz="1141" dirty="0"/>
          </a:p>
        </p:txBody>
      </p:sp>
      <p:sp>
        <p:nvSpPr>
          <p:cNvPr id="27" name="Text 25"/>
          <p:cNvSpPr txBox="1"/>
          <p:nvPr/>
        </p:nvSpPr>
        <p:spPr>
          <a:xfrm>
            <a:off x="6716861" y="1936157"/>
            <a:ext cx="4023360" cy="461941"/>
          </a:xfrm>
          <a:prstGeom prst="rect">
            <a:avLst/>
          </a:prstGeom>
          <a:noFill/>
          <a:ln/>
        </p:spPr>
        <p:txBody>
          <a:bodyPr wrap="square" lIns="0" tIns="0" rIns="0" bIns="0" rtlCol="0" anchor="t"/>
          <a:lstStyle/>
          <a:p>
            <a:pPr indent="0" marL="0">
              <a:buNone/>
            </a:pPr>
            <a:r>
              <a:rPr lang="en-US" sz="1222" b="1" dirty="0">
                <a:solidFill>
                  <a:srgbClr val="1F2937"/>
                </a:solidFill>
              </a:rPr>
              <a:t>Audit trail and data integrity</a:t>
            </a:r>
            <a:endParaRPr lang="en-US" sz="1222" dirty="0"/>
          </a:p>
          <a:p>
            <a:pPr indent="0" marL="0">
              <a:buNone/>
            </a:pPr>
            <a:r>
              <a:rPr lang="en-US" sz="937" dirty="0">
                <a:solidFill>
                  <a:srgbClr val="5B6472"/>
                </a:solidFill>
              </a:rPr>
              <a:t>Items 24, 25</a:t>
            </a:r>
            <a:endParaRPr lang="en-US" sz="1222" dirty="0"/>
          </a:p>
        </p:txBody>
      </p:sp>
      <p:sp>
        <p:nvSpPr>
          <p:cNvPr id="28" name="Agenda 9"/>
          <p:cNvSpPr/>
          <p:nvPr/>
        </p:nvSpPr>
        <p:spPr>
          <a:xfrm>
            <a:off x="6195314" y="2517309"/>
            <a:ext cx="387435" cy="387435"/>
          </a:xfrm>
          <a:prstGeom prst="ellipse">
            <a:avLst/>
          </a:prstGeom>
          <a:solidFill>
            <a:srgbClr val="164716"/>
          </a:solidFill>
          <a:ln w="10348">
            <a:solidFill>
              <a:srgbClr val="164716"/>
            </a:solidFill>
            <a:prstDash val="solid"/>
          </a:ln>
        </p:spPr>
      </p:sp>
      <p:sp>
        <p:nvSpPr>
          <p:cNvPr id="29" name="Text 27"/>
          <p:cNvSpPr txBox="1"/>
          <p:nvPr/>
        </p:nvSpPr>
        <p:spPr>
          <a:xfrm>
            <a:off x="6195314" y="2517309"/>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9</a:t>
            </a:r>
            <a:endParaRPr lang="en-US" sz="1141" dirty="0"/>
          </a:p>
        </p:txBody>
      </p:sp>
      <p:sp>
        <p:nvSpPr>
          <p:cNvPr id="30" name="Text 28"/>
          <p:cNvSpPr txBox="1"/>
          <p:nvPr/>
        </p:nvSpPr>
        <p:spPr>
          <a:xfrm>
            <a:off x="6716861" y="2487507"/>
            <a:ext cx="4023360" cy="461941"/>
          </a:xfrm>
          <a:prstGeom prst="rect">
            <a:avLst/>
          </a:prstGeom>
          <a:noFill/>
          <a:ln/>
        </p:spPr>
        <p:txBody>
          <a:bodyPr wrap="square" lIns="0" tIns="0" rIns="0" bIns="0" rtlCol="0" anchor="t"/>
          <a:lstStyle/>
          <a:p>
            <a:pPr indent="0" marL="0">
              <a:buNone/>
            </a:pPr>
            <a:r>
              <a:rPr lang="en-US" sz="1222" b="1" dirty="0">
                <a:solidFill>
                  <a:srgbClr val="1F2937"/>
                </a:solidFill>
              </a:rPr>
              <a:t>Administration and configuration</a:t>
            </a:r>
            <a:endParaRPr lang="en-US" sz="1222" dirty="0"/>
          </a:p>
          <a:p>
            <a:pPr indent="0" marL="0">
              <a:buNone/>
            </a:pPr>
            <a:r>
              <a:rPr lang="en-US" sz="937" dirty="0">
                <a:solidFill>
                  <a:srgbClr val="5B6472"/>
                </a:solidFill>
              </a:rPr>
              <a:t>Items 3, 6, 9, 13, 44–47, 55</a:t>
            </a:r>
            <a:endParaRPr lang="en-US" sz="1222" dirty="0"/>
          </a:p>
        </p:txBody>
      </p:sp>
      <p:sp>
        <p:nvSpPr>
          <p:cNvPr id="31" name="Agenda 10"/>
          <p:cNvSpPr/>
          <p:nvPr/>
        </p:nvSpPr>
        <p:spPr>
          <a:xfrm>
            <a:off x="6195314" y="3068659"/>
            <a:ext cx="387435" cy="387435"/>
          </a:xfrm>
          <a:prstGeom prst="ellipse">
            <a:avLst/>
          </a:prstGeom>
          <a:solidFill>
            <a:srgbClr val="164716"/>
          </a:solidFill>
          <a:ln w="10348">
            <a:solidFill>
              <a:srgbClr val="164716"/>
            </a:solidFill>
            <a:prstDash val="solid"/>
          </a:ln>
        </p:spPr>
      </p:sp>
      <p:sp>
        <p:nvSpPr>
          <p:cNvPr id="32" name="Text 30"/>
          <p:cNvSpPr txBox="1"/>
          <p:nvPr/>
        </p:nvSpPr>
        <p:spPr>
          <a:xfrm>
            <a:off x="6195314" y="3068659"/>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10</a:t>
            </a:r>
            <a:endParaRPr lang="en-US" sz="1141" dirty="0"/>
          </a:p>
        </p:txBody>
      </p:sp>
      <p:sp>
        <p:nvSpPr>
          <p:cNvPr id="33" name="Text 31"/>
          <p:cNvSpPr txBox="1"/>
          <p:nvPr/>
        </p:nvSpPr>
        <p:spPr>
          <a:xfrm>
            <a:off x="6716861" y="3038856"/>
            <a:ext cx="4023360" cy="461941"/>
          </a:xfrm>
          <a:prstGeom prst="rect">
            <a:avLst/>
          </a:prstGeom>
          <a:noFill/>
          <a:ln/>
        </p:spPr>
        <p:txBody>
          <a:bodyPr wrap="square" lIns="0" tIns="0" rIns="0" bIns="0" rtlCol="0" anchor="t"/>
          <a:lstStyle/>
          <a:p>
            <a:pPr indent="0" marL="0">
              <a:buNone/>
            </a:pPr>
            <a:r>
              <a:rPr lang="en-US" sz="1222" b="1" dirty="0">
                <a:solidFill>
                  <a:srgbClr val="1F2937"/>
                </a:solidFill>
              </a:rPr>
              <a:t>Platform, languages and integration</a:t>
            </a:r>
            <a:endParaRPr lang="en-US" sz="1222" dirty="0"/>
          </a:p>
          <a:p>
            <a:pPr indent="0" marL="0">
              <a:buNone/>
            </a:pPr>
            <a:r>
              <a:rPr lang="en-US" sz="937" dirty="0">
                <a:solidFill>
                  <a:srgbClr val="5B6472"/>
                </a:solidFill>
              </a:rPr>
              <a:t>Items 31, 41–43, 58</a:t>
            </a:r>
            <a:endParaRPr lang="en-US" sz="1222" dirty="0"/>
          </a:p>
        </p:txBody>
      </p:sp>
      <p:sp>
        <p:nvSpPr>
          <p:cNvPr id="34" name="Agenda 11"/>
          <p:cNvSpPr/>
          <p:nvPr/>
        </p:nvSpPr>
        <p:spPr>
          <a:xfrm>
            <a:off x="6195314" y="3620008"/>
            <a:ext cx="387435" cy="387435"/>
          </a:xfrm>
          <a:prstGeom prst="ellipse">
            <a:avLst/>
          </a:prstGeom>
          <a:solidFill>
            <a:srgbClr val="164716"/>
          </a:solidFill>
          <a:ln w="10348">
            <a:solidFill>
              <a:srgbClr val="164716"/>
            </a:solidFill>
            <a:prstDash val="solid"/>
          </a:ln>
        </p:spPr>
      </p:sp>
      <p:sp>
        <p:nvSpPr>
          <p:cNvPr id="35" name="Text 33"/>
          <p:cNvSpPr txBox="1"/>
          <p:nvPr/>
        </p:nvSpPr>
        <p:spPr>
          <a:xfrm>
            <a:off x="6195314" y="3620008"/>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11</a:t>
            </a:r>
            <a:endParaRPr lang="en-US" sz="1141" dirty="0"/>
          </a:p>
        </p:txBody>
      </p:sp>
      <p:sp>
        <p:nvSpPr>
          <p:cNvPr id="36" name="Text 34"/>
          <p:cNvSpPr txBox="1"/>
          <p:nvPr/>
        </p:nvSpPr>
        <p:spPr>
          <a:xfrm>
            <a:off x="6716861" y="3590205"/>
            <a:ext cx="4023360" cy="461941"/>
          </a:xfrm>
          <a:prstGeom prst="rect">
            <a:avLst/>
          </a:prstGeom>
          <a:noFill/>
          <a:ln/>
        </p:spPr>
        <p:txBody>
          <a:bodyPr wrap="square" lIns="0" tIns="0" rIns="0" bIns="0" rtlCol="0" anchor="t"/>
          <a:lstStyle/>
          <a:p>
            <a:pPr indent="0" marL="0">
              <a:buNone/>
            </a:pPr>
            <a:r>
              <a:rPr lang="en-US" sz="1222" b="1" dirty="0">
                <a:solidFill>
                  <a:srgbClr val="1F2937"/>
                </a:solidFill>
              </a:rPr>
              <a:t>Secure messaging, voice messages and calls</a:t>
            </a:r>
            <a:endParaRPr lang="en-US" sz="1222" dirty="0"/>
          </a:p>
          <a:p>
            <a:pPr indent="0" marL="0">
              <a:buNone/>
            </a:pPr>
            <a:r>
              <a:rPr lang="en-US" sz="937" dirty="0">
                <a:solidFill>
                  <a:srgbClr val="5B6472"/>
                </a:solidFill>
              </a:rPr>
              <a:t>Items 58 (value addition)</a:t>
            </a:r>
            <a:endParaRPr lang="en-US" sz="1222" dirty="0"/>
          </a:p>
        </p:txBody>
      </p:sp>
      <p:sp>
        <p:nvSpPr>
          <p:cNvPr id="37" name="Agenda 12"/>
          <p:cNvSpPr/>
          <p:nvPr/>
        </p:nvSpPr>
        <p:spPr>
          <a:xfrm>
            <a:off x="6195314" y="4171357"/>
            <a:ext cx="387435" cy="387435"/>
          </a:xfrm>
          <a:prstGeom prst="ellipse">
            <a:avLst/>
          </a:prstGeom>
          <a:solidFill>
            <a:srgbClr val="64748B"/>
          </a:solidFill>
          <a:ln w="10348">
            <a:solidFill>
              <a:srgbClr val="64748B"/>
            </a:solidFill>
            <a:prstDash val="solid"/>
          </a:ln>
        </p:spPr>
      </p:sp>
      <p:sp>
        <p:nvSpPr>
          <p:cNvPr id="38" name="Text 36"/>
          <p:cNvSpPr txBox="1"/>
          <p:nvPr/>
        </p:nvSpPr>
        <p:spPr>
          <a:xfrm>
            <a:off x="6195314" y="4171357"/>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12</a:t>
            </a:r>
            <a:endParaRPr lang="en-US" sz="1141" dirty="0"/>
          </a:p>
        </p:txBody>
      </p:sp>
      <p:sp>
        <p:nvSpPr>
          <p:cNvPr id="39" name="Text 37"/>
          <p:cNvSpPr txBox="1"/>
          <p:nvPr/>
        </p:nvSpPr>
        <p:spPr>
          <a:xfrm>
            <a:off x="6716861" y="4141555"/>
            <a:ext cx="4023360" cy="461941"/>
          </a:xfrm>
          <a:prstGeom prst="rect">
            <a:avLst/>
          </a:prstGeom>
          <a:noFill/>
          <a:ln/>
        </p:spPr>
        <p:txBody>
          <a:bodyPr wrap="square" lIns="0" tIns="0" rIns="0" bIns="0" rtlCol="0" anchor="t"/>
          <a:lstStyle/>
          <a:p>
            <a:pPr indent="0" marL="0">
              <a:buNone/>
            </a:pPr>
            <a:r>
              <a:rPr lang="en-US" sz="1222" b="1" dirty="0">
                <a:solidFill>
                  <a:srgbClr val="1F2937"/>
                </a:solidFill>
              </a:rPr>
              <a:t>Value additions and infrastructure</a:t>
            </a:r>
            <a:endParaRPr lang="en-US" sz="1222" dirty="0"/>
          </a:p>
          <a:p>
            <a:pPr indent="0" marL="0">
              <a:buNone/>
            </a:pPr>
            <a:r>
              <a:rPr lang="en-US" sz="937" dirty="0">
                <a:solidFill>
                  <a:srgbClr val="5B6472"/>
                </a:solidFill>
              </a:rPr>
              <a:t>Annex B</a:t>
            </a:r>
            <a:endParaRPr lang="en-US" sz="1222" dirty="0"/>
          </a:p>
        </p:txBody>
      </p:sp>
      <p:sp>
        <p:nvSpPr>
          <p:cNvPr id="40" name="Agenda 13"/>
          <p:cNvSpPr/>
          <p:nvPr/>
        </p:nvSpPr>
        <p:spPr>
          <a:xfrm>
            <a:off x="6195314" y="4722707"/>
            <a:ext cx="387435" cy="387435"/>
          </a:xfrm>
          <a:prstGeom prst="ellipse">
            <a:avLst/>
          </a:prstGeom>
          <a:solidFill>
            <a:srgbClr val="64748B"/>
          </a:solidFill>
          <a:ln w="10348">
            <a:solidFill>
              <a:srgbClr val="64748B"/>
            </a:solidFill>
            <a:prstDash val="solid"/>
          </a:ln>
        </p:spPr>
      </p:sp>
      <p:sp>
        <p:nvSpPr>
          <p:cNvPr id="41" name="Text 39"/>
          <p:cNvSpPr txBox="1"/>
          <p:nvPr/>
        </p:nvSpPr>
        <p:spPr>
          <a:xfrm>
            <a:off x="6195314" y="4722707"/>
            <a:ext cx="387435" cy="387435"/>
          </a:xfrm>
          <a:prstGeom prst="rect">
            <a:avLst/>
          </a:prstGeom>
          <a:noFill/>
          <a:ln/>
        </p:spPr>
        <p:txBody>
          <a:bodyPr wrap="square" lIns="0" tIns="0" rIns="0" bIns="0" rtlCol="0" anchor="ctr"/>
          <a:lstStyle/>
          <a:p>
            <a:pPr algn="ctr" indent="0" marL="0">
              <a:buNone/>
            </a:pPr>
            <a:r>
              <a:rPr lang="en-US" sz="1141" b="1" dirty="0">
                <a:solidFill>
                  <a:srgbClr val="FFFFFF"/>
                </a:solidFill>
              </a:rPr>
              <a:t>13</a:t>
            </a:r>
            <a:endParaRPr lang="en-US" sz="1141" dirty="0"/>
          </a:p>
        </p:txBody>
      </p:sp>
      <p:sp>
        <p:nvSpPr>
          <p:cNvPr id="42" name="Text 40"/>
          <p:cNvSpPr txBox="1"/>
          <p:nvPr/>
        </p:nvSpPr>
        <p:spPr>
          <a:xfrm>
            <a:off x="6716861" y="4692904"/>
            <a:ext cx="4023360" cy="461941"/>
          </a:xfrm>
          <a:prstGeom prst="rect">
            <a:avLst/>
          </a:prstGeom>
          <a:noFill/>
          <a:ln/>
        </p:spPr>
        <p:txBody>
          <a:bodyPr wrap="square" lIns="0" tIns="0" rIns="0" bIns="0" rtlCol="0" anchor="t"/>
          <a:lstStyle/>
          <a:p>
            <a:pPr indent="0" marL="0">
              <a:buNone/>
            </a:pPr>
            <a:r>
              <a:rPr lang="en-US" sz="1222" b="1" dirty="0">
                <a:solidFill>
                  <a:srgbClr val="1F2937"/>
                </a:solidFill>
              </a:rPr>
              <a:t>Delivery, training, support and compliance matrix</a:t>
            </a:r>
            <a:endParaRPr lang="en-US" sz="1222" dirty="0"/>
          </a:p>
          <a:p>
            <a:pPr indent="0" marL="0">
              <a:buNone/>
            </a:pPr>
            <a:r>
              <a:rPr lang="en-US" sz="937" dirty="0">
                <a:solidFill>
                  <a:srgbClr val="5B6472"/>
                </a:solidFill>
              </a:rPr>
              <a:t>32–40, 50–57</a:t>
            </a:r>
            <a:endParaRPr lang="en-US" sz="122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Compliance at a glance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All 58 items are answered "Comply"; most can be seen working today</a:t>
            </a:r>
            <a:endParaRPr lang="en-US" sz="1141" dirty="0"/>
          </a:p>
        </p:txBody>
      </p:sp>
      <p:sp>
        <p:nvSpPr>
          <p:cNvPr id="4" name="Stat card 1"/>
          <p:cNvSpPr/>
          <p:nvPr/>
        </p:nvSpPr>
        <p:spPr>
          <a:xfrm>
            <a:off x="1501394" y="2040467"/>
            <a:ext cx="2123440" cy="2235200"/>
          </a:xfrm>
          <a:prstGeom prst="roundRect">
            <a:avLst>
              <a:gd name="adj" fmla="val 3509"/>
            </a:avLst>
          </a:prstGeom>
          <a:solidFill>
            <a:srgbClr val="EEF4EE"/>
          </a:solidFill>
          <a:ln w="10348">
            <a:solidFill>
              <a:srgbClr val="EEF4EE"/>
            </a:solidFill>
            <a:prstDash val="solid"/>
          </a:ln>
        </p:spPr>
      </p:sp>
      <p:sp>
        <p:nvSpPr>
          <p:cNvPr id="5" name="Text 3"/>
          <p:cNvSpPr txBox="1"/>
          <p:nvPr/>
        </p:nvSpPr>
        <p:spPr>
          <a:xfrm>
            <a:off x="1687661" y="2189480"/>
            <a:ext cx="1788160" cy="894080"/>
          </a:xfrm>
          <a:prstGeom prst="rect">
            <a:avLst/>
          </a:prstGeom>
          <a:noFill/>
          <a:ln/>
        </p:spPr>
        <p:txBody>
          <a:bodyPr wrap="square" lIns="0" tIns="0" rIns="0" bIns="0" rtlCol="0" anchor="ctr"/>
          <a:lstStyle/>
          <a:p>
            <a:pPr indent="0" marL="0">
              <a:buNone/>
            </a:pPr>
            <a:r>
              <a:rPr lang="en-US" sz="5378" b="1" dirty="0">
                <a:solidFill>
                  <a:srgbClr val="164716"/>
                </a:solidFill>
                <a:latin typeface="Cambria" pitchFamily="34" charset="0"/>
                <a:ea typeface="Cambria" pitchFamily="34" charset="-122"/>
                <a:cs typeface="Cambria" pitchFamily="34" charset="-120"/>
              </a:rPr>
              <a:t>58</a:t>
            </a:r>
            <a:endParaRPr lang="en-US" sz="5378" dirty="0"/>
          </a:p>
        </p:txBody>
      </p:sp>
      <p:sp>
        <p:nvSpPr>
          <p:cNvPr id="6" name="Text 4"/>
          <p:cNvSpPr txBox="1"/>
          <p:nvPr/>
        </p:nvSpPr>
        <p:spPr>
          <a:xfrm>
            <a:off x="1687661" y="3120813"/>
            <a:ext cx="1788160" cy="558800"/>
          </a:xfrm>
          <a:prstGeom prst="rect">
            <a:avLst/>
          </a:prstGeom>
          <a:noFill/>
          <a:ln/>
        </p:spPr>
        <p:txBody>
          <a:bodyPr wrap="square" lIns="0" tIns="0" rIns="0" bIns="0" rtlCol="0" anchor="t"/>
          <a:lstStyle/>
          <a:p>
            <a:pPr indent="0" marL="0">
              <a:buNone/>
            </a:pPr>
            <a:r>
              <a:rPr lang="en-US" sz="1304" b="1" dirty="0">
                <a:solidFill>
                  <a:srgbClr val="1F2937"/>
                </a:solidFill>
              </a:rPr>
              <a:t>specification items</a:t>
            </a:r>
            <a:endParaRPr lang="en-US" sz="1304" dirty="0"/>
          </a:p>
        </p:txBody>
      </p:sp>
      <p:sp>
        <p:nvSpPr>
          <p:cNvPr id="7" name="Text 5"/>
          <p:cNvSpPr txBox="1"/>
          <p:nvPr/>
        </p:nvSpPr>
        <p:spPr>
          <a:xfrm>
            <a:off x="1687661" y="3679613"/>
            <a:ext cx="1788160" cy="521547"/>
          </a:xfrm>
          <a:prstGeom prst="rect">
            <a:avLst/>
          </a:prstGeom>
          <a:noFill/>
          <a:ln/>
        </p:spPr>
        <p:txBody>
          <a:bodyPr wrap="square" lIns="0" tIns="0" rIns="0" bIns="0" rtlCol="0" anchor="t"/>
          <a:lstStyle/>
          <a:p>
            <a:pPr indent="0" marL="0">
              <a:buNone/>
            </a:pPr>
            <a:r>
              <a:rPr lang="en-US" sz="978" dirty="0">
                <a:solidFill>
                  <a:srgbClr val="5B6472"/>
                </a:solidFill>
              </a:rPr>
              <a:t>answered "Comply" in the Compliance Statement</a:t>
            </a:r>
            <a:endParaRPr lang="en-US" sz="978" dirty="0"/>
          </a:p>
        </p:txBody>
      </p:sp>
      <p:sp>
        <p:nvSpPr>
          <p:cNvPr id="8" name="Stat card 2"/>
          <p:cNvSpPr/>
          <p:nvPr/>
        </p:nvSpPr>
        <p:spPr>
          <a:xfrm>
            <a:off x="3811101" y="2040467"/>
            <a:ext cx="2123440" cy="2235200"/>
          </a:xfrm>
          <a:prstGeom prst="roundRect">
            <a:avLst>
              <a:gd name="adj" fmla="val 3509"/>
            </a:avLst>
          </a:prstGeom>
          <a:solidFill>
            <a:srgbClr val="EEF4EE"/>
          </a:solidFill>
          <a:ln w="10348">
            <a:solidFill>
              <a:srgbClr val="EEF4EE"/>
            </a:solidFill>
            <a:prstDash val="solid"/>
          </a:ln>
        </p:spPr>
      </p:sp>
      <p:sp>
        <p:nvSpPr>
          <p:cNvPr id="9" name="Text 7"/>
          <p:cNvSpPr txBox="1"/>
          <p:nvPr/>
        </p:nvSpPr>
        <p:spPr>
          <a:xfrm>
            <a:off x="3997367" y="2189480"/>
            <a:ext cx="1788160" cy="894080"/>
          </a:xfrm>
          <a:prstGeom prst="rect">
            <a:avLst/>
          </a:prstGeom>
          <a:noFill/>
          <a:ln/>
        </p:spPr>
        <p:txBody>
          <a:bodyPr wrap="square" lIns="0" tIns="0" rIns="0" bIns="0" rtlCol="0" anchor="ctr"/>
          <a:lstStyle/>
          <a:p>
            <a:pPr indent="0" marL="0">
              <a:buNone/>
            </a:pPr>
            <a:r>
              <a:rPr lang="en-US" sz="5378" b="1" dirty="0">
                <a:solidFill>
                  <a:srgbClr val="164716"/>
                </a:solidFill>
                <a:latin typeface="Cambria" pitchFamily="34" charset="0"/>
                <a:ea typeface="Cambria" pitchFamily="34" charset="-122"/>
                <a:cs typeface="Cambria" pitchFamily="34" charset="-120"/>
              </a:rPr>
              <a:t>32</a:t>
            </a:r>
            <a:endParaRPr lang="en-US" sz="5378" dirty="0"/>
          </a:p>
        </p:txBody>
      </p:sp>
      <p:sp>
        <p:nvSpPr>
          <p:cNvPr id="10" name="Text 8"/>
          <p:cNvSpPr txBox="1"/>
          <p:nvPr/>
        </p:nvSpPr>
        <p:spPr>
          <a:xfrm>
            <a:off x="3997367" y="3120813"/>
            <a:ext cx="1788160" cy="558800"/>
          </a:xfrm>
          <a:prstGeom prst="rect">
            <a:avLst/>
          </a:prstGeom>
          <a:noFill/>
          <a:ln/>
        </p:spPr>
        <p:txBody>
          <a:bodyPr wrap="square" lIns="0" tIns="0" rIns="0" bIns="0" rtlCol="0" anchor="t"/>
          <a:lstStyle/>
          <a:p>
            <a:pPr indent="0" marL="0">
              <a:buNone/>
            </a:pPr>
            <a:r>
              <a:rPr lang="en-US" sz="1304" b="1" dirty="0">
                <a:solidFill>
                  <a:srgbClr val="1F2937"/>
                </a:solidFill>
              </a:rPr>
              <a:t>demonstrated now</a:t>
            </a:r>
            <a:endParaRPr lang="en-US" sz="1304" dirty="0"/>
          </a:p>
        </p:txBody>
      </p:sp>
      <p:sp>
        <p:nvSpPr>
          <p:cNvPr id="11" name="Text 9"/>
          <p:cNvSpPr txBox="1"/>
          <p:nvPr/>
        </p:nvSpPr>
        <p:spPr>
          <a:xfrm>
            <a:off x="3997367" y="3679613"/>
            <a:ext cx="1788160" cy="521547"/>
          </a:xfrm>
          <a:prstGeom prst="rect">
            <a:avLst/>
          </a:prstGeom>
          <a:noFill/>
          <a:ln/>
        </p:spPr>
        <p:txBody>
          <a:bodyPr wrap="square" lIns="0" tIns="0" rIns="0" bIns="0" rtlCol="0" anchor="t"/>
          <a:lstStyle/>
          <a:p>
            <a:pPr indent="0" marL="0">
              <a:buNone/>
            </a:pPr>
            <a:r>
              <a:rPr lang="en-US" sz="978" dirty="0">
                <a:solidFill>
                  <a:srgbClr val="5B6472"/>
                </a:solidFill>
              </a:rPr>
              <a:t>working in the application demo</a:t>
            </a:r>
            <a:endParaRPr lang="en-US" sz="978" dirty="0"/>
          </a:p>
        </p:txBody>
      </p:sp>
      <p:sp>
        <p:nvSpPr>
          <p:cNvPr id="12" name="Stat card 3"/>
          <p:cNvSpPr/>
          <p:nvPr/>
        </p:nvSpPr>
        <p:spPr>
          <a:xfrm>
            <a:off x="6120807" y="2040467"/>
            <a:ext cx="2123440" cy="2235200"/>
          </a:xfrm>
          <a:prstGeom prst="roundRect">
            <a:avLst>
              <a:gd name="adj" fmla="val 3509"/>
            </a:avLst>
          </a:prstGeom>
          <a:solidFill>
            <a:srgbClr val="EEF4EE"/>
          </a:solidFill>
          <a:ln w="10348">
            <a:solidFill>
              <a:srgbClr val="EEF4EE"/>
            </a:solidFill>
            <a:prstDash val="solid"/>
          </a:ln>
        </p:spPr>
      </p:sp>
      <p:sp>
        <p:nvSpPr>
          <p:cNvPr id="13" name="Text 11"/>
          <p:cNvSpPr txBox="1"/>
          <p:nvPr/>
        </p:nvSpPr>
        <p:spPr>
          <a:xfrm>
            <a:off x="6307074" y="2189480"/>
            <a:ext cx="1788160" cy="894080"/>
          </a:xfrm>
          <a:prstGeom prst="rect">
            <a:avLst/>
          </a:prstGeom>
          <a:noFill/>
          <a:ln/>
        </p:spPr>
        <p:txBody>
          <a:bodyPr wrap="square" lIns="0" tIns="0" rIns="0" bIns="0" rtlCol="0" anchor="ctr"/>
          <a:lstStyle/>
          <a:p>
            <a:pPr indent="0" marL="0">
              <a:buNone/>
            </a:pPr>
            <a:r>
              <a:rPr lang="en-US" sz="5378" b="1" dirty="0">
                <a:solidFill>
                  <a:srgbClr val="4C8C4A"/>
                </a:solidFill>
                <a:latin typeface="Cambria" pitchFamily="34" charset="0"/>
                <a:ea typeface="Cambria" pitchFamily="34" charset="-122"/>
                <a:cs typeface="Cambria" pitchFamily="34" charset="-120"/>
              </a:rPr>
              <a:t>12</a:t>
            </a:r>
            <a:endParaRPr lang="en-US" sz="5378" dirty="0"/>
          </a:p>
        </p:txBody>
      </p:sp>
      <p:sp>
        <p:nvSpPr>
          <p:cNvPr id="14" name="Text 12"/>
          <p:cNvSpPr txBox="1"/>
          <p:nvPr/>
        </p:nvSpPr>
        <p:spPr>
          <a:xfrm>
            <a:off x="6307074" y="3120813"/>
            <a:ext cx="1788160" cy="558800"/>
          </a:xfrm>
          <a:prstGeom prst="rect">
            <a:avLst/>
          </a:prstGeom>
          <a:noFill/>
          <a:ln/>
        </p:spPr>
        <p:txBody>
          <a:bodyPr wrap="square" lIns="0" tIns="0" rIns="0" bIns="0" rtlCol="0" anchor="t"/>
          <a:lstStyle/>
          <a:p>
            <a:pPr indent="0" marL="0">
              <a:buNone/>
            </a:pPr>
            <a:r>
              <a:rPr lang="en-US" sz="1304" b="1" dirty="0">
                <a:solidFill>
                  <a:srgbClr val="1F2937"/>
                </a:solidFill>
              </a:rPr>
              <a:t>demonstrated, completed at deployment</a:t>
            </a:r>
            <a:endParaRPr lang="en-US" sz="1304" dirty="0"/>
          </a:p>
        </p:txBody>
      </p:sp>
      <p:sp>
        <p:nvSpPr>
          <p:cNvPr id="15" name="Text 13"/>
          <p:cNvSpPr txBox="1"/>
          <p:nvPr/>
        </p:nvSpPr>
        <p:spPr>
          <a:xfrm>
            <a:off x="6307074" y="3679613"/>
            <a:ext cx="1788160" cy="521547"/>
          </a:xfrm>
          <a:prstGeom prst="rect">
            <a:avLst/>
          </a:prstGeom>
          <a:noFill/>
          <a:ln/>
        </p:spPr>
        <p:txBody>
          <a:bodyPr wrap="square" lIns="0" tIns="0" rIns="0" bIns="0" rtlCol="0" anchor="t"/>
          <a:lstStyle/>
          <a:p>
            <a:pPr indent="0" marL="0">
              <a:buNone/>
            </a:pPr>
            <a:r>
              <a:rPr lang="en-US" sz="978" dirty="0">
                <a:solidFill>
                  <a:srgbClr val="5B6472"/>
                </a:solidFill>
              </a:rPr>
              <a:t>working; final configuration on BGB servers</a:t>
            </a:r>
            <a:endParaRPr lang="en-US" sz="978" dirty="0"/>
          </a:p>
        </p:txBody>
      </p:sp>
      <p:sp>
        <p:nvSpPr>
          <p:cNvPr id="16" name="Stat card 4"/>
          <p:cNvSpPr/>
          <p:nvPr/>
        </p:nvSpPr>
        <p:spPr>
          <a:xfrm>
            <a:off x="8430514" y="2040467"/>
            <a:ext cx="2123440" cy="2235200"/>
          </a:xfrm>
          <a:prstGeom prst="roundRect">
            <a:avLst>
              <a:gd name="adj" fmla="val 3509"/>
            </a:avLst>
          </a:prstGeom>
          <a:solidFill>
            <a:srgbClr val="EEF4EE"/>
          </a:solidFill>
          <a:ln w="10348">
            <a:solidFill>
              <a:srgbClr val="EEF4EE"/>
            </a:solidFill>
            <a:prstDash val="solid"/>
          </a:ln>
        </p:spPr>
      </p:sp>
      <p:sp>
        <p:nvSpPr>
          <p:cNvPr id="17" name="Text 15"/>
          <p:cNvSpPr txBox="1"/>
          <p:nvPr/>
        </p:nvSpPr>
        <p:spPr>
          <a:xfrm>
            <a:off x="8616781" y="2189480"/>
            <a:ext cx="1788160" cy="894080"/>
          </a:xfrm>
          <a:prstGeom prst="rect">
            <a:avLst/>
          </a:prstGeom>
          <a:noFill/>
          <a:ln/>
        </p:spPr>
        <p:txBody>
          <a:bodyPr wrap="square" lIns="0" tIns="0" rIns="0" bIns="0" rtlCol="0" anchor="ctr"/>
          <a:lstStyle/>
          <a:p>
            <a:pPr indent="0" marL="0">
              <a:buNone/>
            </a:pPr>
            <a:r>
              <a:rPr lang="en-US" sz="5378" b="1" dirty="0">
                <a:solidFill>
                  <a:srgbClr val="64748B"/>
                </a:solidFill>
                <a:latin typeface="Cambria" pitchFamily="34" charset="0"/>
                <a:ea typeface="Cambria" pitchFamily="34" charset="-122"/>
                <a:cs typeface="Cambria" pitchFamily="34" charset="-120"/>
              </a:rPr>
              <a:t>14</a:t>
            </a:r>
            <a:endParaRPr lang="en-US" sz="5378" dirty="0"/>
          </a:p>
        </p:txBody>
      </p:sp>
      <p:sp>
        <p:nvSpPr>
          <p:cNvPr id="18" name="Text 16"/>
          <p:cNvSpPr txBox="1"/>
          <p:nvPr/>
        </p:nvSpPr>
        <p:spPr>
          <a:xfrm>
            <a:off x="8616781" y="3120813"/>
            <a:ext cx="1788160" cy="558800"/>
          </a:xfrm>
          <a:prstGeom prst="rect">
            <a:avLst/>
          </a:prstGeom>
          <a:noFill/>
          <a:ln/>
        </p:spPr>
        <p:txBody>
          <a:bodyPr wrap="square" lIns="0" tIns="0" rIns="0" bIns="0" rtlCol="0" anchor="t"/>
          <a:lstStyle/>
          <a:p>
            <a:pPr indent="0" marL="0">
              <a:buNone/>
            </a:pPr>
            <a:r>
              <a:rPr lang="en-US" sz="1304" b="1" dirty="0">
                <a:solidFill>
                  <a:srgbClr val="1F2937"/>
                </a:solidFill>
              </a:rPr>
              <a:t>delivered during implementation</a:t>
            </a:r>
            <a:endParaRPr lang="en-US" sz="1304" dirty="0"/>
          </a:p>
        </p:txBody>
      </p:sp>
      <p:sp>
        <p:nvSpPr>
          <p:cNvPr id="19" name="Text 17"/>
          <p:cNvSpPr txBox="1"/>
          <p:nvPr/>
        </p:nvSpPr>
        <p:spPr>
          <a:xfrm>
            <a:off x="8616781" y="3679613"/>
            <a:ext cx="1788160" cy="521547"/>
          </a:xfrm>
          <a:prstGeom prst="rect">
            <a:avLst/>
          </a:prstGeom>
          <a:noFill/>
          <a:ln/>
        </p:spPr>
        <p:txBody>
          <a:bodyPr wrap="square" lIns="0" tIns="0" rIns="0" bIns="0" rtlCol="0" anchor="t"/>
          <a:lstStyle/>
          <a:p>
            <a:pPr indent="0" marL="0">
              <a:buNone/>
            </a:pPr>
            <a:r>
              <a:rPr lang="en-US" sz="978" dirty="0">
                <a:solidFill>
                  <a:srgbClr val="5B6472"/>
                </a:solidFill>
              </a:rPr>
              <a:t>infrastructure, testing, documents, training</a:t>
            </a:r>
            <a:endParaRPr lang="en-US" sz="978" dirty="0"/>
          </a:p>
        </p:txBody>
      </p:sp>
      <p:sp>
        <p:nvSpPr>
          <p:cNvPr id="20" name="Extras card"/>
          <p:cNvSpPr/>
          <p:nvPr/>
        </p:nvSpPr>
        <p:spPr>
          <a:xfrm>
            <a:off x="1501394" y="4536440"/>
            <a:ext cx="9127067" cy="1154853"/>
          </a:xfrm>
          <a:prstGeom prst="roundRect">
            <a:avLst>
              <a:gd name="adj" fmla="val 5161"/>
            </a:avLst>
          </a:prstGeom>
          <a:solidFill>
            <a:srgbClr val="FFFFFF"/>
          </a:solidFill>
          <a:ln w="10348">
            <a:solidFill>
              <a:srgbClr val="D7DED8"/>
            </a:solidFill>
            <a:prstDash val="solid"/>
          </a:ln>
        </p:spPr>
      </p:sp>
      <p:sp>
        <p:nvSpPr>
          <p:cNvPr id="21" name="Text 19"/>
          <p:cNvSpPr txBox="1"/>
          <p:nvPr/>
        </p:nvSpPr>
        <p:spPr>
          <a:xfrm>
            <a:off x="1724914" y="4625848"/>
            <a:ext cx="8717280" cy="968587"/>
          </a:xfrm>
          <a:prstGeom prst="rect">
            <a:avLst/>
          </a:prstGeom>
          <a:noFill/>
          <a:ln/>
        </p:spPr>
        <p:txBody>
          <a:bodyPr wrap="square" lIns="0" tIns="0" rIns="0" bIns="0" rtlCol="0" anchor="ctr"/>
          <a:lstStyle/>
          <a:p>
            <a:pPr indent="0" marL="0">
              <a:buNone/>
            </a:pPr>
            <a:r>
              <a:rPr lang="en-US" sz="1467" b="1" dirty="0">
                <a:solidFill>
                  <a:srgbClr val="164716"/>
                </a:solidFill>
              </a:rPr>
              <a:t>32 value additions beyond the specification</a:t>
            </a:r>
            <a:endParaRPr lang="en-US" sz="1467" dirty="0"/>
          </a:p>
          <a:p>
            <a:pPr indent="0" marL="0">
              <a:buNone/>
            </a:pPr>
            <a:r>
              <a:rPr lang="en-US" sz="1141" dirty="0">
                <a:solidFill>
                  <a:srgbClr val="1F2937"/>
                </a:solidFill>
              </a:rPr>
              <a:t>Secure messaging, voice messages and calls, push notifications, installable app, evidence integrity checks, hash-chained audit, formal printouts with reference numbers, map drill-down, analytics hotspots and time patterns, full Bangla interface and more; included in the quoted price (Annex B).</a:t>
            </a:r>
            <a:endParaRPr lang="en-US" sz="14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live demonstration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https://birds-demo.onrender.com  ·  realistic data across the whole border, April 2025 – October 2026</a:t>
            </a:r>
            <a:endParaRPr lang="en-US" sz="1141" dirty="0"/>
          </a:p>
        </p:txBody>
      </p:sp>
      <p:graphicFrame>
        <p:nvGraphicFramePr>
          <p:cNvPr id="5" name="Demo accounts"/>
          <p:cNvGraphicFramePr>
            <a:graphicFrameLocks noGrp="1"/>
          </p:cNvGraphicFramePr>
          <p:nvPr>
            <p:extLst>
              <p:ext uri="{D42A27DB-BD31-4B8C-83A1-F6EECF244321}">
                <p14:modId xmlns:p14="http://schemas.microsoft.com/office/powerpoint/2010/main" val="1579011935"/>
              </p:ext>
            </p:extLst>
          </p:nvPr>
        </p:nvGraphicFramePr>
        <p:xfrm>
          <a:off x="1501394" y="1965960"/>
          <a:ext cx="4768427" cy="745067"/>
        </p:xfrm>
        <a:graphic>
          <a:graphicData uri="http://schemas.openxmlformats.org/drawingml/2006/table">
            <a:tbl>
              <a:tblPr/>
              <a:tblGrid>
                <a:gridCol w="1490133"/>
                <a:gridCol w="1080347"/>
                <a:gridCol w="1154853"/>
                <a:gridCol w="1043093"/>
              </a:tblGrid>
              <a:tr h="312928">
                <a:tc>
                  <a:txBody>
                    <a:bodyPr/>
                    <a:lstStyle/>
                    <a:p>
                      <a:pPr indent="0" marL="0">
                        <a:buNone/>
                      </a:pPr>
                      <a:r>
                        <a:rPr lang="en-US" sz="1059" b="1" dirty="0">
                          <a:solidFill>
                            <a:srgbClr val="FFFFFF"/>
                          </a:solidFill>
                          <a:latin typeface="Calibri" pitchFamily="34" charset="0"/>
                          <a:ea typeface="Calibri" pitchFamily="34" charset="-122"/>
                          <a:cs typeface="Calibri" pitchFamily="34" charset="-120"/>
                        </a:rPr>
                        <a:t>Role</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059" b="1" dirty="0">
                          <a:solidFill>
                            <a:srgbClr val="FFFFFF"/>
                          </a:solidFill>
                          <a:latin typeface="Calibri" pitchFamily="34" charset="0"/>
                          <a:ea typeface="Calibri" pitchFamily="34" charset="-122"/>
                          <a:cs typeface="Calibri" pitchFamily="34" charset="-120"/>
                        </a:rPr>
                        <a:t>Username</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059" b="1" dirty="0">
                          <a:solidFill>
                            <a:srgbClr val="FFFFFF"/>
                          </a:solidFill>
                          <a:latin typeface="Calibri" pitchFamily="34" charset="0"/>
                          <a:ea typeface="Calibri" pitchFamily="34" charset="-122"/>
                          <a:cs typeface="Calibri" pitchFamily="34" charset="-120"/>
                        </a:rPr>
                        <a:t>Password</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059" b="1" dirty="0">
                          <a:solidFill>
                            <a:srgbClr val="FFFFFF"/>
                          </a:solidFill>
                          <a:latin typeface="Calibri" pitchFamily="34" charset="0"/>
                          <a:ea typeface="Calibri" pitchFamily="34" charset="-122"/>
                          <a:cs typeface="Calibri" pitchFamily="34" charset="-120"/>
                        </a:rPr>
                        <a:t>Unit</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r>
              <a:tr h="312928">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HQ Administrator</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hq_admin</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Admin@123</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HQ</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312928">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Sector Officer</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sector_off</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Sector@123</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Sector-7</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312928">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Battalion Operator</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batt_op</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Batt@123</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17 BGB</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312928">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Verifier/Approver</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verifier</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Verify@123</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Sector-7</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312928">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Auditor</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auditor</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ourier New" pitchFamily="34" charset="0"/>
                          <a:ea typeface="Courier New" pitchFamily="34" charset="-122"/>
                          <a:cs typeface="Courier New" pitchFamily="34" charset="-120"/>
                        </a:rPr>
                        <a:t>Audit@123</a:t>
                      </a:r>
                      <a:endParaRPr lang="en-US" sz="1059" dirty="0">
                        <a:latin typeface="Courier New" charset="0"/>
                        <a:ea typeface="Courier New" charset="0"/>
                        <a:cs typeface="Courier New"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latin typeface="Calibri" pitchFamily="34" charset="0"/>
                          <a:ea typeface="Calibri" pitchFamily="34" charset="-122"/>
                          <a:cs typeface="Calibri" pitchFamily="34" charset="-120"/>
                        </a:rPr>
                        <a:t>HQ</a:t>
                      </a:r>
                      <a:endParaRPr lang="en-US" sz="1059" dirty="0">
                        <a:latin typeface="Calibri" charset="0"/>
                        <a:ea typeface="Calibri" charset="0"/>
                        <a:cs typeface="Calibri" charset="0"/>
                      </a:endParaRPr>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501394" y="3977640"/>
            <a:ext cx="4768427" cy="372533"/>
          </a:xfrm>
          <a:prstGeom prst="rect">
            <a:avLst/>
          </a:prstGeom>
          <a:noFill/>
          <a:ln/>
        </p:spPr>
        <p:txBody>
          <a:bodyPr wrap="square" lIns="0" tIns="0" rIns="0" bIns="0" rtlCol="0" anchor="ctr"/>
          <a:lstStyle/>
          <a:p>
            <a:pPr indent="0" marL="0">
              <a:buNone/>
            </a:pPr>
            <a:r>
              <a:rPr lang="en-US" sz="978" dirty="0">
                <a:solidFill>
                  <a:srgbClr val="5B6472"/>
                </a:solidFill>
              </a:rPr>
              <a:t>16 more officers (every battalion, sector and an HQ verifier) use the password Birds@2026.</a:t>
            </a:r>
            <a:endParaRPr lang="en-US" sz="978" dirty="0"/>
          </a:p>
        </p:txBody>
      </p:sp>
      <p:sp>
        <p:nvSpPr>
          <p:cNvPr id="6" name="Data 1"/>
          <p:cNvSpPr/>
          <p:nvPr/>
        </p:nvSpPr>
        <p:spPr>
          <a:xfrm>
            <a:off x="6605101" y="1965960"/>
            <a:ext cx="1899920" cy="856827"/>
          </a:xfrm>
          <a:prstGeom prst="roundRect">
            <a:avLst>
              <a:gd name="adj" fmla="val 6957"/>
            </a:avLst>
          </a:prstGeom>
          <a:solidFill>
            <a:srgbClr val="EEF4EE"/>
          </a:solidFill>
          <a:ln w="10348">
            <a:solidFill>
              <a:srgbClr val="EEF4EE"/>
            </a:solidFill>
            <a:prstDash val="solid"/>
          </a:ln>
        </p:spPr>
      </p:sp>
      <p:sp>
        <p:nvSpPr>
          <p:cNvPr id="7" name="Text 4"/>
          <p:cNvSpPr txBox="1"/>
          <p:nvPr/>
        </p:nvSpPr>
        <p:spPr>
          <a:xfrm>
            <a:off x="6739213" y="2025565"/>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130</a:t>
            </a:r>
            <a:endParaRPr lang="en-US" sz="2444" dirty="0"/>
          </a:p>
          <a:p>
            <a:pPr indent="0" marL="0">
              <a:buNone/>
            </a:pPr>
            <a:r>
              <a:rPr lang="en-US" sz="937" dirty="0">
                <a:solidFill>
                  <a:srgbClr val="1F2937"/>
                </a:solidFill>
              </a:rPr>
              <a:t>incidents, all categories and states</a:t>
            </a:r>
            <a:endParaRPr lang="en-US" sz="2444" dirty="0"/>
          </a:p>
        </p:txBody>
      </p:sp>
      <p:sp>
        <p:nvSpPr>
          <p:cNvPr id="8" name="Data 2"/>
          <p:cNvSpPr/>
          <p:nvPr/>
        </p:nvSpPr>
        <p:spPr>
          <a:xfrm>
            <a:off x="8654034" y="1965960"/>
            <a:ext cx="1899920" cy="856827"/>
          </a:xfrm>
          <a:prstGeom prst="roundRect">
            <a:avLst>
              <a:gd name="adj" fmla="val 6957"/>
            </a:avLst>
          </a:prstGeom>
          <a:solidFill>
            <a:srgbClr val="EEF4EE"/>
          </a:solidFill>
          <a:ln w="10348">
            <a:solidFill>
              <a:srgbClr val="EEF4EE"/>
            </a:solidFill>
            <a:prstDash val="solid"/>
          </a:ln>
        </p:spPr>
      </p:sp>
      <p:sp>
        <p:nvSpPr>
          <p:cNvPr id="9" name="Text 6"/>
          <p:cNvSpPr txBox="1"/>
          <p:nvPr/>
        </p:nvSpPr>
        <p:spPr>
          <a:xfrm>
            <a:off x="8788146" y="2025565"/>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19</a:t>
            </a:r>
            <a:endParaRPr lang="en-US" sz="2444" dirty="0"/>
          </a:p>
          <a:p>
            <a:pPr indent="0" marL="0">
              <a:buNone/>
            </a:pPr>
            <a:r>
              <a:rPr lang="en-US" sz="937" dirty="0">
                <a:solidFill>
                  <a:srgbClr val="1F2937"/>
                </a:solidFill>
              </a:rPr>
              <a:t>months of history</a:t>
            </a:r>
            <a:endParaRPr lang="en-US" sz="2444" dirty="0"/>
          </a:p>
        </p:txBody>
      </p:sp>
      <p:sp>
        <p:nvSpPr>
          <p:cNvPr id="10" name="Data 3"/>
          <p:cNvSpPr/>
          <p:nvPr/>
        </p:nvSpPr>
        <p:spPr>
          <a:xfrm>
            <a:off x="6605101" y="2934547"/>
            <a:ext cx="1899920" cy="856827"/>
          </a:xfrm>
          <a:prstGeom prst="roundRect">
            <a:avLst>
              <a:gd name="adj" fmla="val 6957"/>
            </a:avLst>
          </a:prstGeom>
          <a:solidFill>
            <a:srgbClr val="EEF4EE"/>
          </a:solidFill>
          <a:ln w="10348">
            <a:solidFill>
              <a:srgbClr val="EEF4EE"/>
            </a:solidFill>
            <a:prstDash val="solid"/>
          </a:ln>
        </p:spPr>
      </p:sp>
      <p:sp>
        <p:nvSpPr>
          <p:cNvPr id="11" name="Text 8"/>
          <p:cNvSpPr txBox="1"/>
          <p:nvPr/>
        </p:nvSpPr>
        <p:spPr>
          <a:xfrm>
            <a:off x="6739213" y="2994152"/>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32</a:t>
            </a:r>
            <a:endParaRPr lang="en-US" sz="2444" dirty="0"/>
          </a:p>
          <a:p>
            <a:pPr indent="0" marL="0">
              <a:buNone/>
            </a:pPr>
            <a:r>
              <a:rPr lang="en-US" sz="937" dirty="0">
                <a:solidFill>
                  <a:srgbClr val="1F2937"/>
                </a:solidFill>
              </a:rPr>
              <a:t>BOPs in 5 sectors, 10 battalions</a:t>
            </a:r>
            <a:endParaRPr lang="en-US" sz="2444" dirty="0"/>
          </a:p>
        </p:txBody>
      </p:sp>
      <p:sp>
        <p:nvSpPr>
          <p:cNvPr id="12" name="Data 4"/>
          <p:cNvSpPr/>
          <p:nvPr/>
        </p:nvSpPr>
        <p:spPr>
          <a:xfrm>
            <a:off x="8654034" y="2934547"/>
            <a:ext cx="1899920" cy="856827"/>
          </a:xfrm>
          <a:prstGeom prst="roundRect">
            <a:avLst>
              <a:gd name="adj" fmla="val 6957"/>
            </a:avLst>
          </a:prstGeom>
          <a:solidFill>
            <a:srgbClr val="EEF4EE"/>
          </a:solidFill>
          <a:ln w="10348">
            <a:solidFill>
              <a:srgbClr val="EEF4EE"/>
            </a:solidFill>
            <a:prstDash val="solid"/>
          </a:ln>
        </p:spPr>
      </p:sp>
      <p:sp>
        <p:nvSpPr>
          <p:cNvPr id="13" name="Text 10"/>
          <p:cNvSpPr txBox="1"/>
          <p:nvPr/>
        </p:nvSpPr>
        <p:spPr>
          <a:xfrm>
            <a:off x="8788146" y="2994152"/>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361</a:t>
            </a:r>
            <a:endParaRPr lang="en-US" sz="2444" dirty="0"/>
          </a:p>
          <a:p>
            <a:pPr indent="0" marL="0">
              <a:buNone/>
            </a:pPr>
            <a:r>
              <a:rPr lang="en-US" sz="937" dirty="0">
                <a:solidFill>
                  <a:srgbClr val="1F2937"/>
                </a:solidFill>
              </a:rPr>
              <a:t>evidence files: photos, videos, PDFs</a:t>
            </a:r>
            <a:endParaRPr lang="en-US" sz="2444" dirty="0"/>
          </a:p>
        </p:txBody>
      </p:sp>
      <p:sp>
        <p:nvSpPr>
          <p:cNvPr id="14" name="Data 5"/>
          <p:cNvSpPr/>
          <p:nvPr/>
        </p:nvSpPr>
        <p:spPr>
          <a:xfrm>
            <a:off x="6605101" y="3903133"/>
            <a:ext cx="1899920" cy="856827"/>
          </a:xfrm>
          <a:prstGeom prst="roundRect">
            <a:avLst>
              <a:gd name="adj" fmla="val 6957"/>
            </a:avLst>
          </a:prstGeom>
          <a:solidFill>
            <a:srgbClr val="EEF4EE"/>
          </a:solidFill>
          <a:ln w="10348">
            <a:solidFill>
              <a:srgbClr val="EEF4EE"/>
            </a:solidFill>
            <a:prstDash val="solid"/>
          </a:ln>
        </p:spPr>
      </p:sp>
      <p:sp>
        <p:nvSpPr>
          <p:cNvPr id="15" name="Text 12"/>
          <p:cNvSpPr txBox="1"/>
          <p:nvPr/>
        </p:nvSpPr>
        <p:spPr>
          <a:xfrm>
            <a:off x="6739213" y="3962739"/>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21</a:t>
            </a:r>
            <a:endParaRPr lang="en-US" sz="2444" dirty="0"/>
          </a:p>
          <a:p>
            <a:pPr indent="0" marL="0">
              <a:buNone/>
            </a:pPr>
            <a:r>
              <a:rPr lang="en-US" sz="937" dirty="0">
                <a:solidFill>
                  <a:srgbClr val="1F2937"/>
                </a:solidFill>
              </a:rPr>
              <a:t>user accounts</a:t>
            </a:r>
            <a:endParaRPr lang="en-US" sz="2444" dirty="0"/>
          </a:p>
        </p:txBody>
      </p:sp>
      <p:sp>
        <p:nvSpPr>
          <p:cNvPr id="16" name="Data 6"/>
          <p:cNvSpPr/>
          <p:nvPr/>
        </p:nvSpPr>
        <p:spPr>
          <a:xfrm>
            <a:off x="8654034" y="3903133"/>
            <a:ext cx="1899920" cy="856827"/>
          </a:xfrm>
          <a:prstGeom prst="roundRect">
            <a:avLst>
              <a:gd name="adj" fmla="val 6957"/>
            </a:avLst>
          </a:prstGeom>
          <a:solidFill>
            <a:srgbClr val="EEF4EE"/>
          </a:solidFill>
          <a:ln w="10348">
            <a:solidFill>
              <a:srgbClr val="EEF4EE"/>
            </a:solidFill>
            <a:prstDash val="solid"/>
          </a:ln>
        </p:spPr>
      </p:sp>
      <p:sp>
        <p:nvSpPr>
          <p:cNvPr id="17" name="Text 14"/>
          <p:cNvSpPr txBox="1"/>
          <p:nvPr/>
        </p:nvSpPr>
        <p:spPr>
          <a:xfrm>
            <a:off x="8788146" y="3962739"/>
            <a:ext cx="1676400" cy="745067"/>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2,500</a:t>
            </a:r>
            <a:endParaRPr lang="en-US" sz="2444" dirty="0"/>
          </a:p>
          <a:p>
            <a:pPr indent="0" marL="0">
              <a:buNone/>
            </a:pPr>
            <a:r>
              <a:rPr lang="en-US" sz="937" dirty="0">
                <a:solidFill>
                  <a:srgbClr val="1F2937"/>
                </a:solidFill>
              </a:rPr>
              <a:t>audit entries, chain intact</a:t>
            </a:r>
            <a:endParaRPr lang="en-US" sz="2444" dirty="0"/>
          </a:p>
        </p:txBody>
      </p:sp>
      <p:sp>
        <p:nvSpPr>
          <p:cNvPr id="18" name="Data note"/>
          <p:cNvSpPr/>
          <p:nvPr/>
        </p:nvSpPr>
        <p:spPr>
          <a:xfrm>
            <a:off x="1501394" y="4946227"/>
            <a:ext cx="9127067" cy="782320"/>
          </a:xfrm>
          <a:prstGeom prst="roundRect">
            <a:avLst>
              <a:gd name="adj" fmla="val 7619"/>
            </a:avLst>
          </a:prstGeom>
          <a:solidFill>
            <a:srgbClr val="FFFFFF"/>
          </a:solidFill>
          <a:ln w="10348">
            <a:solidFill>
              <a:srgbClr val="D7DED8"/>
            </a:solidFill>
            <a:prstDash val="solid"/>
          </a:ln>
        </p:spPr>
      </p:sp>
      <p:sp>
        <p:nvSpPr>
          <p:cNvPr id="19" name="Text 16"/>
          <p:cNvSpPr txBox="1"/>
          <p:nvPr/>
        </p:nvSpPr>
        <p:spPr>
          <a:xfrm>
            <a:off x="1687661" y="4983480"/>
            <a:ext cx="8791787" cy="707813"/>
          </a:xfrm>
          <a:prstGeom prst="rect">
            <a:avLst/>
          </a:prstGeom>
          <a:noFill/>
          <a:ln/>
        </p:spPr>
        <p:txBody>
          <a:bodyPr wrap="square" lIns="0" tIns="0" rIns="0" bIns="0" rtlCol="0" anchor="ctr"/>
          <a:lstStyle/>
          <a:p>
            <a:pPr indent="0" marL="0">
              <a:buNone/>
            </a:pPr>
            <a:r>
              <a:rPr lang="en-US" sz="1059" dirty="0">
                <a:solidFill>
                  <a:srgbClr val="1F2937"/>
                </a:solidFill>
              </a:rPr>
              <a:t>The data is for demonstration: places and police stations are real border locations; people, events and documents are fictional. Evidence photographs and videos are freely licensed pictures of real places and objects (credited); narratives are in English and Bangla.</a:t>
            </a:r>
            <a:endParaRPr lang="en-US" sz="105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How to read the screen slides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screen slide states which specification items it proves</a:t>
            </a:r>
            <a:endParaRPr lang="en-US" sz="1141" dirty="0"/>
          </a:p>
        </p:txBody>
      </p:sp>
      <p:sp>
        <p:nvSpPr>
          <p:cNvPr id="4" name="Legend 1"/>
          <p:cNvSpPr/>
          <p:nvPr/>
        </p:nvSpPr>
        <p:spPr>
          <a:xfrm>
            <a:off x="1501394" y="2077720"/>
            <a:ext cx="2943013" cy="2682240"/>
          </a:xfrm>
          <a:prstGeom prst="roundRect">
            <a:avLst>
              <a:gd name="adj" fmla="val 2778"/>
            </a:avLst>
          </a:prstGeom>
          <a:solidFill>
            <a:srgbClr val="EEF4EE"/>
          </a:solidFill>
          <a:ln w="10348">
            <a:solidFill>
              <a:srgbClr val="EEF4EE"/>
            </a:solidFill>
            <a:prstDash val="solid"/>
          </a:ln>
        </p:spPr>
      </p:sp>
      <p:sp>
        <p:nvSpPr>
          <p:cNvPr id="5" name="Shape 3"/>
          <p:cNvSpPr/>
          <p:nvPr/>
        </p:nvSpPr>
        <p:spPr>
          <a:xfrm>
            <a:off x="1724914" y="2301240"/>
            <a:ext cx="894080" cy="357632"/>
          </a:xfrm>
          <a:prstGeom prst="roundRect">
            <a:avLst>
              <a:gd name="adj" fmla="val 12500"/>
            </a:avLst>
          </a:prstGeom>
          <a:solidFill>
            <a:srgbClr val="164716"/>
          </a:solidFill>
          <a:ln w="10348">
            <a:solidFill>
              <a:srgbClr val="164716"/>
            </a:solidFill>
            <a:prstDash val="solid"/>
          </a:ln>
        </p:spPr>
      </p:sp>
      <p:sp>
        <p:nvSpPr>
          <p:cNvPr id="6" name="Text 4"/>
          <p:cNvSpPr txBox="1"/>
          <p:nvPr/>
        </p:nvSpPr>
        <p:spPr>
          <a:xfrm>
            <a:off x="1724914" y="2301240"/>
            <a:ext cx="894080" cy="357632"/>
          </a:xfrm>
          <a:prstGeom prst="rect">
            <a:avLst/>
          </a:prstGeom>
          <a:noFill/>
          <a:ln/>
        </p:spPr>
        <p:txBody>
          <a:bodyPr wrap="square" lIns="0" tIns="0" rIns="0" bIns="0" rtlCol="0" anchor="ctr"/>
          <a:lstStyle/>
          <a:p>
            <a:pPr algn="ctr" indent="0" marL="0">
              <a:buNone/>
            </a:pPr>
            <a:r>
              <a:rPr lang="en-US" sz="1141" b="1" dirty="0">
                <a:solidFill>
                  <a:srgbClr val="FFFFFF"/>
                </a:solidFill>
                <a:latin typeface="Calibri" pitchFamily="34" charset="0"/>
                <a:ea typeface="Calibri" pitchFamily="34" charset="-122"/>
                <a:cs typeface="Calibri" pitchFamily="34" charset="-120"/>
              </a:rPr>
              <a:t>#18</a:t>
            </a:r>
            <a:endParaRPr lang="en-US" sz="1141" dirty="0"/>
          </a:p>
        </p:txBody>
      </p:sp>
      <p:sp>
        <p:nvSpPr>
          <p:cNvPr id="7" name="Text 5"/>
          <p:cNvSpPr txBox="1"/>
          <p:nvPr/>
        </p:nvSpPr>
        <p:spPr>
          <a:xfrm>
            <a:off x="1724914" y="2860040"/>
            <a:ext cx="2533227" cy="1788160"/>
          </a:xfrm>
          <a:prstGeom prst="rect">
            <a:avLst/>
          </a:prstGeom>
          <a:noFill/>
          <a:ln/>
        </p:spPr>
        <p:txBody>
          <a:bodyPr wrap="square" lIns="0" tIns="0" rIns="0" bIns="0" rtlCol="0" anchor="t"/>
          <a:lstStyle/>
          <a:p>
            <a:pPr indent="0" marL="0">
              <a:spcAft>
                <a:spcPts val="489"/>
              </a:spcAft>
              <a:buNone/>
            </a:pPr>
            <a:r>
              <a:rPr lang="en-US" sz="1304" b="1" dirty="0">
                <a:solidFill>
                  <a:srgbClr val="1F2937"/>
                </a:solidFill>
              </a:rPr>
              <a:t>Specification item</a:t>
            </a:r>
            <a:endParaRPr lang="en-US" sz="1304" dirty="0"/>
          </a:p>
          <a:p>
            <a:pPr indent="0" marL="0">
              <a:spcAft>
                <a:spcPts val="489"/>
              </a:spcAft>
              <a:buNone/>
            </a:pPr>
            <a:r>
              <a:rPr lang="en-US" sz="1059" dirty="0">
                <a:solidFill>
                  <a:srgbClr val="5B6472"/>
                </a:solidFill>
              </a:rPr>
              <a:t>A green badge with the item number from the Technical Specification, its name and what the screen shows for it.</a:t>
            </a:r>
            <a:endParaRPr lang="en-US" sz="1304" dirty="0"/>
          </a:p>
        </p:txBody>
      </p:sp>
      <p:sp>
        <p:nvSpPr>
          <p:cNvPr id="8" name="Legend 2"/>
          <p:cNvSpPr/>
          <p:nvPr/>
        </p:nvSpPr>
        <p:spPr>
          <a:xfrm>
            <a:off x="4608322" y="2077720"/>
            <a:ext cx="2943013" cy="2682240"/>
          </a:xfrm>
          <a:prstGeom prst="roundRect">
            <a:avLst>
              <a:gd name="adj" fmla="val 2778"/>
            </a:avLst>
          </a:prstGeom>
          <a:solidFill>
            <a:srgbClr val="EEF4EE"/>
          </a:solidFill>
          <a:ln w="10348">
            <a:solidFill>
              <a:srgbClr val="EEF4EE"/>
            </a:solidFill>
            <a:prstDash val="solid"/>
          </a:ln>
        </p:spPr>
      </p:sp>
      <p:sp>
        <p:nvSpPr>
          <p:cNvPr id="9" name="Shape 7"/>
          <p:cNvSpPr/>
          <p:nvPr/>
        </p:nvSpPr>
        <p:spPr>
          <a:xfrm>
            <a:off x="4831842" y="2301240"/>
            <a:ext cx="894080" cy="357632"/>
          </a:xfrm>
          <a:prstGeom prst="roundRect">
            <a:avLst>
              <a:gd name="adj" fmla="val 12500"/>
            </a:avLst>
          </a:prstGeom>
          <a:solidFill>
            <a:srgbClr val="F5F3FF"/>
          </a:solidFill>
          <a:ln w="10348">
            <a:solidFill>
              <a:srgbClr val="6D28D9"/>
            </a:solidFill>
            <a:prstDash val="solid"/>
          </a:ln>
        </p:spPr>
      </p:sp>
      <p:sp>
        <p:nvSpPr>
          <p:cNvPr id="10" name="Text 8"/>
          <p:cNvSpPr txBox="1"/>
          <p:nvPr/>
        </p:nvSpPr>
        <p:spPr>
          <a:xfrm>
            <a:off x="4831842" y="2301240"/>
            <a:ext cx="894080" cy="357632"/>
          </a:xfrm>
          <a:prstGeom prst="rect">
            <a:avLst/>
          </a:prstGeom>
          <a:noFill/>
          <a:ln/>
        </p:spPr>
        <p:txBody>
          <a:bodyPr wrap="square" lIns="0" tIns="0" rIns="0" bIns="0" rtlCol="0" anchor="ctr"/>
          <a:lstStyle/>
          <a:p>
            <a:pPr algn="ctr" indent="0" marL="0">
              <a:buNone/>
            </a:pPr>
            <a:r>
              <a:rPr lang="en-US" sz="1141" b="1" dirty="0">
                <a:solidFill>
                  <a:srgbClr val="6D28D9"/>
                </a:solidFill>
                <a:latin typeface="Calibri" pitchFamily="34" charset="0"/>
                <a:ea typeface="Calibri" pitchFamily="34" charset="-122"/>
                <a:cs typeface="Calibri" pitchFamily="34" charset="-120"/>
              </a:rPr>
              <a:t>Demo</a:t>
            </a:r>
            <a:endParaRPr lang="en-US" sz="1141" dirty="0"/>
          </a:p>
        </p:txBody>
      </p:sp>
      <p:sp>
        <p:nvSpPr>
          <p:cNvPr id="11" name="Text 9"/>
          <p:cNvSpPr txBox="1"/>
          <p:nvPr/>
        </p:nvSpPr>
        <p:spPr>
          <a:xfrm>
            <a:off x="4831842" y="2860040"/>
            <a:ext cx="2533227" cy="1788160"/>
          </a:xfrm>
          <a:prstGeom prst="rect">
            <a:avLst/>
          </a:prstGeom>
          <a:noFill/>
          <a:ln/>
        </p:spPr>
        <p:txBody>
          <a:bodyPr wrap="square" lIns="0" tIns="0" rIns="0" bIns="0" rtlCol="0" anchor="t"/>
          <a:lstStyle/>
          <a:p>
            <a:pPr indent="0" marL="0">
              <a:spcAft>
                <a:spcPts val="489"/>
              </a:spcAft>
              <a:buNone/>
            </a:pPr>
            <a:r>
              <a:rPr lang="en-US" sz="1304" b="1" dirty="0">
                <a:solidFill>
                  <a:srgbClr val="1F2937"/>
                </a:solidFill>
              </a:rPr>
              <a:t>Demonstration only</a:t>
            </a:r>
            <a:endParaRPr lang="en-US" sz="1304" dirty="0"/>
          </a:p>
          <a:p>
            <a:pPr indent="0" marL="0">
              <a:spcAft>
                <a:spcPts val="489"/>
              </a:spcAft>
              <a:buNone/>
            </a:pPr>
            <a:r>
              <a:rPr lang="en-US" sz="1059" dirty="0">
                <a:solidFill>
                  <a:srgbClr val="5B6472"/>
                </a:solidFill>
              </a:rPr>
              <a:t>Features deferred for the demo version (backup, DR, high availability, load testing, directory sign-in) are shown with this violet marker: laid out as in production, not functional.</a:t>
            </a:r>
            <a:endParaRPr lang="en-US" sz="1304" dirty="0"/>
          </a:p>
        </p:txBody>
      </p:sp>
      <p:sp>
        <p:nvSpPr>
          <p:cNvPr id="12" name="Legend 3"/>
          <p:cNvSpPr/>
          <p:nvPr/>
        </p:nvSpPr>
        <p:spPr>
          <a:xfrm>
            <a:off x="7715250" y="2077720"/>
            <a:ext cx="2943013" cy="2682240"/>
          </a:xfrm>
          <a:prstGeom prst="roundRect">
            <a:avLst>
              <a:gd name="adj" fmla="val 2778"/>
            </a:avLst>
          </a:prstGeom>
          <a:solidFill>
            <a:srgbClr val="EEF4EE"/>
          </a:solidFill>
          <a:ln w="10348">
            <a:solidFill>
              <a:srgbClr val="EEF4EE"/>
            </a:solidFill>
            <a:prstDash val="solid"/>
          </a:ln>
        </p:spPr>
      </p:sp>
      <p:sp>
        <p:nvSpPr>
          <p:cNvPr id="13" name="Shape 11"/>
          <p:cNvSpPr/>
          <p:nvPr/>
        </p:nvSpPr>
        <p:spPr>
          <a:xfrm>
            <a:off x="7938770" y="2301240"/>
            <a:ext cx="894080" cy="357632"/>
          </a:xfrm>
          <a:prstGeom prst="roundRect">
            <a:avLst>
              <a:gd name="adj" fmla="val 12500"/>
            </a:avLst>
          </a:prstGeom>
          <a:solidFill>
            <a:srgbClr val="F5F3FF"/>
          </a:solidFill>
          <a:ln w="10348">
            <a:solidFill>
              <a:srgbClr val="6D28D9"/>
            </a:solidFill>
            <a:prstDash val="dash"/>
          </a:ln>
        </p:spPr>
      </p:sp>
      <p:sp>
        <p:nvSpPr>
          <p:cNvPr id="14" name="Text 12"/>
          <p:cNvSpPr txBox="1"/>
          <p:nvPr/>
        </p:nvSpPr>
        <p:spPr>
          <a:xfrm>
            <a:off x="7938770" y="2301240"/>
            <a:ext cx="894080" cy="357632"/>
          </a:xfrm>
          <a:prstGeom prst="rect">
            <a:avLst/>
          </a:prstGeom>
          <a:noFill/>
          <a:ln/>
        </p:spPr>
        <p:txBody>
          <a:bodyPr wrap="square" lIns="0" tIns="0" rIns="0" bIns="0" rtlCol="0" anchor="ctr"/>
          <a:lstStyle/>
          <a:p>
            <a:pPr algn="ctr" indent="0" marL="0">
              <a:buNone/>
            </a:pPr>
            <a:r>
              <a:rPr lang="en-US" sz="1141" b="1" dirty="0">
                <a:solidFill>
                  <a:srgbClr val="6D28D9"/>
                </a:solidFill>
                <a:latin typeface="Courier New" pitchFamily="34" charset="0"/>
                <a:ea typeface="Courier New" pitchFamily="34" charset="-122"/>
                <a:cs typeface="Courier New" pitchFamily="34" charset="-120"/>
              </a:rPr>
              <a:t>sample</a:t>
            </a:r>
            <a:endParaRPr lang="en-US" sz="1141" dirty="0"/>
          </a:p>
        </p:txBody>
      </p:sp>
      <p:sp>
        <p:nvSpPr>
          <p:cNvPr id="15" name="Text 13"/>
          <p:cNvSpPr txBox="1"/>
          <p:nvPr/>
        </p:nvSpPr>
        <p:spPr>
          <a:xfrm>
            <a:off x="7938770" y="2860040"/>
            <a:ext cx="2533227" cy="1788160"/>
          </a:xfrm>
          <a:prstGeom prst="rect">
            <a:avLst/>
          </a:prstGeom>
          <a:noFill/>
          <a:ln/>
        </p:spPr>
        <p:txBody>
          <a:bodyPr wrap="square" lIns="0" tIns="0" rIns="0" bIns="0" rtlCol="0" anchor="t"/>
          <a:lstStyle/>
          <a:p>
            <a:pPr indent="0" marL="0">
              <a:spcAft>
                <a:spcPts val="489"/>
              </a:spcAft>
              <a:buNone/>
            </a:pPr>
            <a:r>
              <a:rPr lang="en-US" sz="1304" b="1" dirty="0">
                <a:solidFill>
                  <a:srgbClr val="1F2937"/>
                </a:solidFill>
              </a:rPr>
              <a:t>Sample value</a:t>
            </a:r>
            <a:endParaRPr lang="en-US" sz="1304" dirty="0"/>
          </a:p>
          <a:p>
            <a:pPr indent="0" marL="0">
              <a:spcAft>
                <a:spcPts val="489"/>
              </a:spcAft>
              <a:buNone/>
            </a:pPr>
            <a:r>
              <a:rPr lang="en-US" sz="1059" dirty="0">
                <a:solidFill>
                  <a:srgbClr val="5B6472"/>
                </a:solidFill>
              </a:rPr>
              <a:t>Values inside a Demo panel are framed with a dashed border: they are illustrative, not measurements.</a:t>
            </a:r>
            <a:endParaRPr lang="en-US" sz="1304" dirty="0"/>
          </a:p>
        </p:txBody>
      </p:sp>
      <p:sp>
        <p:nvSpPr>
          <p:cNvPr id="16" name="Text 14"/>
          <p:cNvSpPr txBox="1"/>
          <p:nvPr/>
        </p:nvSpPr>
        <p:spPr>
          <a:xfrm>
            <a:off x="1501394" y="5020733"/>
            <a:ext cx="9127067" cy="447040"/>
          </a:xfrm>
          <a:prstGeom prst="rect">
            <a:avLst/>
          </a:prstGeom>
          <a:noFill/>
          <a:ln/>
        </p:spPr>
        <p:txBody>
          <a:bodyPr wrap="square" lIns="0" tIns="0" rIns="0" bIns="0" rtlCol="0" anchor="ctr"/>
          <a:lstStyle/>
          <a:p>
            <a:pPr indent="0" marL="0">
              <a:buNone/>
            </a:pPr>
            <a:r>
              <a:rPr lang="en-US" sz="1059" dirty="0">
                <a:solidFill>
                  <a:srgbClr val="5B6472"/>
                </a:solidFill>
              </a:rPr>
              <a:t>Screenshots: the current release on the demonstration data, 1440 × 900 desktop, 390 px phone and 820 px tablet; printouts are the real PDF pages.</a:t>
            </a:r>
            <a:endParaRPr lang="en-US" sz="105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Three-tier architecture on BGB infrastructure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Items 1, 2, 30, 31, 36, 37: web client, application layer and relational database, each scalable</a:t>
            </a:r>
            <a:endParaRPr lang="en-US" sz="1141" dirty="0"/>
          </a:p>
        </p:txBody>
      </p:sp>
      <p:sp>
        <p:nvSpPr>
          <p:cNvPr id="4" name="Tier Presentation"/>
          <p:cNvSpPr/>
          <p:nvPr/>
        </p:nvSpPr>
        <p:spPr>
          <a:xfrm>
            <a:off x="1501394" y="2003213"/>
            <a:ext cx="6109547" cy="968587"/>
          </a:xfrm>
          <a:prstGeom prst="roundRect">
            <a:avLst>
              <a:gd name="adj" fmla="val 7692"/>
            </a:avLst>
          </a:prstGeom>
          <a:solidFill>
            <a:srgbClr val="EEF4EE"/>
          </a:solidFill>
          <a:ln w="10348">
            <a:solidFill>
              <a:srgbClr val="EEF4EE"/>
            </a:solidFill>
            <a:prstDash val="solid"/>
          </a:ln>
        </p:spPr>
      </p:sp>
      <p:sp>
        <p:nvSpPr>
          <p:cNvPr id="5" name="Text 3"/>
          <p:cNvSpPr txBox="1"/>
          <p:nvPr/>
        </p:nvSpPr>
        <p:spPr>
          <a:xfrm>
            <a:off x="1724914" y="2114973"/>
            <a:ext cx="1639147" cy="745067"/>
          </a:xfrm>
          <a:prstGeom prst="rect">
            <a:avLst/>
          </a:prstGeom>
          <a:noFill/>
          <a:ln/>
        </p:spPr>
        <p:txBody>
          <a:bodyPr wrap="square" lIns="0" tIns="0" rIns="0" bIns="0" rtlCol="0" anchor="ctr"/>
          <a:lstStyle/>
          <a:p>
            <a:pPr indent="0" marL="0">
              <a:buNone/>
            </a:pPr>
            <a:r>
              <a:rPr lang="en-US" sz="1793" b="1" dirty="0">
                <a:solidFill>
                  <a:srgbClr val="164716"/>
                </a:solidFill>
                <a:latin typeface="Cambria" pitchFamily="34" charset="0"/>
                <a:ea typeface="Cambria" pitchFamily="34" charset="-122"/>
                <a:cs typeface="Cambria" pitchFamily="34" charset="-120"/>
              </a:rPr>
              <a:t>Presentation</a:t>
            </a:r>
            <a:endParaRPr lang="en-US" sz="1793" dirty="0"/>
          </a:p>
        </p:txBody>
      </p:sp>
      <p:sp>
        <p:nvSpPr>
          <p:cNvPr id="6" name="Text 4"/>
          <p:cNvSpPr txBox="1"/>
          <p:nvPr/>
        </p:nvSpPr>
        <p:spPr>
          <a:xfrm>
            <a:off x="3438567" y="2092621"/>
            <a:ext cx="4023360" cy="789771"/>
          </a:xfrm>
          <a:prstGeom prst="rect">
            <a:avLst/>
          </a:prstGeom>
          <a:noFill/>
          <a:ln/>
        </p:spPr>
        <p:txBody>
          <a:bodyPr wrap="square" lIns="0" tIns="0" rIns="0" bIns="0" rtlCol="0" anchor="ctr"/>
          <a:lstStyle/>
          <a:p>
            <a:pPr indent="0" marL="0">
              <a:buNone/>
            </a:pPr>
            <a:r>
              <a:rPr lang="en-US" sz="1141" dirty="0">
                <a:solidFill>
                  <a:srgbClr val="1F2937"/>
                </a:solidFill>
              </a:rPr>
              <a:t>Web application in Chrome, Edge or Firefox; desktop, tablet and phone; English and Bangla; installable app</a:t>
            </a:r>
            <a:endParaRPr lang="en-US" sz="1141" dirty="0"/>
          </a:p>
          <a:p>
            <a:pPr indent="0" marL="0">
              <a:buNone/>
            </a:pPr>
            <a:r>
              <a:rPr lang="en-US" sz="978" i="1" dirty="0">
                <a:solidFill>
                  <a:srgbClr val="1F2937"/>
                </a:solidFill>
              </a:rPr>
              <a:t>React 19 · progressive web app (PWA)</a:t>
            </a:r>
            <a:endParaRPr lang="en-US" sz="1141" dirty="0"/>
          </a:p>
        </p:txBody>
      </p:sp>
      <p:sp>
        <p:nvSpPr>
          <p:cNvPr id="7" name="Arrow"/>
          <p:cNvSpPr/>
          <p:nvPr/>
        </p:nvSpPr>
        <p:spPr>
          <a:xfrm>
            <a:off x="4369901" y="2986701"/>
            <a:ext cx="298027" cy="193717"/>
          </a:xfrm>
          <a:prstGeom prst="downArrow">
            <a:avLst/>
          </a:prstGeom>
          <a:solidFill>
            <a:srgbClr val="64748B"/>
          </a:solidFill>
          <a:ln w="10348">
            <a:solidFill>
              <a:srgbClr val="64748B"/>
            </a:solidFill>
            <a:prstDash val="solid"/>
          </a:ln>
        </p:spPr>
      </p:sp>
      <p:sp>
        <p:nvSpPr>
          <p:cNvPr id="8" name="Tier Application"/>
          <p:cNvSpPr/>
          <p:nvPr/>
        </p:nvSpPr>
        <p:spPr>
          <a:xfrm>
            <a:off x="1501394" y="3195320"/>
            <a:ext cx="6109547" cy="968587"/>
          </a:xfrm>
          <a:prstGeom prst="roundRect">
            <a:avLst>
              <a:gd name="adj" fmla="val 7692"/>
            </a:avLst>
          </a:prstGeom>
          <a:solidFill>
            <a:srgbClr val="164716"/>
          </a:solidFill>
          <a:ln w="10348">
            <a:solidFill>
              <a:srgbClr val="164716"/>
            </a:solidFill>
            <a:prstDash val="solid"/>
          </a:ln>
        </p:spPr>
      </p:sp>
      <p:sp>
        <p:nvSpPr>
          <p:cNvPr id="9" name="Text 7"/>
          <p:cNvSpPr txBox="1"/>
          <p:nvPr/>
        </p:nvSpPr>
        <p:spPr>
          <a:xfrm>
            <a:off x="1724914" y="3307080"/>
            <a:ext cx="1639147" cy="745067"/>
          </a:xfrm>
          <a:prstGeom prst="rect">
            <a:avLst/>
          </a:prstGeom>
          <a:noFill/>
          <a:ln/>
        </p:spPr>
        <p:txBody>
          <a:bodyPr wrap="square" lIns="0" tIns="0" rIns="0" bIns="0" rtlCol="0" anchor="ctr"/>
          <a:lstStyle/>
          <a:p>
            <a:pPr indent="0" marL="0">
              <a:buNone/>
            </a:pPr>
            <a:r>
              <a:rPr lang="en-US" sz="1793" b="1" dirty="0">
                <a:solidFill>
                  <a:srgbClr val="FFFFFF"/>
                </a:solidFill>
                <a:latin typeface="Cambria" pitchFamily="34" charset="0"/>
                <a:ea typeface="Cambria" pitchFamily="34" charset="-122"/>
                <a:cs typeface="Cambria" pitchFamily="34" charset="-120"/>
              </a:rPr>
              <a:t>Application</a:t>
            </a:r>
            <a:endParaRPr lang="en-US" sz="1793" dirty="0"/>
          </a:p>
        </p:txBody>
      </p:sp>
      <p:sp>
        <p:nvSpPr>
          <p:cNvPr id="10" name="Text 8"/>
          <p:cNvSpPr txBox="1"/>
          <p:nvPr/>
        </p:nvSpPr>
        <p:spPr>
          <a:xfrm>
            <a:off x="3438567" y="3284728"/>
            <a:ext cx="4023360" cy="789771"/>
          </a:xfrm>
          <a:prstGeom prst="rect">
            <a:avLst/>
          </a:prstGeom>
          <a:noFill/>
          <a:ln/>
        </p:spPr>
        <p:txBody>
          <a:bodyPr wrap="square" lIns="0" tIns="0" rIns="0" bIns="0" rtlCol="0" anchor="ctr"/>
          <a:lstStyle/>
          <a:p>
            <a:pPr indent="0" marL="0">
              <a:buNone/>
            </a:pPr>
            <a:r>
              <a:rPr lang="en-US" sz="1141" dirty="0">
                <a:solidFill>
                  <a:srgbClr val="FFFFFF"/>
                </a:solidFill>
              </a:rPr>
              <a:t>All business rules, permissions, workflow, audit, files, messaging and calls; secure REST API /api/v1</a:t>
            </a:r>
            <a:endParaRPr lang="en-US" sz="1141" dirty="0"/>
          </a:p>
          <a:p>
            <a:pPr indent="0" marL="0">
              <a:buNone/>
            </a:pPr>
            <a:r>
              <a:rPr lang="en-US" sz="978" i="1" dirty="0">
                <a:solidFill>
                  <a:srgbClr val="FFFFFF"/>
                </a:solidFill>
              </a:rPr>
              <a:t>Node.js · Express 5 · 2+ servers behind a load balancer</a:t>
            </a:r>
            <a:endParaRPr lang="en-US" sz="1141" dirty="0"/>
          </a:p>
        </p:txBody>
      </p:sp>
      <p:sp>
        <p:nvSpPr>
          <p:cNvPr id="11" name="Arrow"/>
          <p:cNvSpPr/>
          <p:nvPr/>
        </p:nvSpPr>
        <p:spPr>
          <a:xfrm>
            <a:off x="4369901" y="4178808"/>
            <a:ext cx="298027" cy="193717"/>
          </a:xfrm>
          <a:prstGeom prst="downArrow">
            <a:avLst/>
          </a:prstGeom>
          <a:solidFill>
            <a:srgbClr val="64748B"/>
          </a:solidFill>
          <a:ln w="10348">
            <a:solidFill>
              <a:srgbClr val="64748B"/>
            </a:solidFill>
            <a:prstDash val="solid"/>
          </a:ln>
        </p:spPr>
      </p:sp>
      <p:sp>
        <p:nvSpPr>
          <p:cNvPr id="12" name="Tier Data"/>
          <p:cNvSpPr/>
          <p:nvPr/>
        </p:nvSpPr>
        <p:spPr>
          <a:xfrm>
            <a:off x="1501394" y="4387427"/>
            <a:ext cx="6109547" cy="968587"/>
          </a:xfrm>
          <a:prstGeom prst="roundRect">
            <a:avLst>
              <a:gd name="adj" fmla="val 7692"/>
            </a:avLst>
          </a:prstGeom>
          <a:solidFill>
            <a:srgbClr val="EEF4EE"/>
          </a:solidFill>
          <a:ln w="10348">
            <a:solidFill>
              <a:srgbClr val="EEF4EE"/>
            </a:solidFill>
            <a:prstDash val="solid"/>
          </a:ln>
        </p:spPr>
      </p:sp>
      <p:sp>
        <p:nvSpPr>
          <p:cNvPr id="13" name="Text 11"/>
          <p:cNvSpPr txBox="1"/>
          <p:nvPr/>
        </p:nvSpPr>
        <p:spPr>
          <a:xfrm>
            <a:off x="1724914" y="4499187"/>
            <a:ext cx="1639147" cy="745067"/>
          </a:xfrm>
          <a:prstGeom prst="rect">
            <a:avLst/>
          </a:prstGeom>
          <a:noFill/>
          <a:ln/>
        </p:spPr>
        <p:txBody>
          <a:bodyPr wrap="square" lIns="0" tIns="0" rIns="0" bIns="0" rtlCol="0" anchor="ctr"/>
          <a:lstStyle/>
          <a:p>
            <a:pPr indent="0" marL="0">
              <a:buNone/>
            </a:pPr>
            <a:r>
              <a:rPr lang="en-US" sz="1793" b="1" dirty="0">
                <a:solidFill>
                  <a:srgbClr val="164716"/>
                </a:solidFill>
                <a:latin typeface="Cambria" pitchFamily="34" charset="0"/>
                <a:ea typeface="Cambria" pitchFamily="34" charset="-122"/>
                <a:cs typeface="Cambria" pitchFamily="34" charset="-120"/>
              </a:rPr>
              <a:t>Data</a:t>
            </a:r>
            <a:endParaRPr lang="en-US" sz="1793" dirty="0"/>
          </a:p>
        </p:txBody>
      </p:sp>
      <p:sp>
        <p:nvSpPr>
          <p:cNvPr id="14" name="Text 12"/>
          <p:cNvSpPr txBox="1"/>
          <p:nvPr/>
        </p:nvSpPr>
        <p:spPr>
          <a:xfrm>
            <a:off x="3438567" y="4476835"/>
            <a:ext cx="4023360" cy="789771"/>
          </a:xfrm>
          <a:prstGeom prst="rect">
            <a:avLst/>
          </a:prstGeom>
          <a:noFill/>
          <a:ln/>
        </p:spPr>
        <p:txBody>
          <a:bodyPr wrap="square" lIns="0" tIns="0" rIns="0" bIns="0" rtlCol="0" anchor="ctr"/>
          <a:lstStyle/>
          <a:p>
            <a:pPr indent="0" marL="0">
              <a:buNone/>
            </a:pPr>
            <a:r>
              <a:rPr lang="en-US" sz="1141" dirty="0">
                <a:solidFill>
                  <a:srgbClr val="1F2937"/>
                </a:solidFill>
              </a:rPr>
              <a:t>Incidents, history, audit trail and configuration; encrypted evidence and voice files</a:t>
            </a:r>
            <a:endParaRPr lang="en-US" sz="1141" dirty="0"/>
          </a:p>
          <a:p>
            <a:pPr indent="0" marL="0">
              <a:buNone/>
            </a:pPr>
            <a:r>
              <a:rPr lang="en-US" sz="978" i="1" dirty="0">
                <a:solidFill>
                  <a:srgbClr val="1F2937"/>
                </a:solidFill>
              </a:rPr>
              <a:t>PostgreSQL primary + standby · central file storage</a:t>
            </a:r>
            <a:endParaRPr lang="en-US" sz="1141" dirty="0"/>
          </a:p>
        </p:txBody>
      </p:sp>
      <p:sp>
        <p:nvSpPr>
          <p:cNvPr id="15" name="Text 13"/>
          <p:cNvSpPr txBox="1"/>
          <p:nvPr/>
        </p:nvSpPr>
        <p:spPr>
          <a:xfrm>
            <a:off x="7908967" y="2003213"/>
            <a:ext cx="2756747" cy="298027"/>
          </a:xfrm>
          <a:prstGeom prst="rect">
            <a:avLst/>
          </a:prstGeom>
          <a:noFill/>
          <a:ln/>
        </p:spPr>
        <p:txBody>
          <a:bodyPr wrap="square" lIns="0" tIns="0" rIns="0" bIns="0" rtlCol="0" anchor="ctr"/>
          <a:lstStyle/>
          <a:p>
            <a:pPr indent="0" marL="0">
              <a:buNone/>
            </a:pPr>
            <a:r>
              <a:rPr lang="en-US" sz="1304" b="1" dirty="0">
                <a:solidFill>
                  <a:srgbClr val="164716"/>
                </a:solidFill>
              </a:rPr>
              <a:t>Supporting services</a:t>
            </a:r>
            <a:endParaRPr lang="en-US" sz="1304" dirty="0"/>
          </a:p>
        </p:txBody>
      </p:sp>
      <p:sp>
        <p:nvSpPr>
          <p:cNvPr id="16" name="Text 14"/>
          <p:cNvSpPr txBox="1"/>
          <p:nvPr/>
        </p:nvSpPr>
        <p:spPr>
          <a:xfrm>
            <a:off x="7908967" y="2338493"/>
            <a:ext cx="2756747" cy="2980267"/>
          </a:xfrm>
          <a:prstGeom prst="rect">
            <a:avLst/>
          </a:prstGeom>
          <a:noFill/>
          <a:ln/>
        </p:spPr>
        <p:txBody>
          <a:bodyPr wrap="square" lIns="0" tIns="0" rIns="0" bIns="0" rtlCol="0" anchor="t"/>
          <a:lstStyle/>
          <a:p>
            <a:pPr marL="279400" indent="-279400">
              <a:spcAft>
                <a:spcPts val="652"/>
              </a:spcAft>
              <a:buSzPct val="100000"/>
              <a:buChar char="•"/>
            </a:pPr>
            <a:r>
              <a:rPr lang="en-US" sz="1141" dirty="0">
                <a:solidFill>
                  <a:srgbClr val="1F2937"/>
                </a:solidFill>
              </a:rPr>
              <a:t>HTTPS reverse proxy and load balancer</a:t>
            </a:r>
            <a:endParaRPr lang="en-US" sz="1141" dirty="0"/>
          </a:p>
          <a:p>
            <a:pPr marL="279400" indent="-279400">
              <a:spcAft>
                <a:spcPts val="652"/>
              </a:spcAft>
              <a:buSzPct val="100000"/>
              <a:buChar char="•"/>
            </a:pPr>
            <a:r>
              <a:rPr lang="en-US" sz="1141" dirty="0">
                <a:solidFill>
                  <a:srgbClr val="1F2937"/>
                </a:solidFill>
              </a:rPr>
              <a:t>Encrypted backups, DR site replica</a:t>
            </a:r>
            <a:endParaRPr lang="en-US" sz="1141" dirty="0"/>
          </a:p>
          <a:p>
            <a:pPr marL="279400" indent="-279400">
              <a:spcAft>
                <a:spcPts val="652"/>
              </a:spcAft>
              <a:buSzPct val="100000"/>
              <a:buChar char="•"/>
            </a:pPr>
            <a:r>
              <a:rPr lang="en-US" sz="1141" dirty="0">
                <a:solidFill>
                  <a:srgbClr val="1F2937"/>
                </a:solidFill>
              </a:rPr>
              <a:t>SMTP relay for e-mail notifications</a:t>
            </a:r>
            <a:endParaRPr lang="en-US" sz="1141" dirty="0"/>
          </a:p>
          <a:p>
            <a:pPr marL="279400" indent="-279400">
              <a:spcAft>
                <a:spcPts val="652"/>
              </a:spcAft>
              <a:buSzPct val="100000"/>
              <a:buChar char="•"/>
            </a:pPr>
            <a:r>
              <a:rPr lang="en-US" sz="1141" dirty="0">
                <a:solidFill>
                  <a:srgbClr val="1F2937"/>
                </a:solidFill>
              </a:rPr>
              <a:t>Directory sign-in (AD/LDAP)</a:t>
            </a:r>
            <a:endParaRPr lang="en-US" sz="1141" dirty="0"/>
          </a:p>
          <a:p>
            <a:pPr marL="279400" indent="-279400">
              <a:spcAft>
                <a:spcPts val="652"/>
              </a:spcAft>
              <a:buSzPct val="100000"/>
              <a:buChar char="•"/>
            </a:pPr>
            <a:r>
              <a:rPr lang="en-US" sz="1141" dirty="0">
                <a:solidFill>
                  <a:srgbClr val="1F2937"/>
                </a:solidFill>
              </a:rPr>
              <a:t>TURN relay for voice calls</a:t>
            </a:r>
            <a:endParaRPr lang="en-US" sz="1141" dirty="0"/>
          </a:p>
          <a:p>
            <a:pPr marL="279400" indent="-279400">
              <a:spcAft>
                <a:spcPts val="652"/>
              </a:spcAft>
              <a:buSzPct val="100000"/>
              <a:buChar char="•"/>
            </a:pPr>
            <a:r>
              <a:rPr lang="en-US" sz="1141" dirty="0">
                <a:solidFill>
                  <a:srgbClr val="1F2937"/>
                </a:solidFill>
              </a:rPr>
              <a:t>Offline map tiles for an isolated network</a:t>
            </a:r>
            <a:endParaRPr lang="en-US" sz="1141" dirty="0"/>
          </a:p>
          <a:p>
            <a:pPr marL="279400" indent="-279400">
              <a:spcAft>
                <a:spcPts val="652"/>
              </a:spcAft>
              <a:buSzPct val="100000"/>
              <a:buChar char="•"/>
            </a:pPr>
            <a:r>
              <a:rPr lang="en-US" sz="1141" dirty="0">
                <a:solidFill>
                  <a:srgbClr val="1F2937"/>
                </a:solidFill>
              </a:rPr>
              <a:t>All components open source: no licence fees</a:t>
            </a:r>
            <a:endParaRPr lang="en-US" sz="114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Security in layers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Items 4, 24–29, 49: every layer protects the records on its own</a:t>
            </a:r>
            <a:endParaRPr lang="en-US" sz="1141" dirty="0"/>
          </a:p>
        </p:txBody>
      </p:sp>
      <p:sp>
        <p:nvSpPr>
          <p:cNvPr id="4" name="Layer Transport"/>
          <p:cNvSpPr/>
          <p:nvPr/>
        </p:nvSpPr>
        <p:spPr>
          <a:xfrm>
            <a:off x="1501394" y="2003213"/>
            <a:ext cx="2943013" cy="1639147"/>
          </a:xfrm>
          <a:prstGeom prst="roundRect">
            <a:avLst>
              <a:gd name="adj" fmla="val 4545"/>
            </a:avLst>
          </a:prstGeom>
          <a:solidFill>
            <a:srgbClr val="EEF4EE"/>
          </a:solidFill>
          <a:ln w="10348">
            <a:solidFill>
              <a:srgbClr val="EEF4EE"/>
            </a:solidFill>
            <a:prstDash val="solid"/>
          </a:ln>
        </p:spPr>
      </p:sp>
      <p:sp>
        <p:nvSpPr>
          <p:cNvPr id="5" name="Shape 3"/>
          <p:cNvSpPr/>
          <p:nvPr/>
        </p:nvSpPr>
        <p:spPr>
          <a:xfrm>
            <a:off x="1724914" y="2226733"/>
            <a:ext cx="372533" cy="372533"/>
          </a:xfrm>
          <a:prstGeom prst="ellipse">
            <a:avLst/>
          </a:prstGeom>
          <a:solidFill>
            <a:srgbClr val="164716"/>
          </a:solidFill>
          <a:ln w="10348">
            <a:solidFill>
              <a:srgbClr val="164716"/>
            </a:solidFill>
            <a:prstDash val="solid"/>
          </a:ln>
        </p:spPr>
      </p:sp>
      <p:sp>
        <p:nvSpPr>
          <p:cNvPr id="6" name="Text 4"/>
          <p:cNvSpPr txBox="1"/>
          <p:nvPr/>
        </p:nvSpPr>
        <p:spPr>
          <a:xfrm>
            <a:off x="1724914" y="2226733"/>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1</a:t>
            </a:r>
            <a:endParaRPr lang="en-US" sz="1141" dirty="0"/>
          </a:p>
        </p:txBody>
      </p:sp>
      <p:sp>
        <p:nvSpPr>
          <p:cNvPr id="7" name="Text 5"/>
          <p:cNvSpPr txBox="1"/>
          <p:nvPr/>
        </p:nvSpPr>
        <p:spPr>
          <a:xfrm>
            <a:off x="1724914" y="2711027"/>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Transport</a:t>
            </a:r>
            <a:endParaRPr lang="en-US" sz="1304" dirty="0"/>
          </a:p>
          <a:p>
            <a:pPr indent="0" marL="0">
              <a:spcAft>
                <a:spcPts val="326"/>
              </a:spcAft>
              <a:buNone/>
            </a:pPr>
            <a:r>
              <a:rPr lang="en-US" sz="1059" dirty="0">
                <a:solidFill>
                  <a:srgbClr val="1F2937"/>
                </a:solidFill>
              </a:rPr>
              <a:t>HTTPS/TLS for all traffic; HSTS; strict security headers</a:t>
            </a:r>
            <a:endParaRPr lang="en-US" sz="1304" dirty="0"/>
          </a:p>
        </p:txBody>
      </p:sp>
      <p:sp>
        <p:nvSpPr>
          <p:cNvPr id="8" name="Layer Identity and sessions"/>
          <p:cNvSpPr/>
          <p:nvPr/>
        </p:nvSpPr>
        <p:spPr>
          <a:xfrm>
            <a:off x="4608322" y="2003213"/>
            <a:ext cx="2943013" cy="1639147"/>
          </a:xfrm>
          <a:prstGeom prst="roundRect">
            <a:avLst>
              <a:gd name="adj" fmla="val 4545"/>
            </a:avLst>
          </a:prstGeom>
          <a:solidFill>
            <a:srgbClr val="EEF4EE"/>
          </a:solidFill>
          <a:ln w="10348">
            <a:solidFill>
              <a:srgbClr val="EEF4EE"/>
            </a:solidFill>
            <a:prstDash val="solid"/>
          </a:ln>
        </p:spPr>
      </p:sp>
      <p:sp>
        <p:nvSpPr>
          <p:cNvPr id="9" name="Shape 7"/>
          <p:cNvSpPr/>
          <p:nvPr/>
        </p:nvSpPr>
        <p:spPr>
          <a:xfrm>
            <a:off x="4831842" y="2226733"/>
            <a:ext cx="372533" cy="372533"/>
          </a:xfrm>
          <a:prstGeom prst="ellipse">
            <a:avLst/>
          </a:prstGeom>
          <a:solidFill>
            <a:srgbClr val="164716"/>
          </a:solidFill>
          <a:ln w="10348">
            <a:solidFill>
              <a:srgbClr val="164716"/>
            </a:solidFill>
            <a:prstDash val="solid"/>
          </a:ln>
        </p:spPr>
      </p:sp>
      <p:sp>
        <p:nvSpPr>
          <p:cNvPr id="10" name="Text 8"/>
          <p:cNvSpPr txBox="1"/>
          <p:nvPr/>
        </p:nvSpPr>
        <p:spPr>
          <a:xfrm>
            <a:off x="4831842" y="2226733"/>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2</a:t>
            </a:r>
            <a:endParaRPr lang="en-US" sz="1141" dirty="0"/>
          </a:p>
        </p:txBody>
      </p:sp>
      <p:sp>
        <p:nvSpPr>
          <p:cNvPr id="11" name="Text 9"/>
          <p:cNvSpPr txBox="1"/>
          <p:nvPr/>
        </p:nvSpPr>
        <p:spPr>
          <a:xfrm>
            <a:off x="4831842" y="2711027"/>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Identity and sessions</a:t>
            </a:r>
            <a:endParaRPr lang="en-US" sz="1304" dirty="0"/>
          </a:p>
          <a:p>
            <a:pPr indent="0" marL="0">
              <a:spcAft>
                <a:spcPts val="326"/>
              </a:spcAft>
              <a:buNone/>
            </a:pPr>
            <a:r>
              <a:rPr lang="en-US" sz="1059" dirty="0">
                <a:solidFill>
                  <a:srgbClr val="1F2937"/>
                </a:solidFill>
              </a:rPr>
              <a:t>bcrypt passwords, lockout, RS256 tokens held in memory, idle timeout, single session</a:t>
            </a:r>
            <a:endParaRPr lang="en-US" sz="1304" dirty="0"/>
          </a:p>
        </p:txBody>
      </p:sp>
      <p:sp>
        <p:nvSpPr>
          <p:cNvPr id="12" name="Layer Roles and scope"/>
          <p:cNvSpPr/>
          <p:nvPr/>
        </p:nvSpPr>
        <p:spPr>
          <a:xfrm>
            <a:off x="7715250" y="2003213"/>
            <a:ext cx="2943013" cy="1639147"/>
          </a:xfrm>
          <a:prstGeom prst="roundRect">
            <a:avLst>
              <a:gd name="adj" fmla="val 4545"/>
            </a:avLst>
          </a:prstGeom>
          <a:solidFill>
            <a:srgbClr val="EEF4EE"/>
          </a:solidFill>
          <a:ln w="10348">
            <a:solidFill>
              <a:srgbClr val="EEF4EE"/>
            </a:solidFill>
            <a:prstDash val="solid"/>
          </a:ln>
        </p:spPr>
      </p:sp>
      <p:sp>
        <p:nvSpPr>
          <p:cNvPr id="13" name="Shape 11"/>
          <p:cNvSpPr/>
          <p:nvPr/>
        </p:nvSpPr>
        <p:spPr>
          <a:xfrm>
            <a:off x="7938770" y="2226733"/>
            <a:ext cx="372533" cy="372533"/>
          </a:xfrm>
          <a:prstGeom prst="ellipse">
            <a:avLst/>
          </a:prstGeom>
          <a:solidFill>
            <a:srgbClr val="164716"/>
          </a:solidFill>
          <a:ln w="10348">
            <a:solidFill>
              <a:srgbClr val="164716"/>
            </a:solidFill>
            <a:prstDash val="solid"/>
          </a:ln>
        </p:spPr>
      </p:sp>
      <p:sp>
        <p:nvSpPr>
          <p:cNvPr id="14" name="Text 12"/>
          <p:cNvSpPr txBox="1"/>
          <p:nvPr/>
        </p:nvSpPr>
        <p:spPr>
          <a:xfrm>
            <a:off x="7938770" y="2226733"/>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3</a:t>
            </a:r>
            <a:endParaRPr lang="en-US" sz="1141" dirty="0"/>
          </a:p>
        </p:txBody>
      </p:sp>
      <p:sp>
        <p:nvSpPr>
          <p:cNvPr id="15" name="Text 13"/>
          <p:cNvSpPr txBox="1"/>
          <p:nvPr/>
        </p:nvSpPr>
        <p:spPr>
          <a:xfrm>
            <a:off x="7938770" y="2711027"/>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Roles and scope</a:t>
            </a:r>
            <a:endParaRPr lang="en-US" sz="1304" dirty="0"/>
          </a:p>
          <a:p>
            <a:pPr indent="0" marL="0">
              <a:spcAft>
                <a:spcPts val="326"/>
              </a:spcAft>
              <a:buNone/>
            </a:pPr>
            <a:r>
              <a:rPr lang="en-US" sz="1059" dirty="0">
                <a:solidFill>
                  <a:srgbClr val="1F2937"/>
                </a:solidFill>
              </a:rPr>
              <a:t>Permission matrix and unit scope checked by the server on every request</a:t>
            </a:r>
            <a:endParaRPr lang="en-US" sz="1304" dirty="0"/>
          </a:p>
        </p:txBody>
      </p:sp>
      <p:sp>
        <p:nvSpPr>
          <p:cNvPr id="16" name="Layer Records"/>
          <p:cNvSpPr/>
          <p:nvPr/>
        </p:nvSpPr>
        <p:spPr>
          <a:xfrm>
            <a:off x="1501394" y="3828627"/>
            <a:ext cx="2943013" cy="1639147"/>
          </a:xfrm>
          <a:prstGeom prst="roundRect">
            <a:avLst>
              <a:gd name="adj" fmla="val 4545"/>
            </a:avLst>
          </a:prstGeom>
          <a:solidFill>
            <a:srgbClr val="EEF4EE"/>
          </a:solidFill>
          <a:ln w="10348">
            <a:solidFill>
              <a:srgbClr val="EEF4EE"/>
            </a:solidFill>
            <a:prstDash val="solid"/>
          </a:ln>
        </p:spPr>
      </p:sp>
      <p:sp>
        <p:nvSpPr>
          <p:cNvPr id="17" name="Shape 15"/>
          <p:cNvSpPr/>
          <p:nvPr/>
        </p:nvSpPr>
        <p:spPr>
          <a:xfrm>
            <a:off x="1724914" y="4052147"/>
            <a:ext cx="372533" cy="372533"/>
          </a:xfrm>
          <a:prstGeom prst="ellipse">
            <a:avLst/>
          </a:prstGeom>
          <a:solidFill>
            <a:srgbClr val="164716"/>
          </a:solidFill>
          <a:ln w="10348">
            <a:solidFill>
              <a:srgbClr val="164716"/>
            </a:solidFill>
            <a:prstDash val="solid"/>
          </a:ln>
        </p:spPr>
      </p:sp>
      <p:sp>
        <p:nvSpPr>
          <p:cNvPr id="18" name="Text 16"/>
          <p:cNvSpPr txBox="1"/>
          <p:nvPr/>
        </p:nvSpPr>
        <p:spPr>
          <a:xfrm>
            <a:off x="1724914" y="4052147"/>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4</a:t>
            </a:r>
            <a:endParaRPr lang="en-US" sz="1141" dirty="0"/>
          </a:p>
        </p:txBody>
      </p:sp>
      <p:sp>
        <p:nvSpPr>
          <p:cNvPr id="19" name="Text 17"/>
          <p:cNvSpPr txBox="1"/>
          <p:nvPr/>
        </p:nvSpPr>
        <p:spPr>
          <a:xfrm>
            <a:off x="1724914" y="4536440"/>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Records</a:t>
            </a:r>
            <a:endParaRPr lang="en-US" sz="1304" dirty="0"/>
          </a:p>
          <a:p>
            <a:pPr indent="0" marL="0">
              <a:spcAft>
                <a:spcPts val="326"/>
              </a:spcAft>
              <a:buNone/>
            </a:pPr>
            <a:r>
              <a:rPr lang="en-US" sz="1059" dirty="0">
                <a:solidFill>
                  <a:srgbClr val="1F2937"/>
                </a:solidFill>
              </a:rPr>
              <a:t>Workflow rules, separation of duties; timeline, comments, messages and audit append-only in the database</a:t>
            </a:r>
            <a:endParaRPr lang="en-US" sz="1304" dirty="0"/>
          </a:p>
        </p:txBody>
      </p:sp>
      <p:sp>
        <p:nvSpPr>
          <p:cNvPr id="20" name="Layer Files"/>
          <p:cNvSpPr/>
          <p:nvPr/>
        </p:nvSpPr>
        <p:spPr>
          <a:xfrm>
            <a:off x="4608322" y="3828627"/>
            <a:ext cx="2943013" cy="1639147"/>
          </a:xfrm>
          <a:prstGeom prst="roundRect">
            <a:avLst>
              <a:gd name="adj" fmla="val 4545"/>
            </a:avLst>
          </a:prstGeom>
          <a:solidFill>
            <a:srgbClr val="EEF4EE"/>
          </a:solidFill>
          <a:ln w="10348">
            <a:solidFill>
              <a:srgbClr val="EEF4EE"/>
            </a:solidFill>
            <a:prstDash val="solid"/>
          </a:ln>
        </p:spPr>
      </p:sp>
      <p:sp>
        <p:nvSpPr>
          <p:cNvPr id="21" name="Shape 19"/>
          <p:cNvSpPr/>
          <p:nvPr/>
        </p:nvSpPr>
        <p:spPr>
          <a:xfrm>
            <a:off x="4831842" y="4052147"/>
            <a:ext cx="372533" cy="372533"/>
          </a:xfrm>
          <a:prstGeom prst="ellipse">
            <a:avLst/>
          </a:prstGeom>
          <a:solidFill>
            <a:srgbClr val="164716"/>
          </a:solidFill>
          <a:ln w="10348">
            <a:solidFill>
              <a:srgbClr val="164716"/>
            </a:solidFill>
            <a:prstDash val="solid"/>
          </a:ln>
        </p:spPr>
      </p:sp>
      <p:sp>
        <p:nvSpPr>
          <p:cNvPr id="22" name="Text 20"/>
          <p:cNvSpPr txBox="1"/>
          <p:nvPr/>
        </p:nvSpPr>
        <p:spPr>
          <a:xfrm>
            <a:off x="4831842" y="4052147"/>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5</a:t>
            </a:r>
            <a:endParaRPr lang="en-US" sz="1141" dirty="0"/>
          </a:p>
        </p:txBody>
      </p:sp>
      <p:sp>
        <p:nvSpPr>
          <p:cNvPr id="23" name="Text 21"/>
          <p:cNvSpPr txBox="1"/>
          <p:nvPr/>
        </p:nvSpPr>
        <p:spPr>
          <a:xfrm>
            <a:off x="4831842" y="4536440"/>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Files</a:t>
            </a:r>
            <a:endParaRPr lang="en-US" sz="1304" dirty="0"/>
          </a:p>
          <a:p>
            <a:pPr indent="0" marL="0">
              <a:spcAft>
                <a:spcPts val="326"/>
              </a:spcAft>
              <a:buNone/>
            </a:pPr>
            <a:r>
              <a:rPr lang="en-US" sz="1059" dirty="0">
                <a:solidFill>
                  <a:srgbClr val="1F2937"/>
                </a:solidFill>
              </a:rPr>
              <a:t>Content-type checks, size limits, virus-scan hook; AES-256-GCM at rest; SHA-256 per file</a:t>
            </a:r>
            <a:endParaRPr lang="en-US" sz="1304" dirty="0"/>
          </a:p>
        </p:txBody>
      </p:sp>
      <p:sp>
        <p:nvSpPr>
          <p:cNvPr id="24" name="Layer Audit"/>
          <p:cNvSpPr/>
          <p:nvPr/>
        </p:nvSpPr>
        <p:spPr>
          <a:xfrm>
            <a:off x="7715250" y="3828627"/>
            <a:ext cx="2943013" cy="1639147"/>
          </a:xfrm>
          <a:prstGeom prst="roundRect">
            <a:avLst>
              <a:gd name="adj" fmla="val 4545"/>
            </a:avLst>
          </a:prstGeom>
          <a:solidFill>
            <a:srgbClr val="EEF4EE"/>
          </a:solidFill>
          <a:ln w="10348">
            <a:solidFill>
              <a:srgbClr val="EEF4EE"/>
            </a:solidFill>
            <a:prstDash val="solid"/>
          </a:ln>
        </p:spPr>
      </p:sp>
      <p:sp>
        <p:nvSpPr>
          <p:cNvPr id="25" name="Shape 23"/>
          <p:cNvSpPr/>
          <p:nvPr/>
        </p:nvSpPr>
        <p:spPr>
          <a:xfrm>
            <a:off x="7938770" y="4052147"/>
            <a:ext cx="372533" cy="372533"/>
          </a:xfrm>
          <a:prstGeom prst="ellipse">
            <a:avLst/>
          </a:prstGeom>
          <a:solidFill>
            <a:srgbClr val="164716"/>
          </a:solidFill>
          <a:ln w="10348">
            <a:solidFill>
              <a:srgbClr val="164716"/>
            </a:solidFill>
            <a:prstDash val="solid"/>
          </a:ln>
        </p:spPr>
      </p:sp>
      <p:sp>
        <p:nvSpPr>
          <p:cNvPr id="26" name="Text 24"/>
          <p:cNvSpPr txBox="1"/>
          <p:nvPr/>
        </p:nvSpPr>
        <p:spPr>
          <a:xfrm>
            <a:off x="7938770" y="4052147"/>
            <a:ext cx="372533" cy="372533"/>
          </a:xfrm>
          <a:prstGeom prst="rect">
            <a:avLst/>
          </a:prstGeom>
          <a:noFill/>
          <a:ln/>
        </p:spPr>
        <p:txBody>
          <a:bodyPr wrap="square" lIns="0" tIns="0" rIns="0" bIns="0" rtlCol="0" anchor="ctr"/>
          <a:lstStyle/>
          <a:p>
            <a:pPr algn="ctr" indent="0" marL="0">
              <a:buNone/>
            </a:pPr>
            <a:r>
              <a:rPr lang="en-US" sz="1141" b="1" dirty="0">
                <a:solidFill>
                  <a:srgbClr val="FFFFFF"/>
                </a:solidFill>
              </a:rPr>
              <a:t>6</a:t>
            </a:r>
            <a:endParaRPr lang="en-US" sz="1141" dirty="0"/>
          </a:p>
        </p:txBody>
      </p:sp>
      <p:sp>
        <p:nvSpPr>
          <p:cNvPr id="27" name="Text 25"/>
          <p:cNvSpPr txBox="1"/>
          <p:nvPr/>
        </p:nvSpPr>
        <p:spPr>
          <a:xfrm>
            <a:off x="7938770" y="4536440"/>
            <a:ext cx="2533227" cy="856827"/>
          </a:xfrm>
          <a:prstGeom prst="rect">
            <a:avLst/>
          </a:prstGeom>
          <a:noFill/>
          <a:ln/>
        </p:spPr>
        <p:txBody>
          <a:bodyPr wrap="square" lIns="0" tIns="0" rIns="0" bIns="0" rtlCol="0" anchor="t"/>
          <a:lstStyle/>
          <a:p>
            <a:pPr indent="0" marL="0">
              <a:spcAft>
                <a:spcPts val="326"/>
              </a:spcAft>
              <a:buNone/>
            </a:pPr>
            <a:r>
              <a:rPr lang="en-US" sz="1304" b="1" dirty="0">
                <a:solidFill>
                  <a:srgbClr val="164716"/>
                </a:solidFill>
              </a:rPr>
              <a:t>Audit</a:t>
            </a:r>
            <a:endParaRPr lang="en-US" sz="1304" dirty="0"/>
          </a:p>
          <a:p>
            <a:pPr indent="0" marL="0">
              <a:spcAft>
                <a:spcPts val="326"/>
              </a:spcAft>
              <a:buNone/>
            </a:pPr>
            <a:r>
              <a:rPr lang="en-US" sz="1059" dirty="0">
                <a:solidFill>
                  <a:srgbClr val="1F2937"/>
                </a:solidFill>
              </a:rPr>
              <a:t>Hash-chained audit trail of every significant action, verified in one click</a:t>
            </a:r>
            <a:endParaRPr lang="en-US" sz="130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Technology and ownership</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Items 30, 31, 51, 58: proven open-source components; full source code delivered to BGB</a:t>
            </a:r>
            <a:endParaRPr lang="en-US" sz="1141" dirty="0"/>
          </a:p>
        </p:txBody>
      </p:sp>
      <p:graphicFrame>
        <p:nvGraphicFramePr>
          <p:cNvPr id="9" name="Stack"/>
          <p:cNvGraphicFramePr>
            <a:graphicFrameLocks noGrp="1"/>
          </p:cNvGraphicFramePr>
          <p:nvPr>
            <p:extLst>
              <p:ext uri="{D42A27DB-BD31-4B8C-83A1-F6EECF244321}">
                <p14:modId xmlns:p14="http://schemas.microsoft.com/office/powerpoint/2010/main" val="1579011935"/>
              </p:ext>
            </p:extLst>
          </p:nvPr>
        </p:nvGraphicFramePr>
        <p:xfrm>
          <a:off x="1501394" y="1965960"/>
          <a:ext cx="6109547" cy="745067"/>
        </p:xfrm>
        <a:graphic>
          <a:graphicData uri="http://schemas.openxmlformats.org/drawingml/2006/table">
            <a:tbl>
              <a:tblPr/>
              <a:tblGrid>
                <a:gridCol w="1639147"/>
                <a:gridCol w="3054773"/>
                <a:gridCol w="1415627"/>
              </a:tblGrid>
              <a:tr h="372533">
                <a:tc>
                  <a:txBody>
                    <a:bodyPr/>
                    <a:lstStyle/>
                    <a:p>
                      <a:pPr indent="0" marL="0">
                        <a:buNone/>
                      </a:pPr>
                      <a:r>
                        <a:rPr lang="en-US" sz="1059" b="1" dirty="0">
                          <a:solidFill>
                            <a:srgbClr val="FFFFFF"/>
                          </a:solidFill>
                        </a:rPr>
                        <a:t>Layer</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059" b="1" dirty="0">
                          <a:solidFill>
                            <a:srgbClr val="FFFFFF"/>
                          </a:solidFill>
                        </a:rPr>
                        <a:t>Component</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059" b="1" dirty="0">
                          <a:solidFill>
                            <a:srgbClr val="FFFFFF"/>
                          </a:solidFill>
                        </a:rPr>
                        <a:t>Licence</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r>
              <a:tr h="372533">
                <a:tc>
                  <a:txBody>
                    <a:bodyPr/>
                    <a:lstStyle/>
                    <a:p>
                      <a:pPr indent="0" marL="0">
                        <a:buNone/>
                      </a:pPr>
                      <a:r>
                        <a:rPr lang="en-US" sz="1059" dirty="0">
                          <a:solidFill>
                            <a:srgbClr val="1F2937"/>
                          </a:solidFill>
                        </a:rPr>
                        <a:t>Web application</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React 19, Vite, Tailwind CSS</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MIT</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372533">
                <a:tc>
                  <a:txBody>
                    <a:bodyPr/>
                    <a:lstStyle/>
                    <a:p>
                      <a:pPr indent="0" marL="0">
                        <a:buNone/>
                      </a:pPr>
                      <a:r>
                        <a:rPr lang="en-US" sz="1059" dirty="0">
                          <a:solidFill>
                            <a:srgbClr val="1F2937"/>
                          </a:solidFill>
                        </a:rPr>
                        <a:t>Maps and charts</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Leaflet with OpenStreetMap data, Chart.js</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BSD-2 / ODbL / MIT</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372533">
                <a:tc>
                  <a:txBody>
                    <a:bodyPr/>
                    <a:lstStyle/>
                    <a:p>
                      <a:pPr indent="0" marL="0">
                        <a:buNone/>
                      </a:pPr>
                      <a:r>
                        <a:rPr lang="en-US" sz="1059" dirty="0">
                          <a:solidFill>
                            <a:srgbClr val="1F2937"/>
                          </a:solidFill>
                        </a:rPr>
                        <a:t>Application server</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Node.js 20 LTS, Express 5, Prisma</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MIT / Apache-2.0</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372533">
                <a:tc>
                  <a:txBody>
                    <a:bodyPr/>
                    <a:lstStyle/>
                    <a:p>
                      <a:pPr indent="0" marL="0">
                        <a:buNone/>
                      </a:pPr>
                      <a:r>
                        <a:rPr lang="en-US" sz="1059" dirty="0">
                          <a:solidFill>
                            <a:srgbClr val="1F2937"/>
                          </a:solidFill>
                        </a:rPr>
                        <a:t>Database</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PostgreSQL 16+</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PostgreSQL licence</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372533">
                <a:tc>
                  <a:txBody>
                    <a:bodyPr/>
                    <a:lstStyle/>
                    <a:p>
                      <a:pPr indent="0" marL="0">
                        <a:buNone/>
                      </a:pPr>
                      <a:r>
                        <a:rPr lang="en-US" sz="1059" dirty="0">
                          <a:solidFill>
                            <a:srgbClr val="1F2937"/>
                          </a:solidFill>
                        </a:rPr>
                        <a:t>File storage</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Local encrypted storage or S3-compatible (MinIO)</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059" dirty="0">
                          <a:solidFill>
                            <a:srgbClr val="1F2937"/>
                          </a:solidFill>
                        </a:rPr>
                        <a:t>AGPL / Apache-2.0</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372533">
                <a:tc>
                  <a:txBody>
                    <a:bodyPr/>
                    <a:lstStyle/>
                    <a:p>
                      <a:pPr indent="0" marL="0">
                        <a:buNone/>
                      </a:pPr>
                      <a:r>
                        <a:rPr lang="en-US" sz="1059" dirty="0">
                          <a:solidFill>
                            <a:srgbClr val="1F2937"/>
                          </a:solidFill>
                        </a:rPr>
                        <a:t>Realtime and calls</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WebSocket, WebRTC, coturn relay</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059" dirty="0">
                          <a:solidFill>
                            <a:srgbClr val="1F2937"/>
                          </a:solidFill>
                        </a:rPr>
                        <a:t>Open standards / BSD</a:t>
                      </a:r>
                      <a:endParaRPr lang="en-US" sz="1059"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bl>
          </a:graphicData>
        </a:graphic>
      </p:graphicFrame>
      <p:sp>
        <p:nvSpPr>
          <p:cNvPr id="5" name="Ownership"/>
          <p:cNvSpPr/>
          <p:nvPr/>
        </p:nvSpPr>
        <p:spPr>
          <a:xfrm>
            <a:off x="7871714" y="1965960"/>
            <a:ext cx="2756747" cy="2607733"/>
          </a:xfrm>
          <a:prstGeom prst="roundRect">
            <a:avLst>
              <a:gd name="adj" fmla="val 2857"/>
            </a:avLst>
          </a:prstGeom>
          <a:solidFill>
            <a:srgbClr val="164716"/>
          </a:solidFill>
          <a:ln w="10348">
            <a:solidFill>
              <a:srgbClr val="164716"/>
            </a:solidFill>
            <a:prstDash val="solid"/>
          </a:ln>
        </p:spPr>
      </p:sp>
      <p:sp>
        <p:nvSpPr>
          <p:cNvPr id="6" name="Text 3"/>
          <p:cNvSpPr txBox="1"/>
          <p:nvPr/>
        </p:nvSpPr>
        <p:spPr>
          <a:xfrm>
            <a:off x="8057981" y="2114973"/>
            <a:ext cx="2421467" cy="2309707"/>
          </a:xfrm>
          <a:prstGeom prst="rect">
            <a:avLst/>
          </a:prstGeom>
          <a:noFill/>
          <a:ln/>
        </p:spPr>
        <p:txBody>
          <a:bodyPr wrap="square" lIns="0" tIns="0" rIns="0" bIns="0" rtlCol="0" anchor="t"/>
          <a:lstStyle/>
          <a:p>
            <a:pPr indent="0" marL="0">
              <a:spcAft>
                <a:spcPts val="652"/>
              </a:spcAft>
              <a:buNone/>
            </a:pPr>
            <a:r>
              <a:rPr lang="en-US" sz="1630" b="1" dirty="0">
                <a:solidFill>
                  <a:srgbClr val="FFFFFF"/>
                </a:solidFill>
              </a:rPr>
              <a:t>Owned by BGB</a:t>
            </a:r>
            <a:endParaRPr lang="en-US" sz="1630" dirty="0"/>
          </a:p>
          <a:p>
            <a:pPr indent="0" marL="0">
              <a:spcAft>
                <a:spcPts val="652"/>
              </a:spcAft>
              <a:buNone/>
            </a:pPr>
            <a:r>
              <a:rPr lang="en-US" sz="1059" dirty="0">
                <a:solidFill>
                  <a:srgbClr val="E8F0E8"/>
                </a:solidFill>
              </a:rPr>
              <a:t>Complete source code, database schema, configuration and documentation are handed over (item 51). No licence fees, no vendor lock-in; any qualified team can maintain it.</a:t>
            </a:r>
            <a:endParaRPr lang="en-US" sz="1630" dirty="0"/>
          </a:p>
        </p:txBody>
      </p:sp>
      <p:sp>
        <p:nvSpPr>
          <p:cNvPr id="7" name="Text 4"/>
          <p:cNvSpPr txBox="1"/>
          <p:nvPr/>
        </p:nvSpPr>
        <p:spPr>
          <a:xfrm>
            <a:off x="1501394" y="4797213"/>
            <a:ext cx="9127067" cy="521547"/>
          </a:xfrm>
          <a:prstGeom prst="rect">
            <a:avLst/>
          </a:prstGeom>
          <a:noFill/>
          <a:ln/>
        </p:spPr>
        <p:txBody>
          <a:bodyPr wrap="square" lIns="0" tIns="0" rIns="0" bIns="0" rtlCol="0" anchor="ctr"/>
          <a:lstStyle/>
          <a:p>
            <a:pPr indent="0" marL="0">
              <a:buNone/>
            </a:pPr>
            <a:r>
              <a:rPr lang="en-US" sz="1059" dirty="0">
                <a:solidFill>
                  <a:srgbClr val="5B6472"/>
                </a:solidFill>
              </a:rPr>
              <a:t>Automated server test suite of 166 tests (authentication, permissions, workflow, evidence, audit, reports, messaging, calls); the API description is checked against the code.</a:t>
            </a:r>
            <a:endParaRPr lang="en-US" sz="105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01</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Access and security</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3, 4, 26–29</a:t>
            </a:r>
            <a:endParaRPr lang="en-US" sz="146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Secure sign-in, in English or Bangla</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Username and password over HTTPS; the language is chosen on the first screen</a:t>
            </a:r>
            <a:endParaRPr lang="en-US" sz="1141" dirty="0"/>
          </a:p>
        </p:txBody>
      </p:sp>
      <p:pic>
        <p:nvPicPr>
          <p:cNvPr id="4" name="Screen a01-login" descr="E:\Tender\tender-submission\build\shots-jpg\a01-login.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Sign-in page (English)</a:t>
            </a:r>
            <a:endParaRPr lang="en-US" sz="978" dirty="0"/>
          </a:p>
        </p:txBody>
      </p:sp>
      <p:pic>
        <p:nvPicPr>
          <p:cNvPr id="7" name="Screen a02-login-bn" descr="E:\Tender\tender-submission\build\shots-jpg\a02-login-bn.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The same page in Bangla</a:t>
            </a:r>
            <a:endParaRPr lang="en-US" sz="978" dirty="0"/>
          </a:p>
        </p:txBody>
      </p:sp>
      <p:sp>
        <p:nvSpPr>
          <p:cNvPr id="10" name="Badge 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a:t>
            </a:r>
            <a:endParaRPr lang="en-US" sz="978" dirty="0"/>
          </a:p>
        </p:txBody>
      </p:sp>
      <p:sp>
        <p:nvSpPr>
          <p:cNvPr id="12" name="Requirement 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Authentication</a:t>
            </a:r>
            <a:endParaRPr lang="en-US" sz="978" dirty="0"/>
          </a:p>
          <a:p>
            <a:pPr indent="0" marL="0">
              <a:spcAft>
                <a:spcPts val="81"/>
              </a:spcAft>
              <a:buNone/>
            </a:pPr>
            <a:r>
              <a:rPr lang="en-US" sz="896" dirty="0">
                <a:solidFill>
                  <a:srgbClr val="5B6472"/>
                </a:solidFill>
              </a:rPr>
              <a:t>Username/password sign-in; generic error messages</a:t>
            </a:r>
            <a:endParaRPr lang="en-US" sz="978" dirty="0"/>
          </a:p>
        </p:txBody>
      </p:sp>
      <p:sp>
        <p:nvSpPr>
          <p:cNvPr id="13" name="Badge 27"/>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#27</a:t>
            </a:r>
            <a:endParaRPr lang="en-US" sz="978" dirty="0"/>
          </a:p>
        </p:txBody>
      </p:sp>
      <p:sp>
        <p:nvSpPr>
          <p:cNvPr id="15" name="Requirement 27"/>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Encryption</a:t>
            </a:r>
            <a:endParaRPr lang="en-US" sz="978" dirty="0"/>
          </a:p>
          <a:p>
            <a:pPr indent="0" marL="0">
              <a:spcAft>
                <a:spcPts val="81"/>
              </a:spcAft>
              <a:buNone/>
            </a:pPr>
            <a:r>
              <a:rPr lang="en-US" sz="896" dirty="0">
                <a:solidFill>
                  <a:srgbClr val="5B6472"/>
                </a:solidFill>
              </a:rPr>
              <a:t>All traffic over HTTPS/TLS</a:t>
            </a:r>
            <a:endParaRPr lang="en-US" sz="978" dirty="0"/>
          </a:p>
        </p:txBody>
      </p:sp>
      <p:sp>
        <p:nvSpPr>
          <p:cNvPr id="16" name="Badge 4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8" name="Requirement 4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Localization</a:t>
            </a:r>
            <a:endParaRPr lang="en-US" sz="978" dirty="0"/>
          </a:p>
          <a:p>
            <a:pPr indent="0" marL="0">
              <a:spcAft>
                <a:spcPts val="81"/>
              </a:spcAft>
              <a:buNone/>
            </a:pPr>
            <a:r>
              <a:rPr lang="en-US" sz="896" dirty="0">
                <a:solidFill>
                  <a:srgbClr val="5B6472"/>
                </a:solidFill>
              </a:rPr>
              <a:t>English and Bangla from the first screen</a:t>
            </a:r>
            <a:endParaRPr lang="en-US" sz="97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One system, five roles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officer sees the pages, units and actions of their role and scope; figures are those of their own area</a:t>
            </a:r>
            <a:endParaRPr lang="en-US" sz="1141" dirty="0"/>
          </a:p>
        </p:txBody>
      </p:sp>
      <p:pic>
        <p:nvPicPr>
          <p:cNvPr id="4" name="Screen a10-dash-hq_admin" descr="E:\Tender\tender-submission\build\shots-jpg\a10-dash-hq_admin.jpg">    </p:cNvPr>
          <p:cNvPicPr>
            <a:picLocks noChangeAspect="1"/>
          </p:cNvPicPr>
          <p:nvPr/>
        </p:nvPicPr>
        <p:blipFill>
          <a:blip r:embed="rId1"/>
          <a:stretch>
            <a:fillRect/>
          </a:stretch>
        </p:blipFill>
        <p:spPr>
          <a:xfrm>
            <a:off x="1501394" y="1891453"/>
            <a:ext cx="2682240" cy="16764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2682240" cy="1676400"/>
          </a:xfrm>
          <a:prstGeom prst="rect">
            <a:avLst/>
          </a:prstGeom>
          <a:ln w="7761">
            <a:solidFill>
              <a:srgbClr val="D7DED8"/>
            </a:solidFill>
            <a:prstDash val="solid"/>
          </a:ln>
        </p:spPr>
      </p:sp>
      <p:sp>
        <p:nvSpPr>
          <p:cNvPr id="6" name="Caption"/>
          <p:cNvSpPr txBox="1"/>
          <p:nvPr/>
        </p:nvSpPr>
        <p:spPr>
          <a:xfrm>
            <a:off x="1501394" y="3597656"/>
            <a:ext cx="2682240" cy="238421"/>
          </a:xfrm>
          <a:prstGeom prst="rect">
            <a:avLst/>
          </a:prstGeom>
          <a:noFill/>
          <a:ln/>
        </p:spPr>
        <p:txBody>
          <a:bodyPr wrap="square" lIns="0" tIns="0" rIns="0" bIns="0" rtlCol="0" anchor="ctr"/>
          <a:lstStyle/>
          <a:p>
            <a:pPr indent="0" marL="0">
              <a:buNone/>
            </a:pPr>
            <a:r>
              <a:rPr lang="en-US" sz="978" dirty="0">
                <a:solidFill>
                  <a:srgbClr val="5B6472"/>
                </a:solidFill>
              </a:rPr>
              <a:t>HQ Administrator · whole country</a:t>
            </a:r>
            <a:endParaRPr lang="en-US" sz="978" dirty="0"/>
          </a:p>
        </p:txBody>
      </p:sp>
      <p:pic>
        <p:nvPicPr>
          <p:cNvPr id="7" name="Screen a10-dash-sector_off" descr="E:\Tender\tender-submission\build\shots-jpg\a10-dash-sector_off.jpg">    </p:cNvPr>
          <p:cNvPicPr>
            <a:picLocks noChangeAspect="1"/>
          </p:cNvPicPr>
          <p:nvPr/>
        </p:nvPicPr>
        <p:blipFill>
          <a:blip r:embed="rId2"/>
          <a:stretch>
            <a:fillRect/>
          </a:stretch>
        </p:blipFill>
        <p:spPr>
          <a:xfrm>
            <a:off x="4608322" y="1891453"/>
            <a:ext cx="2682240" cy="16764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608322" y="1891453"/>
            <a:ext cx="2682240" cy="1676400"/>
          </a:xfrm>
          <a:prstGeom prst="rect">
            <a:avLst/>
          </a:prstGeom>
          <a:ln w="7761">
            <a:solidFill>
              <a:srgbClr val="D7DED8"/>
            </a:solidFill>
            <a:prstDash val="solid"/>
          </a:ln>
        </p:spPr>
      </p:sp>
      <p:sp>
        <p:nvSpPr>
          <p:cNvPr id="9" name="Caption"/>
          <p:cNvSpPr txBox="1"/>
          <p:nvPr/>
        </p:nvSpPr>
        <p:spPr>
          <a:xfrm>
            <a:off x="4608322" y="3597656"/>
            <a:ext cx="2682240" cy="238421"/>
          </a:xfrm>
          <a:prstGeom prst="rect">
            <a:avLst/>
          </a:prstGeom>
          <a:noFill/>
          <a:ln/>
        </p:spPr>
        <p:txBody>
          <a:bodyPr wrap="square" lIns="0" tIns="0" rIns="0" bIns="0" rtlCol="0" anchor="ctr"/>
          <a:lstStyle/>
          <a:p>
            <a:pPr indent="0" marL="0">
              <a:buNone/>
            </a:pPr>
            <a:r>
              <a:rPr lang="en-US" sz="978" dirty="0">
                <a:solidFill>
                  <a:srgbClr val="5B6472"/>
                </a:solidFill>
              </a:rPr>
              <a:t>Sector Officer · Sector-7</a:t>
            </a:r>
            <a:endParaRPr lang="en-US" sz="978" dirty="0"/>
          </a:p>
        </p:txBody>
      </p:sp>
      <p:pic>
        <p:nvPicPr>
          <p:cNvPr id="10" name="Screen a10-dash-verifier" descr="E:\Tender\tender-submission\build\shots-jpg\a10-dash-verifier.jpg">    </p:cNvPr>
          <p:cNvPicPr>
            <a:picLocks noChangeAspect="1"/>
          </p:cNvPicPr>
          <p:nvPr/>
        </p:nvPicPr>
        <p:blipFill>
          <a:blip r:embed="rId3"/>
          <a:stretch>
            <a:fillRect/>
          </a:stretch>
        </p:blipFill>
        <p:spPr>
          <a:xfrm>
            <a:off x="7715250" y="1891453"/>
            <a:ext cx="2682240" cy="1676400"/>
          </a:xfrm>
          <a:prstGeom prst="rect">
            <a:avLst/>
          </a:prstGeom>
          <a:effectLst>
            <a:outerShdw sx="100000" sy="100000" kx="0" ky="0" algn="bl" rotWithShape="0" blurRad="62089" dist="20696" dir="5400000">
              <a:srgbClr val="000000">
                <a:alpha val="18000"/>
              </a:srgbClr>
            </a:outerShdw>
          </a:effectLst>
        </p:spPr>
      </p:pic>
      <p:sp>
        <p:nvSpPr>
          <p:cNvPr id="11" name="Frame"/>
          <p:cNvSpPr/>
          <p:nvPr/>
        </p:nvSpPr>
        <p:spPr>
          <a:xfrm>
            <a:off x="7715250" y="1891453"/>
            <a:ext cx="2682240" cy="1676400"/>
          </a:xfrm>
          <a:prstGeom prst="rect">
            <a:avLst/>
          </a:prstGeom>
          <a:ln w="7761">
            <a:solidFill>
              <a:srgbClr val="D7DED8"/>
            </a:solidFill>
            <a:prstDash val="solid"/>
          </a:ln>
        </p:spPr>
      </p:sp>
      <p:sp>
        <p:nvSpPr>
          <p:cNvPr id="12" name="Caption"/>
          <p:cNvSpPr txBox="1"/>
          <p:nvPr/>
        </p:nvSpPr>
        <p:spPr>
          <a:xfrm>
            <a:off x="7715250" y="3597656"/>
            <a:ext cx="2682240" cy="238421"/>
          </a:xfrm>
          <a:prstGeom prst="rect">
            <a:avLst/>
          </a:prstGeom>
          <a:noFill/>
          <a:ln/>
        </p:spPr>
        <p:txBody>
          <a:bodyPr wrap="square" lIns="0" tIns="0" rIns="0" bIns="0" rtlCol="0" anchor="ctr"/>
          <a:lstStyle/>
          <a:p>
            <a:pPr indent="0" marL="0">
              <a:buNone/>
            </a:pPr>
            <a:r>
              <a:rPr lang="en-US" sz="978" dirty="0">
                <a:solidFill>
                  <a:srgbClr val="5B6472"/>
                </a:solidFill>
              </a:rPr>
              <a:t>Verifier/Approver · Sector-7</a:t>
            </a:r>
            <a:endParaRPr lang="en-US" sz="978" dirty="0"/>
          </a:p>
        </p:txBody>
      </p:sp>
      <p:pic>
        <p:nvPicPr>
          <p:cNvPr id="13" name="Screen a10-dash-batt_op" descr="E:\Tender\tender-submission\build\shots-jpg\a10-dash-batt_op.jpg">    </p:cNvPr>
          <p:cNvPicPr>
            <a:picLocks noChangeAspect="1"/>
          </p:cNvPicPr>
          <p:nvPr/>
        </p:nvPicPr>
        <p:blipFill>
          <a:blip r:embed="rId4"/>
          <a:stretch>
            <a:fillRect/>
          </a:stretch>
        </p:blipFill>
        <p:spPr>
          <a:xfrm>
            <a:off x="1501394" y="3918035"/>
            <a:ext cx="2682240" cy="1676400"/>
          </a:xfrm>
          <a:prstGeom prst="rect">
            <a:avLst/>
          </a:prstGeom>
          <a:effectLst>
            <a:outerShdw sx="100000" sy="100000" kx="0" ky="0" algn="bl" rotWithShape="0" blurRad="62089" dist="20696" dir="5400000">
              <a:srgbClr val="000000">
                <a:alpha val="18000"/>
              </a:srgbClr>
            </a:outerShdw>
          </a:effectLst>
        </p:spPr>
      </p:pic>
      <p:sp>
        <p:nvSpPr>
          <p:cNvPr id="14" name="Frame"/>
          <p:cNvSpPr/>
          <p:nvPr/>
        </p:nvSpPr>
        <p:spPr>
          <a:xfrm>
            <a:off x="1501394" y="3918035"/>
            <a:ext cx="2682240" cy="1676400"/>
          </a:xfrm>
          <a:prstGeom prst="rect">
            <a:avLst/>
          </a:prstGeom>
          <a:ln w="7761">
            <a:solidFill>
              <a:srgbClr val="D7DED8"/>
            </a:solidFill>
            <a:prstDash val="solid"/>
          </a:ln>
        </p:spPr>
      </p:sp>
      <p:sp>
        <p:nvSpPr>
          <p:cNvPr id="15" name="Caption"/>
          <p:cNvSpPr txBox="1"/>
          <p:nvPr/>
        </p:nvSpPr>
        <p:spPr>
          <a:xfrm>
            <a:off x="1501394" y="5624237"/>
            <a:ext cx="2682240" cy="238421"/>
          </a:xfrm>
          <a:prstGeom prst="rect">
            <a:avLst/>
          </a:prstGeom>
          <a:noFill/>
          <a:ln/>
        </p:spPr>
        <p:txBody>
          <a:bodyPr wrap="square" lIns="0" tIns="0" rIns="0" bIns="0" rtlCol="0" anchor="ctr"/>
          <a:lstStyle/>
          <a:p>
            <a:pPr indent="0" marL="0">
              <a:buNone/>
            </a:pPr>
            <a:r>
              <a:rPr lang="en-US" sz="978" dirty="0">
                <a:solidFill>
                  <a:srgbClr val="5B6472"/>
                </a:solidFill>
              </a:rPr>
              <a:t>Battalion Operator · 17 BGB</a:t>
            </a:r>
            <a:endParaRPr lang="en-US" sz="978" dirty="0"/>
          </a:p>
        </p:txBody>
      </p:sp>
      <p:pic>
        <p:nvPicPr>
          <p:cNvPr id="16" name="Screen a10-dash-auditor" descr="E:\Tender\tender-submission\build\shots-jpg\a10-dash-auditor.jpg">    </p:cNvPr>
          <p:cNvPicPr>
            <a:picLocks noChangeAspect="1"/>
          </p:cNvPicPr>
          <p:nvPr/>
        </p:nvPicPr>
        <p:blipFill>
          <a:blip r:embed="rId5"/>
          <a:stretch>
            <a:fillRect/>
          </a:stretch>
        </p:blipFill>
        <p:spPr>
          <a:xfrm>
            <a:off x="4608322" y="3918035"/>
            <a:ext cx="2682240" cy="1676400"/>
          </a:xfrm>
          <a:prstGeom prst="rect">
            <a:avLst/>
          </a:prstGeom>
          <a:effectLst>
            <a:outerShdw sx="100000" sy="100000" kx="0" ky="0" algn="bl" rotWithShape="0" blurRad="62089" dist="20696" dir="5400000">
              <a:srgbClr val="000000">
                <a:alpha val="18000"/>
              </a:srgbClr>
            </a:outerShdw>
          </a:effectLst>
        </p:spPr>
      </p:pic>
      <p:sp>
        <p:nvSpPr>
          <p:cNvPr id="17" name="Frame"/>
          <p:cNvSpPr/>
          <p:nvPr/>
        </p:nvSpPr>
        <p:spPr>
          <a:xfrm>
            <a:off x="4608322" y="3918035"/>
            <a:ext cx="2682240" cy="1676400"/>
          </a:xfrm>
          <a:prstGeom prst="rect">
            <a:avLst/>
          </a:prstGeom>
          <a:ln w="7761">
            <a:solidFill>
              <a:srgbClr val="D7DED8"/>
            </a:solidFill>
            <a:prstDash val="solid"/>
          </a:ln>
        </p:spPr>
      </p:sp>
      <p:sp>
        <p:nvSpPr>
          <p:cNvPr id="18" name="Caption"/>
          <p:cNvSpPr txBox="1"/>
          <p:nvPr/>
        </p:nvSpPr>
        <p:spPr>
          <a:xfrm>
            <a:off x="4608322" y="5624237"/>
            <a:ext cx="2682240" cy="238421"/>
          </a:xfrm>
          <a:prstGeom prst="rect">
            <a:avLst/>
          </a:prstGeom>
          <a:noFill/>
          <a:ln/>
        </p:spPr>
        <p:txBody>
          <a:bodyPr wrap="square" lIns="0" tIns="0" rIns="0" bIns="0" rtlCol="0" anchor="ctr"/>
          <a:lstStyle/>
          <a:p>
            <a:pPr indent="0" marL="0">
              <a:buNone/>
            </a:pPr>
            <a:r>
              <a:rPr lang="en-US" sz="978" dirty="0">
                <a:solidFill>
                  <a:srgbClr val="5B6472"/>
                </a:solidFill>
              </a:rPr>
              <a:t>Auditor · read-only, HQ</a:t>
            </a:r>
            <a:endParaRPr lang="en-US" sz="978" dirty="0"/>
          </a:p>
        </p:txBody>
      </p:sp>
      <p:sp>
        <p:nvSpPr>
          <p:cNvPr id="19" name="Badge 3"/>
          <p:cNvSpPr/>
          <p:nvPr/>
        </p:nvSpPr>
        <p:spPr>
          <a:xfrm>
            <a:off x="7715250" y="3977640"/>
            <a:ext cx="461941" cy="253323"/>
          </a:xfrm>
          <a:prstGeom prst="roundRect">
            <a:avLst>
              <a:gd name="adj" fmla="val 17647"/>
            </a:avLst>
          </a:prstGeom>
          <a:solidFill>
            <a:srgbClr val="164716"/>
          </a:solidFill>
          <a:ln w="10348">
            <a:solidFill>
              <a:srgbClr val="164716"/>
            </a:solidFill>
            <a:prstDash val="solid"/>
          </a:ln>
        </p:spPr>
      </p:sp>
      <p:sp>
        <p:nvSpPr>
          <p:cNvPr id="20" name="Text 13"/>
          <p:cNvSpPr txBox="1"/>
          <p:nvPr/>
        </p:nvSpPr>
        <p:spPr>
          <a:xfrm>
            <a:off x="7715250" y="3977640"/>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21" name="Text 14"/>
          <p:cNvSpPr txBox="1"/>
          <p:nvPr/>
        </p:nvSpPr>
        <p:spPr>
          <a:xfrm>
            <a:off x="8244247" y="3947837"/>
            <a:ext cx="2458720" cy="558800"/>
          </a:xfrm>
          <a:prstGeom prst="rect">
            <a:avLst/>
          </a:prstGeom>
          <a:noFill/>
          <a:ln/>
        </p:spPr>
        <p:txBody>
          <a:bodyPr wrap="square" lIns="0" tIns="0" rIns="0" bIns="0" rtlCol="0" anchor="t"/>
          <a:lstStyle/>
          <a:p>
            <a:pPr indent="0" marL="0">
              <a:buNone/>
            </a:pPr>
            <a:r>
              <a:rPr lang="en-US" sz="978" b="1" dirty="0">
                <a:solidFill>
                  <a:srgbClr val="1F2937"/>
                </a:solidFill>
              </a:rPr>
              <a:t>User Management</a:t>
            </a:r>
            <a:endParaRPr lang="en-US" sz="978" dirty="0"/>
          </a:p>
          <a:p>
            <a:pPr indent="0" marL="0">
              <a:buNone/>
            </a:pPr>
            <a:r>
              <a:rPr lang="en-US" sz="896" dirty="0">
                <a:solidFill>
                  <a:srgbClr val="5B6472"/>
                </a:solidFill>
              </a:rPr>
              <a:t>Roles with configurable access scopes</a:t>
            </a:r>
            <a:endParaRPr lang="en-US" sz="978" dirty="0"/>
          </a:p>
        </p:txBody>
      </p:sp>
      <p:sp>
        <p:nvSpPr>
          <p:cNvPr id="22" name="Badge 17"/>
          <p:cNvSpPr/>
          <p:nvPr/>
        </p:nvSpPr>
        <p:spPr>
          <a:xfrm>
            <a:off x="7715250" y="4573693"/>
            <a:ext cx="461941" cy="253323"/>
          </a:xfrm>
          <a:prstGeom prst="roundRect">
            <a:avLst>
              <a:gd name="adj" fmla="val 17647"/>
            </a:avLst>
          </a:prstGeom>
          <a:solidFill>
            <a:srgbClr val="164716"/>
          </a:solidFill>
          <a:ln w="10348">
            <a:solidFill>
              <a:srgbClr val="164716"/>
            </a:solidFill>
            <a:prstDash val="solid"/>
          </a:ln>
        </p:spPr>
      </p:sp>
      <p:sp>
        <p:nvSpPr>
          <p:cNvPr id="23" name="Text 16"/>
          <p:cNvSpPr txBox="1"/>
          <p:nvPr/>
        </p:nvSpPr>
        <p:spPr>
          <a:xfrm>
            <a:off x="7715250" y="4573693"/>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24" name="Text 17"/>
          <p:cNvSpPr txBox="1"/>
          <p:nvPr/>
        </p:nvSpPr>
        <p:spPr>
          <a:xfrm>
            <a:off x="8244247" y="4543891"/>
            <a:ext cx="2458720" cy="558800"/>
          </a:xfrm>
          <a:prstGeom prst="rect">
            <a:avLst/>
          </a:prstGeom>
          <a:noFill/>
          <a:ln/>
        </p:spPr>
        <p:txBody>
          <a:bodyPr wrap="square" lIns="0" tIns="0" rIns="0" bIns="0" rtlCol="0" anchor="t"/>
          <a:lstStyle/>
          <a:p>
            <a:pPr indent="0" marL="0">
              <a:buNone/>
            </a:pPr>
            <a:r>
              <a:rPr lang="en-US" sz="978" b="1" dirty="0">
                <a:solidFill>
                  <a:srgbClr val="1F2937"/>
                </a:solidFill>
              </a:rPr>
              <a:t>Dashboard</a:t>
            </a:r>
            <a:endParaRPr lang="en-US" sz="978" dirty="0"/>
          </a:p>
          <a:p>
            <a:pPr indent="0" marL="0">
              <a:buNone/>
            </a:pPr>
            <a:r>
              <a:rPr lang="en-US" sz="896" dirty="0">
                <a:solidFill>
                  <a:srgbClr val="5B6472"/>
                </a:solidFill>
              </a:rPr>
              <a:t>Role-based dashboard</a:t>
            </a:r>
            <a:endParaRPr lang="en-US" sz="978" dirty="0"/>
          </a:p>
        </p:txBody>
      </p:sp>
      <p:sp>
        <p:nvSpPr>
          <p:cNvPr id="25" name="Badge 26"/>
          <p:cNvSpPr/>
          <p:nvPr/>
        </p:nvSpPr>
        <p:spPr>
          <a:xfrm>
            <a:off x="7715250" y="5169747"/>
            <a:ext cx="461941" cy="253323"/>
          </a:xfrm>
          <a:prstGeom prst="roundRect">
            <a:avLst>
              <a:gd name="adj" fmla="val 17647"/>
            </a:avLst>
          </a:prstGeom>
          <a:solidFill>
            <a:srgbClr val="164716"/>
          </a:solidFill>
          <a:ln w="10348">
            <a:solidFill>
              <a:srgbClr val="164716"/>
            </a:solidFill>
            <a:prstDash val="solid"/>
          </a:ln>
        </p:spPr>
      </p:sp>
      <p:sp>
        <p:nvSpPr>
          <p:cNvPr id="26" name="Text 19"/>
          <p:cNvSpPr txBox="1"/>
          <p:nvPr/>
        </p:nvSpPr>
        <p:spPr>
          <a:xfrm>
            <a:off x="7715250" y="516974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#26</a:t>
            </a:r>
            <a:endParaRPr lang="en-US" sz="978" dirty="0"/>
          </a:p>
        </p:txBody>
      </p:sp>
      <p:sp>
        <p:nvSpPr>
          <p:cNvPr id="27" name="Text 20"/>
          <p:cNvSpPr txBox="1"/>
          <p:nvPr/>
        </p:nvSpPr>
        <p:spPr>
          <a:xfrm>
            <a:off x="8244247" y="5139944"/>
            <a:ext cx="2458720" cy="558800"/>
          </a:xfrm>
          <a:prstGeom prst="rect">
            <a:avLst/>
          </a:prstGeom>
          <a:noFill/>
          <a:ln/>
        </p:spPr>
        <p:txBody>
          <a:bodyPr wrap="square" lIns="0" tIns="0" rIns="0" bIns="0" rtlCol="0" anchor="t"/>
          <a:lstStyle/>
          <a:p>
            <a:pPr indent="0" marL="0">
              <a:buNone/>
            </a:pPr>
            <a:r>
              <a:rPr lang="en-US" sz="978" b="1" dirty="0">
                <a:solidFill>
                  <a:srgbClr val="1F2937"/>
                </a:solidFill>
              </a:rPr>
              <a:t>Data Security</a:t>
            </a:r>
            <a:endParaRPr lang="en-US" sz="978" dirty="0"/>
          </a:p>
          <a:p>
            <a:pPr indent="0" marL="0">
              <a:buNone/>
            </a:pPr>
            <a:r>
              <a:rPr lang="en-US" sz="896" dirty="0">
                <a:solidFill>
                  <a:srgbClr val="5B6472"/>
                </a:solidFill>
              </a:rPr>
              <a:t>Access limited by role and unit</a:t>
            </a:r>
            <a:endParaRPr lang="en-US" sz="97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Security &amp; system: status first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Administration › Security &amp; system: system status, then every security setting in one column</a:t>
            </a:r>
            <a:endParaRPr lang="en-US" sz="1141" dirty="0"/>
          </a:p>
        </p:txBody>
      </p:sp>
      <p:pic>
        <p:nvPicPr>
          <p:cNvPr id="4" name="Screen a03-security-status" descr="E:\Tender\tender-submission\build\shots-jpg\a03-security-statu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6"/>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#46</a:t>
            </a:r>
            <a:endParaRPr lang="en-US" sz="978" dirty="0"/>
          </a:p>
        </p:txBody>
      </p:sp>
      <p:sp>
        <p:nvSpPr>
          <p:cNvPr id="9" name="Requirement 46"/>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Administrative Module</a:t>
            </a:r>
            <a:endParaRPr lang="en-US" sz="1059" dirty="0"/>
          </a:p>
          <a:p>
            <a:pPr indent="0" marL="0">
              <a:spcAft>
                <a:spcPts val="163"/>
              </a:spcAft>
              <a:buNone/>
            </a:pPr>
            <a:r>
              <a:rPr lang="en-US" sz="937" dirty="0">
                <a:solidFill>
                  <a:srgbClr val="5B6472"/>
                </a:solidFill>
              </a:rPr>
              <a:t>Administrative module for security settings</a:t>
            </a:r>
            <a:endParaRPr lang="en-US" sz="1059" dirty="0"/>
          </a:p>
        </p:txBody>
      </p:sp>
      <p:sp>
        <p:nvSpPr>
          <p:cNvPr id="10" name="Badge 4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#48</a:t>
            </a:r>
            <a:endParaRPr lang="en-US" sz="978" dirty="0"/>
          </a:p>
        </p:txBody>
      </p:sp>
      <p:sp>
        <p:nvSpPr>
          <p:cNvPr id="12" name="Requirement 4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Logging &amp; Monitoring</a:t>
            </a:r>
            <a:endParaRPr lang="en-US" sz="1059" dirty="0"/>
          </a:p>
          <a:p>
            <a:pPr indent="0" marL="0">
              <a:spcAft>
                <a:spcPts val="163"/>
              </a:spcAft>
              <a:buNone/>
            </a:pPr>
            <a:r>
              <a:rPr lang="en-US" sz="937" dirty="0">
                <a:solidFill>
                  <a:srgbClr val="5B6472"/>
                </a:solidFill>
              </a:rPr>
              <a:t>Service status at a glance</a:t>
            </a:r>
            <a:endParaRPr lang="en-US" sz="1059" dirty="0"/>
          </a:p>
        </p:txBody>
      </p:sp>
      <p:sp>
        <p:nvSpPr>
          <p:cNvPr id="13" name="Badge 4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5" name="Requirement 4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Configuration</a:t>
            </a:r>
            <a:endParaRPr lang="en-US" sz="1059" dirty="0"/>
          </a:p>
          <a:p>
            <a:pPr indent="0" marL="0">
              <a:spcAft>
                <a:spcPts val="163"/>
              </a:spcAft>
              <a:buNone/>
            </a:pPr>
            <a:r>
              <a:rPr lang="en-US" sz="937" dirty="0">
                <a:solidFill>
                  <a:srgbClr val="5B6472"/>
                </a:solidFill>
              </a:rPr>
              <a:t>Changed without code; changes are audited</a:t>
            </a:r>
            <a:endParaRPr lang="en-US" sz="1059"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Password policy, lockout and sessions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value configurable, with its unit and allowed range</a:t>
            </a:r>
            <a:endParaRPr lang="en-US" sz="1141" dirty="0"/>
          </a:p>
        </p:txBody>
      </p:sp>
      <p:pic>
        <p:nvPicPr>
          <p:cNvPr id="4" name="Screen a04-security-password" descr="E:\Tender\tender-submission\build\shots-jpg\a04-security-password.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Password policy and lockout</a:t>
            </a:r>
            <a:endParaRPr lang="en-US" sz="978" dirty="0"/>
          </a:p>
        </p:txBody>
      </p:sp>
      <p:pic>
        <p:nvPicPr>
          <p:cNvPr id="7" name="Screen a05-security-session" descr="E:\Tender\tender-submission\build\shots-jpg\a05-security-session.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Session controls, workflow, archiving</a:t>
            </a:r>
            <a:endParaRPr lang="en-US" sz="978" dirty="0"/>
          </a:p>
        </p:txBody>
      </p:sp>
      <p:sp>
        <p:nvSpPr>
          <p:cNvPr id="10" name="Badge 29"/>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#29</a:t>
            </a:r>
            <a:endParaRPr lang="en-US" sz="978" dirty="0"/>
          </a:p>
        </p:txBody>
      </p:sp>
      <p:sp>
        <p:nvSpPr>
          <p:cNvPr id="12" name="Requirement 29"/>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Password Security</a:t>
            </a:r>
            <a:endParaRPr lang="en-US" sz="978" dirty="0"/>
          </a:p>
          <a:p>
            <a:pPr indent="0" marL="0">
              <a:spcAft>
                <a:spcPts val="81"/>
              </a:spcAft>
              <a:buNone/>
            </a:pPr>
            <a:r>
              <a:rPr lang="en-US" sz="896" dirty="0">
                <a:solidFill>
                  <a:srgbClr val="5B6472"/>
                </a:solidFill>
              </a:rPr>
              <a:t>Length, complexity, failed-login threshold, lockout time</a:t>
            </a:r>
            <a:endParaRPr lang="en-US" sz="978" dirty="0"/>
          </a:p>
        </p:txBody>
      </p:sp>
      <p:sp>
        <p:nvSpPr>
          <p:cNvPr id="13" name="Badge 28"/>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#28</a:t>
            </a:r>
            <a:endParaRPr lang="en-US" sz="978" dirty="0"/>
          </a:p>
        </p:txBody>
      </p:sp>
      <p:sp>
        <p:nvSpPr>
          <p:cNvPr id="15" name="Requirement 28"/>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Session Security</a:t>
            </a:r>
            <a:endParaRPr lang="en-US" sz="978" dirty="0"/>
          </a:p>
          <a:p>
            <a:pPr indent="0" marL="0">
              <a:spcAft>
                <a:spcPts val="81"/>
              </a:spcAft>
              <a:buNone/>
            </a:pPr>
            <a:r>
              <a:rPr lang="en-US" sz="896" dirty="0">
                <a:solidFill>
                  <a:srgbClr val="5B6472"/>
                </a:solidFill>
              </a:rPr>
              <a:t>Idle timeout and single active session</a:t>
            </a:r>
            <a:endParaRPr lang="en-US" sz="978" dirty="0"/>
          </a:p>
        </p:txBody>
      </p:sp>
      <p:sp>
        <p:nvSpPr>
          <p:cNvPr id="16" name="Badge 47"/>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8" name="Requirement 47"/>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Configuration</a:t>
            </a:r>
            <a:endParaRPr lang="en-US" sz="978" dirty="0"/>
          </a:p>
          <a:p>
            <a:pPr indent="0" marL="0">
              <a:spcAft>
                <a:spcPts val="81"/>
              </a:spcAft>
              <a:buNone/>
            </a:pPr>
            <a:r>
              <a:rPr lang="en-US" sz="896" dirty="0">
                <a:solidFill>
                  <a:srgbClr val="5B6472"/>
                </a:solidFill>
              </a:rPr>
              <a:t>No code changes</a:t>
            </a:r>
            <a:endParaRPr lang="en-US" sz="97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My profile: sessions and sign-in history</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user sees where they are signed in and their own recent security events</a:t>
            </a:r>
            <a:endParaRPr lang="en-US" sz="1141" dirty="0"/>
          </a:p>
        </p:txBody>
      </p:sp>
      <p:pic>
        <p:nvPicPr>
          <p:cNvPr id="4" name="Screen a06-profile" descr="E:\Tender\tender-submission\build\shots-jpg\a06-profile.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Active sessions and recent sign-in activity</a:t>
            </a:r>
            <a:endParaRPr lang="en-US" sz="978" dirty="0"/>
          </a:p>
        </p:txBody>
      </p:sp>
      <p:pic>
        <p:nvPicPr>
          <p:cNvPr id="7" name="Screen a07-profile-history" descr="E:\Tender\tender-submission\build\shots-jpg\a07-profile-history.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History, device notifications, pages allowed</a:t>
            </a:r>
            <a:endParaRPr lang="en-US" sz="978" dirty="0"/>
          </a:p>
        </p:txBody>
      </p:sp>
      <p:sp>
        <p:nvSpPr>
          <p:cNvPr id="10" name="Badge 2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#28</a:t>
            </a:r>
            <a:endParaRPr lang="en-US" sz="978" dirty="0"/>
          </a:p>
        </p:txBody>
      </p:sp>
      <p:sp>
        <p:nvSpPr>
          <p:cNvPr id="12" name="Requirement 2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Session Security</a:t>
            </a:r>
            <a:endParaRPr lang="en-US" sz="978" dirty="0"/>
          </a:p>
          <a:p>
            <a:pPr indent="0" marL="0">
              <a:spcAft>
                <a:spcPts val="81"/>
              </a:spcAft>
              <a:buNone/>
            </a:pPr>
            <a:r>
              <a:rPr lang="en-US" sz="896" dirty="0">
                <a:solidFill>
                  <a:srgbClr val="5B6472"/>
                </a:solidFill>
              </a:rPr>
              <a:t>Concurrent sessions visible and revocable</a:t>
            </a:r>
            <a:endParaRPr lang="en-US" sz="978" dirty="0"/>
          </a:p>
        </p:txBody>
      </p:sp>
      <p:sp>
        <p:nvSpPr>
          <p:cNvPr id="13" name="Badge 24"/>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Sign-in and security events per user</a:t>
            </a:r>
            <a:endParaRPr lang="en-US" sz="978" dirty="0"/>
          </a:p>
        </p:txBody>
      </p:sp>
      <p:sp>
        <p:nvSpPr>
          <p:cNvPr id="16" name="Badge 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8" name="Requirement 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User Management</a:t>
            </a:r>
            <a:endParaRPr lang="en-US" sz="978" dirty="0"/>
          </a:p>
          <a:p>
            <a:pPr indent="0" marL="0">
              <a:spcAft>
                <a:spcPts val="81"/>
              </a:spcAft>
              <a:buNone/>
            </a:pPr>
            <a:r>
              <a:rPr lang="en-US" sz="896" dirty="0">
                <a:solidFill>
                  <a:srgbClr val="5B6472"/>
                </a:solidFill>
              </a:rPr>
              <a:t>Pages the user may open, from the role</a:t>
            </a:r>
            <a:endParaRPr lang="en-US" sz="97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Password change and account lockout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Rules checked as the user types; lockouts are recorded and can be released by an administrator</a:t>
            </a:r>
            <a:endParaRPr lang="en-US" sz="1141" dirty="0"/>
          </a:p>
        </p:txBody>
      </p:sp>
      <p:pic>
        <p:nvPicPr>
          <p:cNvPr id="4" name="Screen a09-change-password" descr="E:\Tender\tender-submission\build\shots-jpg\a09-change-password.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Change password: policy shown live</a:t>
            </a:r>
            <a:endParaRPr lang="en-US" sz="978" dirty="0"/>
          </a:p>
        </p:txBody>
      </p:sp>
      <p:pic>
        <p:nvPicPr>
          <p:cNvPr id="7" name="Screen a08-audit-lockout" descr="E:\Tender\tender-submission\build\shots-jpg\a08-audit-lockout.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Audit trail: account locked, then unlocked</a:t>
            </a:r>
            <a:endParaRPr lang="en-US" sz="978" dirty="0"/>
          </a:p>
        </p:txBody>
      </p:sp>
      <p:sp>
        <p:nvSpPr>
          <p:cNvPr id="10" name="Badge 29"/>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#29</a:t>
            </a:r>
            <a:endParaRPr lang="en-US" sz="978" dirty="0"/>
          </a:p>
        </p:txBody>
      </p:sp>
      <p:sp>
        <p:nvSpPr>
          <p:cNvPr id="12" name="Requirement 29"/>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Password Security</a:t>
            </a:r>
            <a:endParaRPr lang="en-US" sz="978" dirty="0"/>
          </a:p>
          <a:p>
            <a:pPr indent="0" marL="0">
              <a:spcAft>
                <a:spcPts val="81"/>
              </a:spcAft>
              <a:buNone/>
            </a:pPr>
            <a:r>
              <a:rPr lang="en-US" sz="896" dirty="0">
                <a:solidFill>
                  <a:srgbClr val="5B6472"/>
                </a:solidFill>
              </a:rPr>
              <a:t>Complexity enforced; lockout after failed attempts</a:t>
            </a:r>
            <a:endParaRPr lang="en-US" sz="978" dirty="0"/>
          </a:p>
        </p:txBody>
      </p:sp>
      <p:sp>
        <p:nvSpPr>
          <p:cNvPr id="13" name="Badge 24"/>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Lockout and unlock recorded in the audit trail</a:t>
            </a:r>
            <a:endParaRPr lang="en-US" sz="978" dirty="0"/>
          </a:p>
        </p:txBody>
      </p:sp>
      <p:sp>
        <p:nvSpPr>
          <p:cNvPr id="16" name="Badge 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a:t>
            </a:r>
            <a:endParaRPr lang="en-US" sz="978" dirty="0"/>
          </a:p>
        </p:txBody>
      </p:sp>
      <p:sp>
        <p:nvSpPr>
          <p:cNvPr id="18" name="Requirement 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Authentication</a:t>
            </a:r>
            <a:endParaRPr lang="en-US" sz="978" dirty="0"/>
          </a:p>
          <a:p>
            <a:pPr indent="0" marL="0">
              <a:spcAft>
                <a:spcPts val="81"/>
              </a:spcAft>
              <a:buNone/>
            </a:pPr>
            <a:r>
              <a:rPr lang="en-US" sz="896" dirty="0">
                <a:solidFill>
                  <a:srgbClr val="5B6472"/>
                </a:solidFill>
              </a:rPr>
              <a:t>Secure credential handling</a:t>
            </a:r>
            <a:endParaRPr lang="en-US" sz="97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02</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Incident registration</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5–11, 15</a:t>
            </a:r>
            <a:endParaRPr lang="en-US" sz="146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Step 1: basic information and classification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Three-step electronic form; categories, sub-categories and severity come from the configuration</a:t>
            </a:r>
            <a:endParaRPr lang="en-US" sz="1141" dirty="0"/>
          </a:p>
        </p:txBody>
      </p:sp>
      <p:pic>
        <p:nvPicPr>
          <p:cNvPr id="4" name="Screen r01-form-basic" descr="E:\Tender\tender-submission\build\shots-jpg\r01-form-basic.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a:t>
            </a:r>
            <a:endParaRPr lang="en-US" sz="978" dirty="0"/>
          </a:p>
        </p:txBody>
      </p:sp>
      <p:sp>
        <p:nvSpPr>
          <p:cNvPr id="9" name="Requirement 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Registration</a:t>
            </a:r>
            <a:endParaRPr lang="en-US" sz="1059" dirty="0"/>
          </a:p>
          <a:p>
            <a:pPr indent="0" marL="0">
              <a:spcAft>
                <a:spcPts val="163"/>
              </a:spcAft>
              <a:buNone/>
            </a:pPr>
            <a:r>
              <a:rPr lang="en-US" sz="937" dirty="0">
                <a:solidFill>
                  <a:srgbClr val="5B6472"/>
                </a:solidFill>
              </a:rPr>
              <a:t>Standard electronic form: create, save draft, submit</a:t>
            </a:r>
            <a:endParaRPr lang="en-US" sz="1059" dirty="0"/>
          </a:p>
        </p:txBody>
      </p:sp>
      <p:sp>
        <p:nvSpPr>
          <p:cNvPr id="10" name="Badge 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#6</a:t>
            </a:r>
            <a:endParaRPr lang="en-US" sz="978" dirty="0"/>
          </a:p>
        </p:txBody>
      </p:sp>
      <p:sp>
        <p:nvSpPr>
          <p:cNvPr id="12" name="Requirement 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Classification</a:t>
            </a:r>
            <a:endParaRPr lang="en-US" sz="1059" dirty="0"/>
          </a:p>
          <a:p>
            <a:pPr indent="0" marL="0">
              <a:spcAft>
                <a:spcPts val="163"/>
              </a:spcAft>
              <a:buNone/>
            </a:pPr>
            <a:r>
              <a:rPr lang="en-US" sz="937" dirty="0">
                <a:solidFill>
                  <a:srgbClr val="5B6472"/>
                </a:solidFill>
              </a:rPr>
              <a:t>Configurable category, sub-category and severity</a:t>
            </a:r>
            <a:endParaRPr lang="en-US" sz="1059" dirty="0"/>
          </a:p>
        </p:txBody>
      </p:sp>
      <p:sp>
        <p:nvSpPr>
          <p:cNvPr id="13" name="Badge 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15" name="Requirement 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Details</a:t>
            </a:r>
            <a:endParaRPr lang="en-US" sz="1059" dirty="0"/>
          </a:p>
          <a:p>
            <a:pPr indent="0" marL="0">
              <a:spcAft>
                <a:spcPts val="163"/>
              </a:spcAft>
              <a:buNone/>
            </a:pPr>
            <a:r>
              <a:rPr lang="en-US" sz="937" dirty="0">
                <a:solidFill>
                  <a:srgbClr val="5B6472"/>
                </a:solidFill>
              </a:rPr>
              <a:t>Title, date and time of the incident</a:t>
            </a:r>
            <a:endParaRPr lang="en-US" sz="105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Step 2: unit and GPS location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Sector, battalion and BOP limited to the officer's own unit; GPS from the device or typed in</a:t>
            </a:r>
            <a:endParaRPr lang="en-US" sz="1141" dirty="0"/>
          </a:p>
        </p:txBody>
      </p:sp>
      <p:pic>
        <p:nvPicPr>
          <p:cNvPr id="4" name="Screen r02-form-location" descr="E:\Tender\tender-submission\build\shots-jpg\r02-form-locatio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9"/>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#9</a:t>
            </a:r>
            <a:endParaRPr lang="en-US" sz="978" dirty="0"/>
          </a:p>
        </p:txBody>
      </p:sp>
      <p:sp>
        <p:nvSpPr>
          <p:cNvPr id="9" name="Requirement 9"/>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Border Sector Information</a:t>
            </a:r>
            <a:endParaRPr lang="en-US" sz="1059" dirty="0"/>
          </a:p>
          <a:p>
            <a:pPr indent="0" marL="0">
              <a:spcAft>
                <a:spcPts val="163"/>
              </a:spcAft>
              <a:buNone/>
            </a:pPr>
            <a:r>
              <a:rPr lang="en-US" sz="937" dirty="0">
                <a:solidFill>
                  <a:srgbClr val="5B6472"/>
                </a:solidFill>
              </a:rPr>
              <a:t>Linked to Sector / Battalion / BOP</a:t>
            </a:r>
            <a:endParaRPr lang="en-US" sz="1059" dirty="0"/>
          </a:p>
        </p:txBody>
      </p:sp>
      <p:sp>
        <p:nvSpPr>
          <p:cNvPr id="10" name="Badge 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2" name="Requirement 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GPS coordinates from "Detect GPS" or manual entry</a:t>
            </a:r>
            <a:endParaRPr lang="en-US" sz="1059" dirty="0"/>
          </a:p>
        </p:txBody>
      </p:sp>
      <p:sp>
        <p:nvSpPr>
          <p:cNvPr id="13" name="Badge 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15" name="Requirement 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Details</a:t>
            </a:r>
            <a:endParaRPr lang="en-US" sz="1059" dirty="0"/>
          </a:p>
          <a:p>
            <a:pPr indent="0" marL="0">
              <a:spcAft>
                <a:spcPts val="163"/>
              </a:spcAft>
              <a:buNone/>
            </a:pPr>
            <a:r>
              <a:rPr lang="en-US" sz="937" dirty="0">
                <a:solidFill>
                  <a:srgbClr val="5B6472"/>
                </a:solidFill>
              </a:rPr>
              <a:t>Location name and border area</a:t>
            </a:r>
            <a:endParaRPr lang="en-US" sz="1059"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Step 3: narrative, persons, action, outcome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Full narrative in English and Bangla; persons involved, action taken and outcome</a:t>
            </a:r>
            <a:endParaRPr lang="en-US" sz="1141" dirty="0"/>
          </a:p>
        </p:txBody>
      </p:sp>
      <p:pic>
        <p:nvPicPr>
          <p:cNvPr id="4" name="Screen r03-form-details" descr="E:\Tender\tender-submission\build\shots-jpg\r03-form-detail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7"/>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9" name="Requirement 7"/>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Details</a:t>
            </a:r>
            <a:endParaRPr lang="en-US" sz="1059" dirty="0"/>
          </a:p>
          <a:p>
            <a:pPr indent="0" marL="0">
              <a:spcAft>
                <a:spcPts val="163"/>
              </a:spcAft>
              <a:buNone/>
            </a:pPr>
            <a:r>
              <a:rPr lang="en-US" sz="937" dirty="0">
                <a:solidFill>
                  <a:srgbClr val="5B6472"/>
                </a:solidFill>
              </a:rPr>
              <a:t>Description, persons involved, action taken, outcome</a:t>
            </a:r>
            <a:endParaRPr lang="en-US" sz="1059" dirty="0"/>
          </a:p>
        </p:txBody>
      </p:sp>
      <p:sp>
        <p:nvSpPr>
          <p:cNvPr id="10" name="Badge 43"/>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2" name="Requirement 43"/>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and English text stored as entered</a:t>
            </a:r>
            <a:endParaRPr lang="en-US" sz="1059" dirty="0"/>
          </a:p>
        </p:txBody>
      </p:sp>
      <p:sp>
        <p:nvSpPr>
          <p:cNvPr id="13" name="Badge 10"/>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5" name="Requirement 10"/>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Evidence attached in the same step</a:t>
            </a:r>
            <a:endParaRPr lang="en-US" sz="1059"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Evidence attached before submission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Photos, video and PDF shown from the officer's own copy before they are uploaded</a:t>
            </a:r>
            <a:endParaRPr lang="en-US" sz="1141" dirty="0"/>
          </a:p>
        </p:txBody>
      </p:sp>
      <p:pic>
        <p:nvPicPr>
          <p:cNvPr id="4" name="Screen r04-form-evidence" descr="E:\Tender\tender-submission\build\shots-jpg\r04-form-evidence.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0"/>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9" name="Requirement 10"/>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Photographs, videos, PDFs and scanned documents</a:t>
            </a:r>
            <a:endParaRPr lang="en-US" sz="1059" dirty="0"/>
          </a:p>
        </p:txBody>
      </p:sp>
      <p:sp>
        <p:nvSpPr>
          <p:cNvPr id="10" name="Badge 11"/>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2" name="Requirement 11"/>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Metadata kept with each file</a:t>
            </a:r>
            <a:endParaRPr lang="en-US" sz="1059" dirty="0"/>
          </a:p>
        </p:txBody>
      </p:sp>
      <p:sp>
        <p:nvSpPr>
          <p:cNvPr id="13" name="Badge 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a:t>
            </a:r>
            <a:endParaRPr lang="en-US" sz="978" dirty="0"/>
          </a:p>
        </p:txBody>
      </p:sp>
      <p:sp>
        <p:nvSpPr>
          <p:cNvPr id="15" name="Requirement 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Registration</a:t>
            </a:r>
            <a:endParaRPr lang="en-US" sz="1059" dirty="0"/>
          </a:p>
          <a:p>
            <a:pPr indent="0" marL="0">
              <a:spcAft>
                <a:spcPts val="163"/>
              </a:spcAft>
              <a:buNone/>
            </a:pPr>
            <a:r>
              <a:rPr lang="en-US" sz="937" dirty="0">
                <a:solidFill>
                  <a:srgbClr val="5B6472"/>
                </a:solidFill>
              </a:rPr>
              <a:t>Save as draft or submit the report</a:t>
            </a:r>
            <a:endParaRPr lang="en-US" sz="1059"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Possible duplicate: warned before filing</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Reports from the same place on the same day are shown while the form is filled</a:t>
            </a:r>
            <a:endParaRPr lang="en-US" sz="1141" dirty="0"/>
          </a:p>
        </p:txBody>
      </p:sp>
      <p:pic>
        <p:nvPicPr>
          <p:cNvPr id="4" name="Screen r11-duplicate-location" descr="E:\Tender\tender-submission\build\shots-jpg\r11-duplicate-location.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Warning appears as soon as the place is chosen</a:t>
            </a:r>
            <a:endParaRPr lang="en-US" sz="978" dirty="0"/>
          </a:p>
        </p:txBody>
      </p:sp>
      <p:pic>
        <p:nvPicPr>
          <p:cNvPr id="7" name="Screen r12-duplicate-details" descr="E:\Tender\tender-submission\build\shots-jpg\r12-duplicate-detail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It stays visible in the details step</a:t>
            </a:r>
            <a:endParaRPr lang="en-US" sz="978" dirty="0"/>
          </a:p>
        </p:txBody>
      </p:sp>
      <p:sp>
        <p:nvSpPr>
          <p:cNvPr id="10" name="Badge 5"/>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a:t>
            </a:r>
            <a:endParaRPr lang="en-US" sz="978" dirty="0"/>
          </a:p>
        </p:txBody>
      </p:sp>
      <p:sp>
        <p:nvSpPr>
          <p:cNvPr id="12" name="Requirement 5"/>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Registration</a:t>
            </a:r>
            <a:endParaRPr lang="en-US" sz="978" dirty="0"/>
          </a:p>
          <a:p>
            <a:pPr indent="0" marL="0">
              <a:spcAft>
                <a:spcPts val="81"/>
              </a:spcAft>
              <a:buNone/>
            </a:pPr>
            <a:r>
              <a:rPr lang="en-US" sz="896" dirty="0">
                <a:solidFill>
                  <a:srgbClr val="5B6472"/>
                </a:solidFill>
              </a:rPr>
              <a:t>Data entry with checks before submission</a:t>
            </a:r>
            <a:endParaRPr lang="en-US" sz="978" dirty="0"/>
          </a:p>
        </p:txBody>
      </p:sp>
      <p:sp>
        <p:nvSpPr>
          <p:cNvPr id="13" name="Badge 2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Integrity</a:t>
            </a:r>
            <a:endParaRPr lang="en-US" sz="978" dirty="0"/>
          </a:p>
          <a:p>
            <a:pPr indent="0" marL="0">
              <a:spcAft>
                <a:spcPts val="81"/>
              </a:spcAft>
              <a:buNone/>
            </a:pPr>
            <a:r>
              <a:rPr lang="en-US" sz="896" dirty="0">
                <a:solidFill>
                  <a:srgbClr val="5B6472"/>
                </a:solidFill>
              </a:rPr>
              <a:t>Reduces double reporting of one event</a:t>
            </a:r>
            <a:endParaRPr lang="en-US" sz="978" dirty="0"/>
          </a:p>
        </p:txBody>
      </p:sp>
      <p:sp>
        <p:nvSpPr>
          <p:cNvPr id="16" name="Badge 16"/>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8" name="Requirement 16"/>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Search Facility</a:t>
            </a:r>
            <a:endParaRPr lang="en-US" sz="978" dirty="0"/>
          </a:p>
          <a:p>
            <a:pPr indent="0" marL="0">
              <a:spcAft>
                <a:spcPts val="81"/>
              </a:spcAft>
              <a:buNone/>
            </a:pPr>
            <a:r>
              <a:rPr lang="en-US" sz="896" dirty="0">
                <a:solidFill>
                  <a:srgbClr val="5B6472"/>
                </a:solidFill>
              </a:rPr>
              <a:t>Similar incidents found automatically</a:t>
            </a:r>
            <a:endParaRPr lang="en-US" sz="97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incident record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Unique reference, status, severity, overdue flag, all details, timeline and the actions allowed now</a:t>
            </a:r>
            <a:endParaRPr lang="en-US" sz="1141" dirty="0"/>
          </a:p>
        </p:txBody>
      </p:sp>
      <p:pic>
        <p:nvPicPr>
          <p:cNvPr id="4" name="Screen r05-incident-top" descr="E:\Tender\tender-submission\build\shots-jpg\r05-incident-top.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9" name="Requirement 1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Unique number BIRDS-&lt;year&gt;-NNNN</a:t>
            </a:r>
            <a:endParaRPr lang="en-US" sz="1059" dirty="0"/>
          </a:p>
        </p:txBody>
      </p:sp>
      <p:sp>
        <p:nvSpPr>
          <p:cNvPr id="10" name="Badge 7"/>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12" name="Requirement 7"/>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Details</a:t>
            </a:r>
            <a:endParaRPr lang="en-US" sz="1059" dirty="0"/>
          </a:p>
          <a:p>
            <a:pPr indent="0" marL="0">
              <a:spcAft>
                <a:spcPts val="163"/>
              </a:spcAft>
              <a:buNone/>
            </a:pPr>
            <a:r>
              <a:rPr lang="en-US" sz="937" dirty="0">
                <a:solidFill>
                  <a:srgbClr val="5B6472"/>
                </a:solidFill>
              </a:rPr>
              <a:t>All captured details in one view</a:t>
            </a:r>
            <a:endParaRPr lang="en-US" sz="1059" dirty="0"/>
          </a:p>
        </p:txBody>
      </p:sp>
      <p:sp>
        <p:nvSpPr>
          <p:cNvPr id="13" name="Badge 12"/>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5" name="Requirement 12"/>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Timeline</a:t>
            </a:r>
            <a:endParaRPr lang="en-US" sz="1059" dirty="0"/>
          </a:p>
          <a:p>
            <a:pPr indent="0" marL="0">
              <a:spcAft>
                <a:spcPts val="163"/>
              </a:spcAft>
              <a:buNone/>
            </a:pPr>
            <a:r>
              <a:rPr lang="en-US" sz="937" dirty="0">
                <a:solidFill>
                  <a:srgbClr val="5B6472"/>
                </a:solidFill>
              </a:rPr>
              <a:t>Chronological timeline</a:t>
            </a:r>
            <a:endParaRPr lang="en-US" sz="1059" dirty="0"/>
          </a:p>
        </p:txBody>
      </p:sp>
      <p:sp>
        <p:nvSpPr>
          <p:cNvPr id="16" name="Badge 43"/>
          <p:cNvSpPr/>
          <p:nvPr/>
        </p:nvSpPr>
        <p:spPr>
          <a:xfrm>
            <a:off x="7722701" y="4767411"/>
            <a:ext cx="461941" cy="253323"/>
          </a:xfrm>
          <a:prstGeom prst="roundRect">
            <a:avLst>
              <a:gd name="adj" fmla="val 17647"/>
            </a:avLst>
          </a:prstGeom>
          <a:solidFill>
            <a:srgbClr val="164716"/>
          </a:solidFill>
          <a:ln w="10348">
            <a:solidFill>
              <a:srgbClr val="164716"/>
            </a:solidFill>
            <a:prstDash val="solid"/>
          </a:ln>
        </p:spPr>
      </p:sp>
      <p:sp>
        <p:nvSpPr>
          <p:cNvPr id="17" name="Text 14"/>
          <p:cNvSpPr txBox="1"/>
          <p:nvPr/>
        </p:nvSpPr>
        <p:spPr>
          <a:xfrm>
            <a:off x="7722701" y="476741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8" name="Requirement 43"/>
          <p:cNvSpPr txBox="1"/>
          <p:nvPr/>
        </p:nvSpPr>
        <p:spPr>
          <a:xfrm>
            <a:off x="8281501" y="4737608"/>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title and narrative</a:t>
            </a:r>
            <a:endParaRPr lang="en-US" sz="105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Evidence with its metadata preserved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Photos shown in place with camera, capture time, size and SHA-256 fingerprint</a:t>
            </a:r>
            <a:endParaRPr lang="en-US" sz="1141" dirty="0"/>
          </a:p>
        </p:txBody>
      </p:sp>
      <p:pic>
        <p:nvPicPr>
          <p:cNvPr id="4" name="Screen r06-evidence-photos" descr="E:\Tender\tender-submission\build\shots-jpg\r06-evidence-photo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0"/>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9" name="Requirement 10"/>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Evidence stored against the incident</a:t>
            </a:r>
            <a:endParaRPr lang="en-US" sz="1059" dirty="0"/>
          </a:p>
        </p:txBody>
      </p:sp>
      <p:sp>
        <p:nvSpPr>
          <p:cNvPr id="10" name="Badge 11"/>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2" name="Requirement 11"/>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EXIF camera and date, file size, upload time, SHA-256</a:t>
            </a:r>
            <a:endParaRPr lang="en-US" sz="1059" dirty="0"/>
          </a:p>
        </p:txBody>
      </p:sp>
      <p:sp>
        <p:nvSpPr>
          <p:cNvPr id="13" name="Badge 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5" name="Requirement 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Related incidents nearby, on the right</a:t>
            </a:r>
            <a:endParaRPr lang="en-US" sz="1059"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Reports and office documents as evidence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Word, Excel, PowerPoint, OpenDocument and RTF files, with their author and dates; macro-enabled files refused</a:t>
            </a:r>
            <a:endParaRPr lang="en-US" sz="1141" dirty="0"/>
          </a:p>
        </p:txBody>
      </p:sp>
      <p:pic>
        <p:nvPicPr>
          <p:cNvPr id="4" name="Screen r11-evidence-office" descr="E:\Tender\tender-submission\build\shots-jpg\r11-evidence-office.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0"/>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9" name="Requirement 10"/>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Reports and other documents attached</a:t>
            </a:r>
            <a:endParaRPr lang="en-US" sz="1059" dirty="0"/>
          </a:p>
        </p:txBody>
      </p:sp>
      <p:sp>
        <p:nvSpPr>
          <p:cNvPr id="10" name="Badge 11"/>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2" name="Requirement 11"/>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Document author, created and modified kept</a:t>
            </a:r>
            <a:endParaRPr lang="en-US" sz="1059" dirty="0"/>
          </a:p>
        </p:txBody>
      </p:sp>
      <p:sp>
        <p:nvSpPr>
          <p:cNvPr id="13" name="Badge 49"/>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#49</a:t>
            </a:r>
            <a:endParaRPr lang="en-US" sz="978" dirty="0"/>
          </a:p>
        </p:txBody>
      </p:sp>
      <p:sp>
        <p:nvSpPr>
          <p:cNvPr id="15" name="Requirement 49"/>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Security Hardening</a:t>
            </a:r>
            <a:endParaRPr lang="en-US" sz="1059" dirty="0"/>
          </a:p>
          <a:p>
            <a:pPr indent="0" marL="0">
              <a:spcAft>
                <a:spcPts val="163"/>
              </a:spcAft>
              <a:buNone/>
            </a:pPr>
            <a:r>
              <a:rPr lang="en-US" sz="937" dirty="0">
                <a:solidFill>
                  <a:srgbClr val="5B6472"/>
                </a:solidFill>
              </a:rPr>
              <a:t>Type checked on the content; macros refused</a:t>
            </a:r>
            <a:endParaRPr lang="en-US" sz="1059"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Video evidence and full-size photos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Videos play in the page; photos open full size from the copy already loaded</a:t>
            </a:r>
            <a:endParaRPr lang="en-US" sz="1141" dirty="0"/>
          </a:p>
        </p:txBody>
      </p:sp>
      <p:pic>
        <p:nvPicPr>
          <p:cNvPr id="4" name="Screen r07-evidence-video" descr="E:\Tender\tender-submission\build\shots-jpg\r07-evidence-video.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Night video of the drone sighting</a:t>
            </a:r>
            <a:endParaRPr lang="en-US" sz="978" dirty="0"/>
          </a:p>
        </p:txBody>
      </p:sp>
      <p:pic>
        <p:nvPicPr>
          <p:cNvPr id="7" name="Screen r09-evidence-enlarged" descr="E:\Tender\tender-submission\build\shots-jpg\r09-evidence-enlarged.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Photo opened full size</a:t>
            </a:r>
            <a:endParaRPr lang="en-US" sz="978" dirty="0"/>
          </a:p>
        </p:txBody>
      </p:sp>
      <p:sp>
        <p:nvSpPr>
          <p:cNvPr id="10" name="Badge 10"/>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2" name="Requirement 10"/>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Evidence &amp; Document Management</a:t>
            </a:r>
            <a:endParaRPr lang="en-US" sz="978" dirty="0"/>
          </a:p>
          <a:p>
            <a:pPr indent="0" marL="0">
              <a:spcAft>
                <a:spcPts val="81"/>
              </a:spcAft>
              <a:buNone/>
            </a:pPr>
            <a:r>
              <a:rPr lang="en-US" sz="896" dirty="0">
                <a:solidFill>
                  <a:srgbClr val="5B6472"/>
                </a:solidFill>
              </a:rPr>
              <a:t>Video evidence stored and played</a:t>
            </a:r>
            <a:endParaRPr lang="en-US" sz="978" dirty="0"/>
          </a:p>
        </p:txBody>
      </p:sp>
      <p:sp>
        <p:nvSpPr>
          <p:cNvPr id="13" name="Badge 11"/>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5" name="Requirement 11"/>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Media Metadata</a:t>
            </a:r>
            <a:endParaRPr lang="en-US" sz="978" dirty="0"/>
          </a:p>
          <a:p>
            <a:pPr indent="0" marL="0">
              <a:spcAft>
                <a:spcPts val="81"/>
              </a:spcAft>
              <a:buNone/>
            </a:pPr>
            <a:r>
              <a:rPr lang="en-US" sz="896" dirty="0">
                <a:solidFill>
                  <a:srgbClr val="5B6472"/>
                </a:solidFill>
              </a:rPr>
              <a:t>Original file kept unchanged</a:t>
            </a:r>
            <a:endParaRPr lang="en-US" sz="978" dirty="0"/>
          </a:p>
        </p:txBody>
      </p:sp>
      <p:sp>
        <p:nvSpPr>
          <p:cNvPr id="16" name="Badge 2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8" name="Requirement 2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Each view of evidence audited</a:t>
            </a:r>
            <a:endParaRPr lang="en-US" sz="97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Integrity check: the file is unchanged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Verify re-reads the stored file and compares it with the fingerprint taken at upload</a:t>
            </a:r>
            <a:endParaRPr lang="en-US" sz="1141" dirty="0"/>
          </a:p>
        </p:txBody>
      </p:sp>
      <p:pic>
        <p:nvPicPr>
          <p:cNvPr id="4" name="Screen r08-evidence-verify" descr="E:\Tender\tender-submission\build\shots-jpg\r08-evidence-verify.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9" name="Requirement 2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Proves evidence was not altered</a:t>
            </a:r>
            <a:endParaRPr lang="en-US" sz="1059" dirty="0"/>
          </a:p>
        </p:txBody>
      </p:sp>
      <p:sp>
        <p:nvSpPr>
          <p:cNvPr id="10" name="Badge 11"/>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2" name="Requirement 11"/>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SHA-256 fingerprint kept with each file</a:t>
            </a:r>
            <a:endParaRPr lang="en-US" sz="1059" dirty="0"/>
          </a:p>
        </p:txBody>
      </p:sp>
      <p:sp>
        <p:nvSpPr>
          <p:cNvPr id="13" name="Badge 2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#27</a:t>
            </a:r>
            <a:endParaRPr lang="en-US" sz="978" dirty="0"/>
          </a:p>
        </p:txBody>
      </p:sp>
      <p:sp>
        <p:nvSpPr>
          <p:cNvPr id="15" name="Requirement 2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Encryption</a:t>
            </a:r>
            <a:endParaRPr lang="en-US" sz="1059" dirty="0"/>
          </a:p>
          <a:p>
            <a:pPr indent="0" marL="0">
              <a:spcAft>
                <a:spcPts val="163"/>
              </a:spcAft>
              <a:buNone/>
            </a:pPr>
            <a:r>
              <a:rPr lang="en-US" sz="937" dirty="0">
                <a:solidFill>
                  <a:srgbClr val="5B6472"/>
                </a:solidFill>
              </a:rPr>
              <a:t>Files encrypted at rest (AES-256-GCM)</a:t>
            </a:r>
            <a:endParaRPr lang="en-US" sz="1059"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Documents as evidence: the seizure list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Scanned or generated documents attached as PDF; Bangla text kept exactly</a:t>
            </a:r>
            <a:endParaRPr lang="en-US" sz="1141" dirty="0"/>
          </a:p>
        </p:txBody>
      </p:sp>
      <p:pic>
        <p:nvPicPr>
          <p:cNvPr id="4" name="Screen pdf-seizure-list-p01" descr="E:\Tender\tender-submission\build\shots-jpg\pdf-seizure-list-p01.jpg">    </p:cNvPr>
          <p:cNvPicPr>
            <a:picLocks noChangeAspect="1"/>
          </p:cNvPicPr>
          <p:nvPr/>
        </p:nvPicPr>
        <p:blipFill>
          <a:blip r:embed="rId1"/>
          <a:stretch>
            <a:fillRect/>
          </a:stretch>
        </p:blipFill>
        <p:spPr>
          <a:xfrm>
            <a:off x="3230073" y="1891453"/>
            <a:ext cx="2503175"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3230073" y="1891453"/>
            <a:ext cx="2503175" cy="3539067"/>
          </a:xfrm>
          <a:prstGeom prst="rect">
            <a:avLst/>
          </a:prstGeom>
          <a:ln w="7761">
            <a:solidFill>
              <a:srgbClr val="D7DED8"/>
            </a:solidFill>
            <a:prstDash val="solid"/>
          </a:ln>
        </p:spPr>
      </p:sp>
      <p:sp>
        <p:nvSpPr>
          <p:cNvPr id="6" name="Caption"/>
          <p:cNvSpPr txBox="1"/>
          <p:nvPr/>
        </p:nvSpPr>
        <p:spPr>
          <a:xfrm>
            <a:off x="3230073" y="5490125"/>
            <a:ext cx="2503175" cy="238421"/>
          </a:xfrm>
          <a:prstGeom prst="rect">
            <a:avLst/>
          </a:prstGeom>
          <a:noFill/>
          <a:ln/>
        </p:spPr>
        <p:txBody>
          <a:bodyPr wrap="square" lIns="0" tIns="0" rIns="0" bIns="0" rtlCol="0" anchor="ctr"/>
          <a:lstStyle/>
          <a:p>
            <a:pPr indent="0" marL="0">
              <a:buNone/>
            </a:pPr>
            <a:r>
              <a:rPr lang="en-US" sz="978" dirty="0">
                <a:solidFill>
                  <a:srgbClr val="5B6472"/>
                </a:solidFill>
              </a:rPr>
              <a:t>Seizure list (জব্দ তালিকা) attached to BIRDS-2026-1067</a:t>
            </a:r>
            <a:endParaRPr lang="en-US" sz="978" dirty="0"/>
          </a:p>
        </p:txBody>
      </p:sp>
      <p:sp>
        <p:nvSpPr>
          <p:cNvPr id="7"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8" name="Badge 10"/>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9" name="Text 6"/>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0" name="Requirement 10"/>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Scanned documents and PDFs attached</a:t>
            </a:r>
            <a:endParaRPr lang="en-US" sz="1059" dirty="0"/>
          </a:p>
        </p:txBody>
      </p:sp>
      <p:sp>
        <p:nvSpPr>
          <p:cNvPr id="11" name="Badge 43"/>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2" name="Text 9"/>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3" name="Requirement 43"/>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documents kept and displayed</a:t>
            </a:r>
            <a:endParaRPr lang="en-US" sz="1059" dirty="0"/>
          </a:p>
        </p:txBody>
      </p:sp>
      <p:sp>
        <p:nvSpPr>
          <p:cNvPr id="14" name="Badge 11"/>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5" name="Text 12"/>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6" name="Requirement 11"/>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Document stored with its fingerprint</a:t>
            </a:r>
            <a:endParaRPr lang="en-US" sz="1059"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Location map and discussion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incident on the map; comments from reviewers and the filing officer, kept on record</a:t>
            </a:r>
            <a:endParaRPr lang="en-US" sz="1141" dirty="0"/>
          </a:p>
        </p:txBody>
      </p:sp>
      <p:pic>
        <p:nvPicPr>
          <p:cNvPr id="4" name="Screen r10-location-related" descr="E:\Tender\tender-submission\build\shots-jpg\r10-location-related.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9" name="Requirement 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Incident shown on the map</a:t>
            </a:r>
            <a:endParaRPr lang="en-US" sz="1059" dirty="0"/>
          </a:p>
        </p:txBody>
      </p:sp>
      <p:sp>
        <p:nvSpPr>
          <p:cNvPr id="10" name="Badge 1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2" name="Requirement 1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Timeline</a:t>
            </a:r>
            <a:endParaRPr lang="en-US" sz="1059" dirty="0"/>
          </a:p>
          <a:p>
            <a:pPr indent="0" marL="0">
              <a:spcAft>
                <a:spcPts val="163"/>
              </a:spcAft>
              <a:buNone/>
            </a:pPr>
            <a:r>
              <a:rPr lang="en-US" sz="937" dirty="0">
                <a:solidFill>
                  <a:srgbClr val="5B6472"/>
                </a:solidFill>
              </a:rPr>
              <a:t>Comments part of the record</a:t>
            </a:r>
            <a:endParaRPr lang="en-US" sz="1059" dirty="0"/>
          </a:p>
        </p:txBody>
      </p:sp>
      <p:sp>
        <p:nvSpPr>
          <p:cNvPr id="13" name="Badge 2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5" name="Requirement 2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Notifications</a:t>
            </a:r>
            <a:endParaRPr lang="en-US" sz="1059" dirty="0"/>
          </a:p>
          <a:p>
            <a:pPr indent="0" marL="0">
              <a:spcAft>
                <a:spcPts val="163"/>
              </a:spcAft>
              <a:buNone/>
            </a:pPr>
            <a:r>
              <a:rPr lang="en-US" sz="937" dirty="0">
                <a:solidFill>
                  <a:srgbClr val="5B6472"/>
                </a:solidFill>
              </a:rPr>
              <a:t>Participants notified of comments</a:t>
            </a:r>
            <a:endParaRPr lang="en-US" sz="1059"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03</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Workflow and verification</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12–14, 23, 25</a:t>
            </a:r>
            <a:endParaRPr lang="en-US" sz="1467"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workflow and who may act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Draft → Submitted → Reviewed → Verified → Approved → Closed, with Return and Reject</a:t>
            </a:r>
            <a:endParaRPr lang="en-US" sz="1141" dirty="0"/>
          </a:p>
        </p:txBody>
      </p:sp>
      <p:pic>
        <p:nvPicPr>
          <p:cNvPr id="4" name="Screen w01-workflow-rules" descr="E:\Tender\tender-submission\build\shots-jpg\w01-workflow-rule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9" name="Requirement 1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Workflow Management</a:t>
            </a:r>
            <a:endParaRPr lang="en-US" sz="1059" dirty="0"/>
          </a:p>
          <a:p>
            <a:pPr indent="0" marL="0">
              <a:spcAft>
                <a:spcPts val="163"/>
              </a:spcAft>
              <a:buNone/>
            </a:pPr>
            <a:r>
              <a:rPr lang="en-US" sz="937" dirty="0">
                <a:solidFill>
                  <a:srgbClr val="5B6472"/>
                </a:solidFill>
              </a:rPr>
              <a:t>Draft, Submitted, Reviewed, Verified, Approved, Closed</a:t>
            </a:r>
            <a:endParaRPr lang="en-US" sz="1059" dirty="0"/>
          </a:p>
        </p:txBody>
      </p:sp>
      <p:sp>
        <p:nvSpPr>
          <p:cNvPr id="10" name="Badge 1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Review, return, verify, approve, reject</a:t>
            </a:r>
            <a:endParaRPr lang="en-US" sz="1059" dirty="0"/>
          </a:p>
        </p:txBody>
      </p:sp>
      <p:sp>
        <p:nvSpPr>
          <p:cNvPr id="13" name="Badge 2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Separation of duties</a:t>
            </a:r>
            <a:endParaRPr lang="en-US" sz="1059"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Work queue: what waits for me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"Needs my action" lists the reports this officer must act on now, with overdue flags</a:t>
            </a:r>
            <a:endParaRPr lang="en-US" sz="1141" dirty="0"/>
          </a:p>
        </p:txBody>
      </p:sp>
      <p:pic>
        <p:nvPicPr>
          <p:cNvPr id="4" name="Screen w02-needs-action" descr="E:\Tender\tender-submission\build\shots-jpg\w02-needs-actio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9" name="Requirement 1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Supervisors find reports to review, verify, approve</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Views and filters for tracking</a:t>
            </a:r>
            <a:endParaRPr lang="en-US" sz="1059" dirty="0"/>
          </a:p>
        </p:txBody>
      </p:sp>
      <p:sp>
        <p:nvSpPr>
          <p:cNvPr id="13" name="Badge 1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15" name="Requirement 1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Workflow Management</a:t>
            </a:r>
            <a:endParaRPr lang="en-US" sz="1059" dirty="0"/>
          </a:p>
          <a:p>
            <a:pPr indent="0" marL="0">
              <a:spcAft>
                <a:spcPts val="163"/>
              </a:spcAft>
              <a:buNone/>
            </a:pPr>
            <a:r>
              <a:rPr lang="en-US" sz="937" dirty="0">
                <a:solidFill>
                  <a:srgbClr val="5B6472"/>
                </a:solidFill>
              </a:rPr>
              <a:t>Overdue items flagged</a:t>
            </a:r>
            <a:endParaRPr lang="en-US" sz="1059"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Review and verify: actions by role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same page shows different buttons to each officer at each stage</a:t>
            </a:r>
            <a:endParaRPr lang="en-US" sz="1141" dirty="0"/>
          </a:p>
        </p:txBody>
      </p:sp>
      <p:pic>
        <p:nvPicPr>
          <p:cNvPr id="4" name="Screen w03-review-actions" descr="E:\Tender\tender-submission\build\shots-jpg\w03-review-actions.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Sector officer: Modify report, Review, Return, Reject</a:t>
            </a:r>
            <a:endParaRPr lang="en-US" sz="978" dirty="0"/>
          </a:p>
        </p:txBody>
      </p:sp>
      <p:pic>
        <p:nvPicPr>
          <p:cNvPr id="7" name="Screen w09-verify-actions" descr="E:\Tender\tender-submission\build\shots-jpg\w09-verify-action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Verifier: Modify report, Verify, Return, Reject</a:t>
            </a:r>
            <a:endParaRPr lang="en-US" sz="978" dirty="0"/>
          </a:p>
        </p:txBody>
      </p:sp>
      <p:sp>
        <p:nvSpPr>
          <p:cNvPr id="10" name="Badge 1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Verification &amp; Approval</a:t>
            </a:r>
            <a:endParaRPr lang="en-US" sz="978" dirty="0"/>
          </a:p>
          <a:p>
            <a:pPr indent="0" marL="0">
              <a:spcAft>
                <a:spcPts val="81"/>
              </a:spcAft>
              <a:buNone/>
            </a:pPr>
            <a:r>
              <a:rPr lang="en-US" sz="896" dirty="0">
                <a:solidFill>
                  <a:srgbClr val="5B6472"/>
                </a:solidFill>
              </a:rPr>
              <a:t>Supervisory review and verification</a:t>
            </a:r>
            <a:endParaRPr lang="en-US" sz="978" dirty="0"/>
          </a:p>
        </p:txBody>
      </p:sp>
      <p:sp>
        <p:nvSpPr>
          <p:cNvPr id="13" name="Badge 13"/>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15" name="Requirement 13"/>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Workflow Management</a:t>
            </a:r>
            <a:endParaRPr lang="en-US" sz="978" dirty="0"/>
          </a:p>
          <a:p>
            <a:pPr indent="0" marL="0">
              <a:spcAft>
                <a:spcPts val="81"/>
              </a:spcAft>
              <a:buNone/>
            </a:pPr>
            <a:r>
              <a:rPr lang="en-US" sz="896" dirty="0">
                <a:solidFill>
                  <a:srgbClr val="5B6472"/>
                </a:solidFill>
              </a:rPr>
              <a:t>Only actions allowed at this stage</a:t>
            </a:r>
            <a:endParaRPr lang="en-US" sz="978" dirty="0"/>
          </a:p>
        </p:txBody>
      </p:sp>
      <p:sp>
        <p:nvSpPr>
          <p:cNvPr id="16" name="Badge 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8" name="Requirement 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User Management</a:t>
            </a:r>
            <a:endParaRPr lang="en-US" sz="978" dirty="0"/>
          </a:p>
          <a:p>
            <a:pPr indent="0" marL="0">
              <a:spcAft>
                <a:spcPts val="81"/>
              </a:spcAft>
              <a:buNone/>
            </a:pPr>
            <a:r>
              <a:rPr lang="en-US" sz="896" dirty="0">
                <a:solidFill>
                  <a:srgbClr val="5B6472"/>
                </a:solidFill>
              </a:rPr>
              <a:t>Authority by role and scope</a:t>
            </a:r>
            <a:endParaRPr lang="en-US" sz="97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 supervisor modifies the report before approval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Possible while it is submitted, reviewed or verified, for the officer who may act at that stage</a:t>
            </a:r>
            <a:endParaRPr lang="en-US" sz="1141" dirty="0"/>
          </a:p>
        </p:txBody>
      </p:sp>
      <p:pic>
        <p:nvPicPr>
          <p:cNvPr id="4" name="Screen w12-modify-form" descr="E:\Tender\tender-submission\build\shots-jpg\w12-modify-form.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"Modify report": the form with a notice</a:t>
            </a:r>
            <a:endParaRPr lang="en-US" sz="978" dirty="0"/>
          </a:p>
        </p:txBody>
      </p:sp>
      <p:pic>
        <p:nvPicPr>
          <p:cNvPr id="7" name="Screen w13-modify-reason" descr="E:\Tender\tender-submission\build\shots-jpg\w13-modify-reason.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 reason is required to save</a:t>
            </a:r>
            <a:endParaRPr lang="en-US" sz="978" dirty="0"/>
          </a:p>
        </p:txBody>
      </p:sp>
      <p:sp>
        <p:nvSpPr>
          <p:cNvPr id="10" name="Badge 1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Verification &amp; Approval</a:t>
            </a:r>
            <a:endParaRPr lang="en-US" sz="978" dirty="0"/>
          </a:p>
          <a:p>
            <a:pPr indent="0" marL="0">
              <a:spcAft>
                <a:spcPts val="81"/>
              </a:spcAft>
              <a:buNone/>
            </a:pPr>
            <a:r>
              <a:rPr lang="en-US" sz="896" dirty="0">
                <a:solidFill>
                  <a:srgbClr val="5B6472"/>
                </a:solidFill>
              </a:rPr>
              <a:t>Review, return, modify, verify, approve, reject</a:t>
            </a:r>
            <a:endParaRPr lang="en-US" sz="978" dirty="0"/>
          </a:p>
        </p:txBody>
      </p:sp>
      <p:sp>
        <p:nvSpPr>
          <p:cNvPr id="13" name="Badge 2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Integrity</a:t>
            </a:r>
            <a:endParaRPr lang="en-US" sz="978" dirty="0"/>
          </a:p>
          <a:p>
            <a:pPr indent="0" marL="0">
              <a:spcAft>
                <a:spcPts val="81"/>
              </a:spcAft>
              <a:buNone/>
            </a:pPr>
            <a:r>
              <a:rPr lang="en-US" sz="896" dirty="0">
                <a:solidFill>
                  <a:srgbClr val="5B6472"/>
                </a:solidFill>
              </a:rPr>
              <a:t>Never after approval; never one's own report</a:t>
            </a:r>
            <a:endParaRPr lang="en-US" sz="978" dirty="0"/>
          </a:p>
        </p:txBody>
      </p:sp>
      <p:sp>
        <p:nvSpPr>
          <p:cNvPr id="16" name="Badge 1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18" name="Requirement 1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Workflow Management</a:t>
            </a:r>
            <a:endParaRPr lang="en-US" sz="978" dirty="0"/>
          </a:p>
          <a:p>
            <a:pPr indent="0" marL="0">
              <a:spcAft>
                <a:spcPts val="81"/>
              </a:spcAft>
              <a:buNone/>
            </a:pPr>
            <a:r>
              <a:rPr lang="en-US" sz="896" dirty="0">
                <a:solidFill>
                  <a:srgbClr val="5B6472"/>
                </a:solidFill>
              </a:rPr>
              <a:t>Authority-based action at each stage</a:t>
            </a:r>
            <a:endParaRPr lang="en-US" sz="978"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modification is on record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Timeline entry with the reason; audit entry with each field's old and new value; the filer is notified</a:t>
            </a:r>
            <a:endParaRPr lang="en-US" sz="1141" dirty="0"/>
          </a:p>
        </p:txBody>
      </p:sp>
      <p:pic>
        <p:nvPicPr>
          <p:cNvPr id="4" name="Screen w14-modify-timeline" descr="E:\Tender\tender-submission\build\shots-jpg\w14-modify-timeline.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"Modified by reviewer" in the timeline</a:t>
            </a:r>
            <a:endParaRPr lang="en-US" sz="978" dirty="0"/>
          </a:p>
        </p:txBody>
      </p:sp>
      <p:pic>
        <p:nvPicPr>
          <p:cNvPr id="7" name="Screen u06-audit-modify" descr="E:\Tender\tender-submission\build\shots-jpg\u06-audit-modify.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Audit trail: severity "Medium" → "High"</a:t>
            </a:r>
            <a:endParaRPr lang="en-US" sz="978" dirty="0"/>
          </a:p>
        </p:txBody>
      </p:sp>
      <p:sp>
        <p:nvSpPr>
          <p:cNvPr id="10" name="Badge 1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Verification &amp; Approval</a:t>
            </a:r>
            <a:endParaRPr lang="en-US" sz="978" dirty="0"/>
          </a:p>
          <a:p>
            <a:pPr indent="0" marL="0">
              <a:spcAft>
                <a:spcPts val="81"/>
              </a:spcAft>
              <a:buNone/>
            </a:pPr>
            <a:r>
              <a:rPr lang="en-US" sz="896" dirty="0">
                <a:solidFill>
                  <a:srgbClr val="5B6472"/>
                </a:solidFill>
              </a:rPr>
              <a:t>Supervisory modification</a:t>
            </a:r>
            <a:endParaRPr lang="en-US" sz="978" dirty="0"/>
          </a:p>
        </p:txBody>
      </p:sp>
      <p:sp>
        <p:nvSpPr>
          <p:cNvPr id="13" name="Badge 12"/>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5" name="Requirement 12"/>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Timeline</a:t>
            </a:r>
            <a:endParaRPr lang="en-US" sz="978" dirty="0"/>
          </a:p>
          <a:p>
            <a:pPr indent="0" marL="0">
              <a:spcAft>
                <a:spcPts val="81"/>
              </a:spcAft>
              <a:buNone/>
            </a:pPr>
            <a:r>
              <a:rPr lang="en-US" sz="896" dirty="0">
                <a:solidFill>
                  <a:srgbClr val="5B6472"/>
                </a:solidFill>
              </a:rPr>
              <a:t>Change and reason in the history</a:t>
            </a:r>
            <a:endParaRPr lang="en-US" sz="978" dirty="0"/>
          </a:p>
        </p:txBody>
      </p:sp>
      <p:sp>
        <p:nvSpPr>
          <p:cNvPr id="16" name="Badge 2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8" name="Requirement 2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Tamper-evident audit of the change</a:t>
            </a:r>
            <a:endParaRPr lang="en-US" sz="978"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Return for correction, or reject, with a reason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 reason is required; it is kept in the timeline and sent to the filing officer</a:t>
            </a:r>
            <a:endParaRPr lang="en-US" sz="1141" dirty="0"/>
          </a:p>
        </p:txBody>
      </p:sp>
      <p:pic>
        <p:nvPicPr>
          <p:cNvPr id="4" name="Screen w04-return-dialog" descr="E:\Tender\tender-submission\build\shots-jpg\w04-return-dialog.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Return: reason in English and Bangla</a:t>
            </a:r>
            <a:endParaRPr lang="en-US" sz="978" dirty="0"/>
          </a:p>
        </p:txBody>
      </p:sp>
      <p:pic>
        <p:nvPicPr>
          <p:cNvPr id="7" name="Screen w05-reject-dialog" descr="E:\Tender\tender-submission\build\shots-jpg\w05-reject-dialog.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Reject: reason required</a:t>
            </a:r>
            <a:endParaRPr lang="en-US" sz="978" dirty="0"/>
          </a:p>
        </p:txBody>
      </p:sp>
      <p:sp>
        <p:nvSpPr>
          <p:cNvPr id="10" name="Badge 1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Verification &amp; Approval</a:t>
            </a:r>
            <a:endParaRPr lang="en-US" sz="978" dirty="0"/>
          </a:p>
          <a:p>
            <a:pPr indent="0" marL="0">
              <a:spcAft>
                <a:spcPts val="81"/>
              </a:spcAft>
              <a:buNone/>
            </a:pPr>
            <a:r>
              <a:rPr lang="en-US" sz="896" dirty="0">
                <a:solidFill>
                  <a:srgbClr val="5B6472"/>
                </a:solidFill>
              </a:rPr>
              <a:t>Return and reject by supervisors</a:t>
            </a:r>
            <a:endParaRPr lang="en-US" sz="978" dirty="0"/>
          </a:p>
        </p:txBody>
      </p:sp>
      <p:sp>
        <p:nvSpPr>
          <p:cNvPr id="13" name="Badge 12"/>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5" name="Requirement 12"/>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Timeline</a:t>
            </a:r>
            <a:endParaRPr lang="en-US" sz="978" dirty="0"/>
          </a:p>
          <a:p>
            <a:pPr indent="0" marL="0">
              <a:spcAft>
                <a:spcPts val="81"/>
              </a:spcAft>
              <a:buNone/>
            </a:pPr>
            <a:r>
              <a:rPr lang="en-US" sz="896" dirty="0">
                <a:solidFill>
                  <a:srgbClr val="5B6472"/>
                </a:solidFill>
              </a:rPr>
              <a:t>Reason recorded in the history</a:t>
            </a:r>
            <a:endParaRPr lang="en-US" sz="978" dirty="0"/>
          </a:p>
        </p:txBody>
      </p:sp>
      <p:sp>
        <p:nvSpPr>
          <p:cNvPr id="16" name="Badge 2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8" name="Requirement 2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Notifications</a:t>
            </a:r>
            <a:endParaRPr lang="en-US" sz="978" dirty="0"/>
          </a:p>
          <a:p>
            <a:pPr indent="0" marL="0">
              <a:spcAft>
                <a:spcPts val="81"/>
              </a:spcAft>
              <a:buNone/>
            </a:pPr>
            <a:r>
              <a:rPr lang="en-US" sz="896" dirty="0">
                <a:solidFill>
                  <a:srgbClr val="5B6472"/>
                </a:solidFill>
              </a:rPr>
              <a:t>Filing officer notified</a:t>
            </a:r>
            <a:endParaRPr lang="en-US" sz="978"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Filing officer corrects and resubmits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 banner states who returned the report, when and why; the filer corrects it and resubmits</a:t>
            </a:r>
            <a:endParaRPr lang="en-US" sz="1141" dirty="0"/>
          </a:p>
        </p:txBody>
      </p:sp>
      <p:pic>
        <p:nvPicPr>
          <p:cNvPr id="4" name="Screen w07-returned-banner" descr="E:\Tender\tender-submission\build\shots-jpg\w07-returned-banner.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9" name="Requirement 1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Correct after return, then resubmit</a:t>
            </a:r>
            <a:endParaRPr lang="en-US" sz="1059" dirty="0"/>
          </a:p>
        </p:txBody>
      </p:sp>
      <p:sp>
        <p:nvSpPr>
          <p:cNvPr id="10" name="Badge 2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2" name="Requirement 2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The filer edits only while Draft or Returned</a:t>
            </a:r>
            <a:endParaRPr lang="en-US" sz="1059" dirty="0"/>
          </a:p>
        </p:txBody>
      </p:sp>
      <p:sp>
        <p:nvSpPr>
          <p:cNvPr id="13" name="Badge 12"/>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5" name="Requirement 12"/>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Timeline</a:t>
            </a:r>
            <a:endParaRPr lang="en-US" sz="1059" dirty="0"/>
          </a:p>
          <a:p>
            <a:pPr indent="0" marL="0">
              <a:spcAft>
                <a:spcPts val="163"/>
              </a:spcAft>
              <a:buNone/>
            </a:pPr>
            <a:r>
              <a:rPr lang="en-US" sz="937" dirty="0">
                <a:solidFill>
                  <a:srgbClr val="5B6472"/>
                </a:solidFill>
              </a:rPr>
              <a:t>Return, edit and resubmission in the timeline</a:t>
            </a:r>
            <a:endParaRPr lang="en-US" sz="1059"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Approval and closure by HQ</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Approved reports wait for the HQ administrator to close them</a:t>
            </a:r>
            <a:endParaRPr lang="en-US" sz="1141" dirty="0"/>
          </a:p>
        </p:txBody>
      </p:sp>
      <p:pic>
        <p:nvPicPr>
          <p:cNvPr id="4" name="Screen w13-close-action" descr="E:\Tender\tender-submission\build\shots-jpg\w13-close-actio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9" name="Requirement 1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Workflow Management</a:t>
            </a:r>
            <a:endParaRPr lang="en-US" sz="1059" dirty="0"/>
          </a:p>
          <a:p>
            <a:pPr indent="0" marL="0">
              <a:spcAft>
                <a:spcPts val="163"/>
              </a:spcAft>
              <a:buNone/>
            </a:pPr>
            <a:r>
              <a:rPr lang="en-US" sz="937" dirty="0">
                <a:solidFill>
                  <a:srgbClr val="5B6472"/>
                </a:solidFill>
              </a:rPr>
              <a:t>Approved → Closed</a:t>
            </a:r>
            <a:endParaRPr lang="en-US" sz="1059" dirty="0"/>
          </a:p>
        </p:txBody>
      </p:sp>
      <p:sp>
        <p:nvSpPr>
          <p:cNvPr id="10" name="Badge 1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Final approval by the authorised officer</a:t>
            </a:r>
            <a:endParaRPr lang="en-US" sz="1059" dirty="0"/>
          </a:p>
        </p:txBody>
      </p:sp>
      <p:sp>
        <p:nvSpPr>
          <p:cNvPr id="13" name="Badge 2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Closed records cannot be modified</a:t>
            </a:r>
            <a:endParaRPr lang="en-US" sz="1059"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Chronological history and comments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step with officer, time and notes; append-only at database level</a:t>
            </a:r>
            <a:endParaRPr lang="en-US" sz="1141" dirty="0"/>
          </a:p>
        </p:txBody>
      </p:sp>
      <p:pic>
        <p:nvPicPr>
          <p:cNvPr id="4" name="Screen w10-timeline" descr="E:\Tender\tender-submission\build\shots-jpg\w10-timeline.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Timeline: returned, edited, resubmitted, reviewed, verified, approved</a:t>
            </a:r>
            <a:endParaRPr lang="en-US" sz="978" dirty="0"/>
          </a:p>
        </p:txBody>
      </p:sp>
      <p:pic>
        <p:nvPicPr>
          <p:cNvPr id="7" name="Screen w11-comments" descr="E:\Tender\tender-submission\build\shots-jpg\w11-comment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Comments from reviewer and filer</a:t>
            </a:r>
            <a:endParaRPr lang="en-US" sz="978" dirty="0"/>
          </a:p>
        </p:txBody>
      </p:sp>
      <p:sp>
        <p:nvSpPr>
          <p:cNvPr id="10" name="Badge 12"/>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2" name="Requirement 12"/>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Timeline</a:t>
            </a:r>
            <a:endParaRPr lang="en-US" sz="978" dirty="0"/>
          </a:p>
          <a:p>
            <a:pPr indent="0" marL="0">
              <a:spcAft>
                <a:spcPts val="81"/>
              </a:spcAft>
              <a:buNone/>
            </a:pPr>
            <a:r>
              <a:rPr lang="en-US" sz="896" dirty="0">
                <a:solidFill>
                  <a:srgbClr val="5B6472"/>
                </a:solidFill>
              </a:rPr>
              <a:t>Reporting, review, verification, approval, closure</a:t>
            </a:r>
            <a:endParaRPr lang="en-US" sz="978" dirty="0"/>
          </a:p>
        </p:txBody>
      </p:sp>
      <p:sp>
        <p:nvSpPr>
          <p:cNvPr id="13" name="Badge 2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Integrity</a:t>
            </a:r>
            <a:endParaRPr lang="en-US" sz="978" dirty="0"/>
          </a:p>
          <a:p>
            <a:pPr indent="0" marL="0">
              <a:spcAft>
                <a:spcPts val="81"/>
              </a:spcAft>
              <a:buNone/>
            </a:pPr>
            <a:r>
              <a:rPr lang="en-US" sz="896" dirty="0">
                <a:solidFill>
                  <a:srgbClr val="5B6472"/>
                </a:solidFill>
              </a:rPr>
              <a:t>History cannot be edited or deleted</a:t>
            </a:r>
            <a:endParaRPr lang="en-US" sz="978" dirty="0"/>
          </a:p>
        </p:txBody>
      </p:sp>
      <p:sp>
        <p:nvSpPr>
          <p:cNvPr id="16" name="Badge 2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8" name="Requirement 2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Each step also in the audit trail</a:t>
            </a:r>
            <a:endParaRPr lang="en-US" sz="978"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Overdue reports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Reports waiting longer than the configured time in one step, across the officer's area</a:t>
            </a:r>
            <a:endParaRPr lang="en-US" sz="1141" dirty="0"/>
          </a:p>
        </p:txBody>
      </p:sp>
      <p:pic>
        <p:nvPicPr>
          <p:cNvPr id="4" name="Screen w12-overdue" descr="E:\Tender\tender-submission\build\shots-jpg\w12-overdue.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#13</a:t>
            </a:r>
            <a:endParaRPr lang="en-US" sz="978" dirty="0"/>
          </a:p>
        </p:txBody>
      </p:sp>
      <p:sp>
        <p:nvSpPr>
          <p:cNvPr id="9" name="Requirement 1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Workflow Management</a:t>
            </a:r>
            <a:endParaRPr lang="en-US" sz="1059" dirty="0"/>
          </a:p>
          <a:p>
            <a:pPr indent="0" marL="0">
              <a:spcAft>
                <a:spcPts val="163"/>
              </a:spcAft>
              <a:buNone/>
            </a:pPr>
            <a:r>
              <a:rPr lang="en-US" sz="937" dirty="0">
                <a:solidFill>
                  <a:srgbClr val="5B6472"/>
                </a:solidFill>
              </a:rPr>
              <a:t>Workflow time monitored</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Filter: overdue only</a:t>
            </a:r>
            <a:endParaRPr lang="en-US" sz="1059" dirty="0"/>
          </a:p>
        </p:txBody>
      </p:sp>
      <p:sp>
        <p:nvSpPr>
          <p:cNvPr id="13" name="Badge 4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5" name="Requirement 4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Configuration</a:t>
            </a:r>
            <a:endParaRPr lang="en-US" sz="1059" dirty="0"/>
          </a:p>
          <a:p>
            <a:pPr indent="0" marL="0">
              <a:spcAft>
                <a:spcPts val="163"/>
              </a:spcAft>
              <a:buNone/>
            </a:pPr>
            <a:r>
              <a:rPr lang="en-US" sz="937" dirty="0">
                <a:solidFill>
                  <a:srgbClr val="5B6472"/>
                </a:solidFill>
              </a:rPr>
              <a:t>Overdue period configurable</a:t>
            </a:r>
            <a:endParaRPr lang="en-US" sz="1059"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Notifications for workflow events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New submissions, reviews, returns, approvals, comments and missed calls</a:t>
            </a:r>
            <a:endParaRPr lang="en-US" sz="1141" dirty="0"/>
          </a:p>
        </p:txBody>
      </p:sp>
      <p:pic>
        <p:nvPicPr>
          <p:cNvPr id="4" name="Screen w06-notifications" descr="E:\Tender\tender-submission\build\shots-jpg\w06-notification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9" name="Requirement 2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Notifications</a:t>
            </a:r>
            <a:endParaRPr lang="en-US" sz="1059" dirty="0"/>
          </a:p>
          <a:p>
            <a:pPr indent="0" marL="0">
              <a:spcAft>
                <a:spcPts val="163"/>
              </a:spcAft>
              <a:buNone/>
            </a:pPr>
            <a:r>
              <a:rPr lang="en-US" sz="937" dirty="0">
                <a:solidFill>
                  <a:srgbClr val="5B6472"/>
                </a:solidFill>
              </a:rPr>
              <a:t>Alerts for submission, pending verification, approval, return</a:t>
            </a:r>
            <a:endParaRPr lang="en-US" sz="1059" dirty="0"/>
          </a:p>
        </p:txBody>
      </p:sp>
      <p:sp>
        <p:nvSpPr>
          <p:cNvPr id="10" name="Badge 1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Officers alerted when action is needed</a:t>
            </a:r>
            <a:endParaRPr lang="en-US" sz="1059" dirty="0"/>
          </a:p>
        </p:txBody>
      </p:sp>
      <p:sp>
        <p:nvSpPr>
          <p:cNvPr id="13" name="Badge 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5" name="Requirement 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Only for incidents in the officer's scope</a:t>
            </a:r>
            <a:endParaRPr lang="en-US" sz="1059"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Drafts: saved, not yet filed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Unsubmitted reports are visible only to their author</a:t>
            </a:r>
            <a:endParaRPr lang="en-US" sz="1141" dirty="0"/>
          </a:p>
        </p:txBody>
      </p:sp>
      <p:pic>
        <p:nvPicPr>
          <p:cNvPr id="4" name="Screen w08-my-drafts" descr="E:\Tender\tender-submission\build\shots-jpg\w08-my-draft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a:t>
            </a:r>
            <a:endParaRPr lang="en-US" sz="978" dirty="0"/>
          </a:p>
        </p:txBody>
      </p:sp>
      <p:sp>
        <p:nvSpPr>
          <p:cNvPr id="9" name="Requirement 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Registration</a:t>
            </a:r>
            <a:endParaRPr lang="en-US" sz="1059" dirty="0"/>
          </a:p>
          <a:p>
            <a:pPr indent="0" marL="0">
              <a:spcAft>
                <a:spcPts val="163"/>
              </a:spcAft>
              <a:buNone/>
            </a:pPr>
            <a:r>
              <a:rPr lang="en-US" sz="937" dirty="0">
                <a:solidFill>
                  <a:srgbClr val="5B6472"/>
                </a:solidFill>
              </a:rPr>
              <a:t>Save as draft and complete later</a:t>
            </a:r>
            <a:endParaRPr lang="en-US" sz="1059" dirty="0"/>
          </a:p>
        </p:txBody>
      </p:sp>
      <p:sp>
        <p:nvSpPr>
          <p:cNvPr id="10" name="Badge 2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2" name="Requirement 2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Drafts private until submitted</a:t>
            </a:r>
            <a:endParaRPr lang="en-US" sz="1059" dirty="0"/>
          </a:p>
        </p:txBody>
      </p:sp>
      <p:sp>
        <p:nvSpPr>
          <p:cNvPr id="13" name="Badge 16"/>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5" name="Requirement 16"/>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My drafts view</a:t>
            </a:r>
            <a:endParaRPr lang="en-US" sz="1059"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04</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Tracking, search and dashboards</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15–17</a:t>
            </a:r>
            <a:endParaRPr lang="en-US" sz="1467"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incident register</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Reference, title in English or Bangla, category, severity, status, overdue flag, date, actions</a:t>
            </a:r>
            <a:endParaRPr lang="en-US" sz="1141" dirty="0"/>
          </a:p>
        </p:txBody>
      </p:sp>
      <p:pic>
        <p:nvPicPr>
          <p:cNvPr id="4" name="Screen t01-incident-list" descr="E:\Tender\tender-submission\build\shots-jpg\t01-incident-lis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9" name="Requirement 1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Tracking by reference number and status</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Search and filters</a:t>
            </a:r>
            <a:endParaRPr lang="en-US" sz="1059" dirty="0"/>
          </a:p>
        </p:txBody>
      </p:sp>
      <p:sp>
        <p:nvSpPr>
          <p:cNvPr id="13" name="Badge 4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5" name="Requirement 4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titles shown as entered</a:t>
            </a:r>
            <a:endParaRPr lang="en-US" sz="1059"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Advanced filters and the archive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By reference, text, status, category, incident type, severity, sector, battalion, BOP, dates, waiting time</a:t>
            </a:r>
            <a:endParaRPr lang="en-US" sz="1141" dirty="0"/>
          </a:p>
        </p:txBody>
      </p:sp>
      <p:pic>
        <p:nvPicPr>
          <p:cNvPr id="4" name="Screen t02-filters" descr="E:\Tender\tender-submission\build\shots-jpg\t02-filters.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Sector-7 · 17 BGB · Smuggling · Yaba/Ice</a:t>
            </a:r>
            <a:endParaRPr lang="en-US" sz="978" dirty="0"/>
          </a:p>
        </p:txBody>
      </p:sp>
      <p:pic>
        <p:nvPicPr>
          <p:cNvPr id="7" name="Screen t03-archived" descr="E:\Tender\tender-submission\build\shots-jpg\t03-archived.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Archived records only</a:t>
            </a:r>
            <a:endParaRPr lang="en-US" sz="978" dirty="0"/>
          </a:p>
        </p:txBody>
      </p:sp>
      <p:sp>
        <p:nvSpPr>
          <p:cNvPr id="10" name="Badge 16"/>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Search Facility</a:t>
            </a:r>
            <a:endParaRPr lang="en-US" sz="978" dirty="0"/>
          </a:p>
          <a:p>
            <a:pPr indent="0" marL="0">
              <a:spcAft>
                <a:spcPts val="81"/>
              </a:spcAft>
              <a:buNone/>
            </a:pPr>
            <a:r>
              <a:rPr lang="en-US" sz="896" dirty="0">
                <a:solidFill>
                  <a:srgbClr val="5B6472"/>
                </a:solidFill>
              </a:rPr>
              <a:t>Advanced search and filtering</a:t>
            </a:r>
            <a:endParaRPr lang="en-US" sz="978" dirty="0"/>
          </a:p>
        </p:txBody>
      </p:sp>
      <p:sp>
        <p:nvSpPr>
          <p:cNvPr id="13" name="Badge 1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15" name="Requirement 1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Tracking</a:t>
            </a:r>
            <a:endParaRPr lang="en-US" sz="978" dirty="0"/>
          </a:p>
          <a:p>
            <a:pPr indent="0" marL="0">
              <a:spcAft>
                <a:spcPts val="81"/>
              </a:spcAft>
              <a:buNone/>
            </a:pPr>
            <a:r>
              <a:rPr lang="en-US" sz="896" dirty="0">
                <a:solidFill>
                  <a:srgbClr val="5B6472"/>
                </a:solidFill>
              </a:rPr>
              <a:t>Track by unit, date and category</a:t>
            </a:r>
            <a:endParaRPr lang="en-US" sz="978" dirty="0"/>
          </a:p>
        </p:txBody>
      </p:sp>
      <p:sp>
        <p:nvSpPr>
          <p:cNvPr id="16" name="Badge 45"/>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#45</a:t>
            </a:r>
            <a:endParaRPr lang="en-US" sz="978" dirty="0"/>
          </a:p>
        </p:txBody>
      </p:sp>
      <p:sp>
        <p:nvSpPr>
          <p:cNvPr id="18" name="Requirement 45"/>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Archiving</a:t>
            </a:r>
            <a:endParaRPr lang="en-US" sz="978" dirty="0"/>
          </a:p>
          <a:p>
            <a:pPr indent="0" marL="0">
              <a:spcAft>
                <a:spcPts val="81"/>
              </a:spcAft>
              <a:buNone/>
            </a:pPr>
            <a:r>
              <a:rPr lang="en-US" sz="896" dirty="0">
                <a:solidFill>
                  <a:srgbClr val="5B6472"/>
                </a:solidFill>
              </a:rPr>
              <a:t>Archived records kept and searchable</a:t>
            </a:r>
            <a:endParaRPr lang="en-US" sz="978"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Find any incident from any page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Search by reference number or title from the header; shortcut "/"</a:t>
            </a:r>
            <a:endParaRPr lang="en-US" sz="1141" dirty="0"/>
          </a:p>
        </p:txBody>
      </p:sp>
      <p:pic>
        <p:nvPicPr>
          <p:cNvPr id="4" name="Screen t04-global-search" descr="E:\Tender\tender-submission\build\shots-jpg\t04-global-search.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9" name="Requirement 1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Track by reference number</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Search facility</a:t>
            </a:r>
            <a:endParaRPr lang="en-US" sz="1059" dirty="0"/>
          </a:p>
        </p:txBody>
      </p:sp>
      <p:sp>
        <p:nvSpPr>
          <p:cNvPr id="13" name="Badge 4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5" name="Requirement 4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Search in Bangla or English</a:t>
            </a:r>
            <a:endParaRPr lang="en-US" sz="1059"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Dashboard: HQ view</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"Waiting for you", period selector, totals, open, pending, verified, approved, high and critical; trend</a:t>
            </a:r>
            <a:endParaRPr lang="en-US" sz="1141" dirty="0"/>
          </a:p>
        </p:txBody>
      </p:sp>
      <p:pic>
        <p:nvPicPr>
          <p:cNvPr id="4" name="Screen t05-dashboard-hq" descr="E:\Tender\tender-submission\build\shots-jpg\t05-dashboard-hq.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7"/>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9" name="Requirement 17"/>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Role-based dashboard with key indicators</a:t>
            </a:r>
            <a:endParaRPr lang="en-US" sz="1059" dirty="0"/>
          </a:p>
        </p:txBody>
      </p:sp>
      <p:sp>
        <p:nvSpPr>
          <p:cNvPr id="10" name="Badge 20"/>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#20</a:t>
            </a:r>
            <a:endParaRPr lang="en-US" sz="978" dirty="0"/>
          </a:p>
        </p:txBody>
      </p:sp>
      <p:sp>
        <p:nvSpPr>
          <p:cNvPr id="12" name="Requirement 20"/>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Trend Analysis</a:t>
            </a:r>
            <a:endParaRPr lang="en-US" sz="1059" dirty="0"/>
          </a:p>
          <a:p>
            <a:pPr indent="0" marL="0">
              <a:spcAft>
                <a:spcPts val="163"/>
              </a:spcAft>
              <a:buNone/>
            </a:pPr>
            <a:r>
              <a:rPr lang="en-US" sz="937" dirty="0">
                <a:solidFill>
                  <a:srgbClr val="5B6472"/>
                </a:solidFill>
              </a:rPr>
              <a:t>Monthly trend</a:t>
            </a:r>
            <a:endParaRPr lang="en-US" sz="1059" dirty="0"/>
          </a:p>
        </p:txBody>
      </p:sp>
      <p:sp>
        <p:nvSpPr>
          <p:cNvPr id="13" name="Badge 19"/>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5" name="Requirement 19"/>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Incidents by category</a:t>
            </a:r>
            <a:endParaRPr lang="en-US" sz="1059"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Dashboard: sectors, recent reports and category detail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figure opens the matching list of incidents</a:t>
            </a:r>
            <a:endParaRPr lang="en-US" sz="1141" dirty="0"/>
          </a:p>
        </p:txBody>
      </p:sp>
      <p:pic>
        <p:nvPicPr>
          <p:cNvPr id="4" name="Screen t06-dashboard-lower" descr="E:\Tender\tender-submission\build\shots-jpg\t06-dashboard-lower.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Incidents by sector and recent reports</a:t>
            </a:r>
            <a:endParaRPr lang="en-US" sz="978" dirty="0"/>
          </a:p>
        </p:txBody>
      </p:sp>
      <p:pic>
        <p:nvPicPr>
          <p:cNvPr id="7" name="Screen t07-dashboard-breakdown" descr="E:\Tender\tender-submission\build\shots-jpg\t07-dashboard-breakdown.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Category breakdown with high/critical share</a:t>
            </a:r>
            <a:endParaRPr lang="en-US" sz="978" dirty="0"/>
          </a:p>
        </p:txBody>
      </p:sp>
      <p:sp>
        <p:nvSpPr>
          <p:cNvPr id="10" name="Badge 17"/>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2" name="Requirement 17"/>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Dashboard</a:t>
            </a:r>
            <a:endParaRPr lang="en-US" sz="978" dirty="0"/>
          </a:p>
          <a:p>
            <a:pPr indent="0" marL="0">
              <a:spcAft>
                <a:spcPts val="81"/>
              </a:spcAft>
              <a:buNone/>
            </a:pPr>
            <a:r>
              <a:rPr lang="en-US" sz="896" dirty="0">
                <a:solidFill>
                  <a:srgbClr val="5B6472"/>
                </a:solidFill>
              </a:rPr>
              <a:t>Operational indicators</a:t>
            </a:r>
            <a:endParaRPr lang="en-US" sz="978" dirty="0"/>
          </a:p>
        </p:txBody>
      </p:sp>
      <p:sp>
        <p:nvSpPr>
          <p:cNvPr id="13" name="Badge 19"/>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5" name="Requirement 19"/>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By category, sector and severity</a:t>
            </a:r>
            <a:endParaRPr lang="en-US" sz="978" dirty="0"/>
          </a:p>
        </p:txBody>
      </p:sp>
      <p:sp>
        <p:nvSpPr>
          <p:cNvPr id="16" name="Badge 16"/>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8" name="Requirement 16"/>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Search Facility</a:t>
            </a:r>
            <a:endParaRPr lang="en-US" sz="978" dirty="0"/>
          </a:p>
          <a:p>
            <a:pPr indent="0" marL="0">
              <a:spcAft>
                <a:spcPts val="81"/>
              </a:spcAft>
              <a:buNone/>
            </a:pPr>
            <a:r>
              <a:rPr lang="en-US" sz="896" dirty="0">
                <a:solidFill>
                  <a:srgbClr val="5B6472"/>
                </a:solidFill>
              </a:rPr>
              <a:t>Click-through to the incident list</a:t>
            </a:r>
            <a:endParaRPr lang="en-US" sz="978"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An archived record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Read-only and hidden from active lists; the administrator can restore it with a reason</a:t>
            </a:r>
            <a:endParaRPr lang="en-US" sz="1141" dirty="0"/>
          </a:p>
        </p:txBody>
      </p:sp>
      <p:pic>
        <p:nvPicPr>
          <p:cNvPr id="4" name="Screen t08-archived-incident" descr="E:\Tender\tender-submission\build\shots-jpg\t08-archived-inciden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5"/>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#45</a:t>
            </a:r>
            <a:endParaRPr lang="en-US" sz="978" dirty="0"/>
          </a:p>
        </p:txBody>
      </p:sp>
      <p:sp>
        <p:nvSpPr>
          <p:cNvPr id="9" name="Requirement 45"/>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Archiving</a:t>
            </a:r>
            <a:endParaRPr lang="en-US" sz="1059" dirty="0"/>
          </a:p>
          <a:p>
            <a:pPr indent="0" marL="0">
              <a:spcAft>
                <a:spcPts val="163"/>
              </a:spcAft>
              <a:buNone/>
            </a:pPr>
            <a:r>
              <a:rPr lang="en-US" sz="937" dirty="0">
                <a:solidFill>
                  <a:srgbClr val="5B6472"/>
                </a:solidFill>
              </a:rPr>
              <a:t>Archiving with audit trail</a:t>
            </a:r>
            <a:endParaRPr lang="en-US" sz="1059" dirty="0"/>
          </a:p>
        </p:txBody>
      </p:sp>
      <p:sp>
        <p:nvSpPr>
          <p:cNvPr id="10" name="Badge 4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#44</a:t>
            </a:r>
            <a:endParaRPr lang="en-US" sz="978" dirty="0"/>
          </a:p>
        </p:txBody>
      </p:sp>
      <p:sp>
        <p:nvSpPr>
          <p:cNvPr id="12" name="Requirement 4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Retention</a:t>
            </a:r>
            <a:endParaRPr lang="en-US" sz="1059" dirty="0"/>
          </a:p>
          <a:p>
            <a:pPr indent="0" marL="0">
              <a:spcAft>
                <a:spcPts val="163"/>
              </a:spcAft>
              <a:buNone/>
            </a:pPr>
            <a:r>
              <a:rPr lang="en-US" sz="937" dirty="0">
                <a:solidFill>
                  <a:srgbClr val="5B6472"/>
                </a:solidFill>
              </a:rPr>
              <a:t>Retention policy applied</a:t>
            </a:r>
            <a:endParaRPr lang="en-US" sz="1059" dirty="0"/>
          </a:p>
        </p:txBody>
      </p:sp>
      <p:sp>
        <p:nvSpPr>
          <p:cNvPr id="13" name="Badge 2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5" name="Requirement 2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Archived records cannot be changed</a:t>
            </a:r>
            <a:endParaRPr lang="en-US" sz="1059"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05</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GIS map dashboard</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8, 18</a:t>
            </a:r>
            <a:endParaRPr lang="en-US" sz="1467"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Incidents along the whole border</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One point per BOP with its number of incidents, coloured by the most severe; the map frames the incidents shown</a:t>
            </a:r>
            <a:endParaRPr lang="en-US" sz="1141" dirty="0"/>
          </a:p>
        </p:txBody>
      </p:sp>
      <p:pic>
        <p:nvPicPr>
          <p:cNvPr id="4" name="Screen g01-map-fitted" descr="E:\Tender\tender-submission\build\shots-jpg\g01-map-fitted.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9" name="Requirement 1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Map dashboard with markers by severity</a:t>
            </a:r>
            <a:endParaRPr lang="en-US" sz="1059" dirty="0"/>
          </a:p>
        </p:txBody>
      </p:sp>
      <p:sp>
        <p:nvSpPr>
          <p:cNvPr id="10" name="Badge 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2" name="Requirement 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Incidents identified geographically</a:t>
            </a:r>
            <a:endParaRPr lang="en-US" sz="1059" dirty="0"/>
          </a:p>
        </p:txBody>
      </p:sp>
      <p:sp>
        <p:nvSpPr>
          <p:cNvPr id="13" name="Badge 9"/>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#9</a:t>
            </a:r>
            <a:endParaRPr lang="en-US" sz="978" dirty="0"/>
          </a:p>
        </p:txBody>
      </p:sp>
      <p:sp>
        <p:nvSpPr>
          <p:cNvPr id="15" name="Requirement 9"/>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Border Sector Information</a:t>
            </a:r>
            <a:endParaRPr lang="en-US" sz="1059" dirty="0"/>
          </a:p>
          <a:p>
            <a:pPr indent="0" marL="0">
              <a:spcAft>
                <a:spcPts val="163"/>
              </a:spcAft>
              <a:buNone/>
            </a:pPr>
            <a:r>
              <a:rPr lang="en-US" sz="937" dirty="0">
                <a:solidFill>
                  <a:srgbClr val="5B6472"/>
                </a:solidFill>
              </a:rPr>
              <a:t>Grouped by BOP of the hierarchy</a:t>
            </a:r>
            <a:endParaRPr lang="en-US" sz="1059"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Hover: the latest incidents at a place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Pointing at a BOP shows its total and its two most recent incidents</a:t>
            </a:r>
            <a:endParaRPr lang="en-US" sz="1141" dirty="0"/>
          </a:p>
        </p:txBody>
      </p:sp>
      <p:pic>
        <p:nvPicPr>
          <p:cNvPr id="4" name="Screen g02-map-hover" descr="E:\Tender\tender-submission\build\shots-jpg\g02-map-hover.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9" name="Requirement 1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Map with incident details on demand</a:t>
            </a:r>
            <a:endParaRPr lang="en-US" sz="1059" dirty="0"/>
          </a:p>
        </p:txBody>
      </p:sp>
      <p:sp>
        <p:nvSpPr>
          <p:cNvPr id="10" name="Badge 1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12" name="Requirement 1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Reference numbers shown</a:t>
            </a:r>
            <a:endParaRPr lang="en-US" sz="1059" dirty="0"/>
          </a:p>
        </p:txBody>
      </p:sp>
      <p:sp>
        <p:nvSpPr>
          <p:cNvPr id="13" name="Badge 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5" name="Requirement 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Location identified</a:t>
            </a:r>
            <a:endParaRPr lang="en-US" sz="1059"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Click: zoom in on the place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map zooms to street level; the popup lists the latest incidents with links; zoom and close buttons appear</a:t>
            </a:r>
            <a:endParaRPr lang="en-US" sz="1141" dirty="0"/>
          </a:p>
        </p:txBody>
      </p:sp>
      <p:pic>
        <p:nvPicPr>
          <p:cNvPr id="4" name="Screen g03-map-zoomed-popup" descr="E:\Tender\tender-submission\build\shots-jpg\g03-map-zoomed-popup.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9" name="Requirement 1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Interactive map: zoom to a location</a:t>
            </a:r>
            <a:endParaRPr lang="en-US" sz="1059" dirty="0"/>
          </a:p>
        </p:txBody>
      </p:sp>
      <p:sp>
        <p:nvSpPr>
          <p:cNvPr id="10" name="Badge 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2" name="Requirement 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Geographic position in detail</a:t>
            </a:r>
            <a:endParaRPr lang="en-US" sz="1059" dirty="0"/>
          </a:p>
        </p:txBody>
      </p:sp>
      <p:sp>
        <p:nvSpPr>
          <p:cNvPr id="13" name="Badge 16"/>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5" name="Requirement 16"/>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"Show all" opens that place's incidents</a:t>
            </a:r>
            <a:endParaRPr lang="en-US" sz="1059"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From the map to the incidents, and back</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Zoom further, open every incident of the place, return to the map exactly as it was</a:t>
            </a:r>
            <a:endParaRPr lang="en-US" sz="1141" dirty="0"/>
          </a:p>
        </p:txBody>
      </p:sp>
      <p:pic>
        <p:nvPicPr>
          <p:cNvPr id="4" name="Screen g04-map-zoom-in" descr="E:\Tender\tender-submission\build\shots-jpg\g04-map-zoom-in.jpg">    </p:cNvPr>
          <p:cNvPicPr>
            <a:picLocks noChangeAspect="1"/>
          </p:cNvPicPr>
          <p:nvPr/>
        </p:nvPicPr>
        <p:blipFill>
          <a:blip r:embed="rId1"/>
          <a:stretch>
            <a:fillRect/>
          </a:stretch>
        </p:blipFill>
        <p:spPr>
          <a:xfrm>
            <a:off x="1501394" y="1965960"/>
            <a:ext cx="2980267" cy="18626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965960"/>
            <a:ext cx="2980267" cy="1862667"/>
          </a:xfrm>
          <a:prstGeom prst="rect">
            <a:avLst/>
          </a:prstGeom>
          <a:ln w="7761">
            <a:solidFill>
              <a:srgbClr val="D7DED8"/>
            </a:solidFill>
            <a:prstDash val="solid"/>
          </a:ln>
        </p:spPr>
      </p:sp>
      <p:sp>
        <p:nvSpPr>
          <p:cNvPr id="6" name="Step caption"/>
          <p:cNvSpPr txBox="1"/>
          <p:nvPr/>
        </p:nvSpPr>
        <p:spPr>
          <a:xfrm>
            <a:off x="1501394"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1 · Zoom in further with +</a:t>
            </a:r>
            <a:endParaRPr lang="en-US" sz="1059" dirty="0"/>
          </a:p>
        </p:txBody>
      </p:sp>
      <p:pic>
        <p:nvPicPr>
          <p:cNvPr id="7" name="Screen g05-show-all-list" descr="E:\Tender\tender-submission\build\shots-jpg\g05-show-all-list.jpg">    </p:cNvPr>
          <p:cNvPicPr>
            <a:picLocks noChangeAspect="1"/>
          </p:cNvPicPr>
          <p:nvPr/>
        </p:nvPicPr>
        <p:blipFill>
          <a:blip r:embed="rId2"/>
          <a:stretch>
            <a:fillRect/>
          </a:stretch>
        </p:blipFill>
        <p:spPr>
          <a:xfrm>
            <a:off x="4608322" y="1965960"/>
            <a:ext cx="2980267" cy="18626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608322" y="1965960"/>
            <a:ext cx="2980267" cy="1862667"/>
          </a:xfrm>
          <a:prstGeom prst="rect">
            <a:avLst/>
          </a:prstGeom>
          <a:ln w="7761">
            <a:solidFill>
              <a:srgbClr val="D7DED8"/>
            </a:solidFill>
            <a:prstDash val="solid"/>
          </a:ln>
        </p:spPr>
      </p:sp>
      <p:sp>
        <p:nvSpPr>
          <p:cNvPr id="9" name="Step caption"/>
          <p:cNvSpPr txBox="1"/>
          <p:nvPr/>
        </p:nvSpPr>
        <p:spPr>
          <a:xfrm>
            <a:off x="4608322"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2 · "Show all 8 incidents" opens the register</a:t>
            </a:r>
            <a:endParaRPr lang="en-US" sz="1059" dirty="0"/>
          </a:p>
        </p:txBody>
      </p:sp>
      <p:pic>
        <p:nvPicPr>
          <p:cNvPr id="10" name="Screen g06-back-to-map" descr="E:\Tender\tender-submission\build\shots-jpg\g06-back-to-map.jpg">    </p:cNvPr>
          <p:cNvPicPr>
            <a:picLocks noChangeAspect="1"/>
          </p:cNvPicPr>
          <p:nvPr/>
        </p:nvPicPr>
        <p:blipFill>
          <a:blip r:embed="rId3"/>
          <a:stretch>
            <a:fillRect/>
          </a:stretch>
        </p:blipFill>
        <p:spPr>
          <a:xfrm>
            <a:off x="7715250" y="1965960"/>
            <a:ext cx="2980267" cy="1862667"/>
          </a:xfrm>
          <a:prstGeom prst="rect">
            <a:avLst/>
          </a:prstGeom>
          <a:effectLst>
            <a:outerShdw sx="100000" sy="100000" kx="0" ky="0" algn="bl" rotWithShape="0" blurRad="62089" dist="20696" dir="5400000">
              <a:srgbClr val="000000">
                <a:alpha val="18000"/>
              </a:srgbClr>
            </a:outerShdw>
          </a:effectLst>
        </p:spPr>
      </p:pic>
      <p:sp>
        <p:nvSpPr>
          <p:cNvPr id="11" name="Frame"/>
          <p:cNvSpPr/>
          <p:nvPr/>
        </p:nvSpPr>
        <p:spPr>
          <a:xfrm>
            <a:off x="7715250" y="1965960"/>
            <a:ext cx="2980267" cy="1862667"/>
          </a:xfrm>
          <a:prstGeom prst="rect">
            <a:avLst/>
          </a:prstGeom>
          <a:ln w="7761">
            <a:solidFill>
              <a:srgbClr val="D7DED8"/>
            </a:solidFill>
            <a:prstDash val="solid"/>
          </a:ln>
        </p:spPr>
      </p:sp>
      <p:sp>
        <p:nvSpPr>
          <p:cNvPr id="12" name="Step caption"/>
          <p:cNvSpPr txBox="1"/>
          <p:nvPr/>
        </p:nvSpPr>
        <p:spPr>
          <a:xfrm>
            <a:off x="7715250"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3 · "Back to the map": same view, same popup</a:t>
            </a:r>
            <a:endParaRPr lang="en-US" sz="1059" dirty="0"/>
          </a:p>
        </p:txBody>
      </p:sp>
      <p:sp>
        <p:nvSpPr>
          <p:cNvPr id="13" name="Badge 18"/>
          <p:cNvSpPr/>
          <p:nvPr/>
        </p:nvSpPr>
        <p:spPr>
          <a:xfrm>
            <a:off x="1501394" y="4976029"/>
            <a:ext cx="461941" cy="253323"/>
          </a:xfrm>
          <a:prstGeom prst="roundRect">
            <a:avLst>
              <a:gd name="adj" fmla="val 17647"/>
            </a:avLst>
          </a:prstGeom>
          <a:solidFill>
            <a:srgbClr val="164716"/>
          </a:solidFill>
          <a:ln w="10348">
            <a:solidFill>
              <a:srgbClr val="164716"/>
            </a:solidFill>
            <a:prstDash val="solid"/>
          </a:ln>
        </p:spPr>
      </p:sp>
      <p:sp>
        <p:nvSpPr>
          <p:cNvPr id="14" name="Text 9"/>
          <p:cNvSpPr txBox="1"/>
          <p:nvPr/>
        </p:nvSpPr>
        <p:spPr>
          <a:xfrm>
            <a:off x="1501394"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15" name="Requirement 18"/>
          <p:cNvSpPr txBox="1"/>
          <p:nvPr/>
        </p:nvSpPr>
        <p:spPr>
          <a:xfrm>
            <a:off x="2037842"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GIS/Map Dashboard</a:t>
            </a:r>
            <a:endParaRPr lang="en-US" sz="978" dirty="0"/>
          </a:p>
          <a:p>
            <a:pPr indent="0" marL="0">
              <a:spcAft>
                <a:spcPts val="81"/>
              </a:spcAft>
              <a:buNone/>
            </a:pPr>
            <a:r>
              <a:rPr lang="en-US" sz="896" dirty="0">
                <a:solidFill>
                  <a:srgbClr val="5B6472"/>
                </a:solidFill>
              </a:rPr>
              <a:t>Map linked to the incident register</a:t>
            </a:r>
            <a:endParaRPr lang="en-US" sz="978" dirty="0"/>
          </a:p>
        </p:txBody>
      </p:sp>
      <p:sp>
        <p:nvSpPr>
          <p:cNvPr id="16" name="Badge 16"/>
          <p:cNvSpPr/>
          <p:nvPr/>
        </p:nvSpPr>
        <p:spPr>
          <a:xfrm>
            <a:off x="4563618" y="4976029"/>
            <a:ext cx="461941" cy="253323"/>
          </a:xfrm>
          <a:prstGeom prst="roundRect">
            <a:avLst>
              <a:gd name="adj" fmla="val 17647"/>
            </a:avLst>
          </a:prstGeom>
          <a:solidFill>
            <a:srgbClr val="164716"/>
          </a:solidFill>
          <a:ln w="10348">
            <a:solidFill>
              <a:srgbClr val="164716"/>
            </a:solidFill>
            <a:prstDash val="solid"/>
          </a:ln>
        </p:spPr>
      </p:sp>
      <p:sp>
        <p:nvSpPr>
          <p:cNvPr id="17" name="Text 12"/>
          <p:cNvSpPr txBox="1"/>
          <p:nvPr/>
        </p:nvSpPr>
        <p:spPr>
          <a:xfrm>
            <a:off x="4563618"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8" name="Requirement 16"/>
          <p:cNvSpPr txBox="1"/>
          <p:nvPr/>
        </p:nvSpPr>
        <p:spPr>
          <a:xfrm>
            <a:off x="5100066"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Search Facility</a:t>
            </a:r>
            <a:endParaRPr lang="en-US" sz="978" dirty="0"/>
          </a:p>
          <a:p>
            <a:pPr indent="0" marL="0">
              <a:spcAft>
                <a:spcPts val="81"/>
              </a:spcAft>
              <a:buNone/>
            </a:pPr>
            <a:r>
              <a:rPr lang="en-US" sz="896" dirty="0">
                <a:solidFill>
                  <a:srgbClr val="5B6472"/>
                </a:solidFill>
              </a:rPr>
              <a:t>Filtered list of a location</a:t>
            </a:r>
            <a:endParaRPr lang="en-US" sz="978" dirty="0"/>
          </a:p>
        </p:txBody>
      </p:sp>
      <p:sp>
        <p:nvSpPr>
          <p:cNvPr id="19" name="Badge 15"/>
          <p:cNvSpPr/>
          <p:nvPr/>
        </p:nvSpPr>
        <p:spPr>
          <a:xfrm>
            <a:off x="7625842" y="4976029"/>
            <a:ext cx="461941" cy="253323"/>
          </a:xfrm>
          <a:prstGeom prst="roundRect">
            <a:avLst>
              <a:gd name="adj" fmla="val 17647"/>
            </a:avLst>
          </a:prstGeom>
          <a:solidFill>
            <a:srgbClr val="164716"/>
          </a:solidFill>
          <a:ln w="10348">
            <a:solidFill>
              <a:srgbClr val="164716"/>
            </a:solidFill>
            <a:prstDash val="solid"/>
          </a:ln>
        </p:spPr>
      </p:sp>
      <p:sp>
        <p:nvSpPr>
          <p:cNvPr id="20" name="Text 15"/>
          <p:cNvSpPr txBox="1"/>
          <p:nvPr/>
        </p:nvSpPr>
        <p:spPr>
          <a:xfrm>
            <a:off x="7625842"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21" name="Requirement 15"/>
          <p:cNvSpPr txBox="1"/>
          <p:nvPr/>
        </p:nvSpPr>
        <p:spPr>
          <a:xfrm>
            <a:off x="8162290"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Tracking</a:t>
            </a:r>
            <a:endParaRPr lang="en-US" sz="978" dirty="0"/>
          </a:p>
          <a:p>
            <a:pPr indent="0" marL="0">
              <a:spcAft>
                <a:spcPts val="81"/>
              </a:spcAft>
              <a:buNone/>
            </a:pPr>
            <a:r>
              <a:rPr lang="en-US" sz="896" dirty="0">
                <a:solidFill>
                  <a:srgbClr val="5B6472"/>
                </a:solidFill>
              </a:rPr>
              <a:t>Tracking by location</a:t>
            </a:r>
            <a:endParaRPr lang="en-US" sz="978"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Back to the whole country, or filter</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close button returns to Bangladesh; filters by category, severity, status and dates move the map to the matching incidents</a:t>
            </a:r>
            <a:endParaRPr lang="en-US" sz="1141" dirty="0"/>
          </a:p>
        </p:txBody>
      </p:sp>
      <p:pic>
        <p:nvPicPr>
          <p:cNvPr id="4" name="Screen g07-map-reset" descr="E:\Tender\tender-submission\build\shots-jpg\g07-map-reset.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Close: whole country again</a:t>
            </a:r>
            <a:endParaRPr lang="en-US" sz="978" dirty="0"/>
          </a:p>
        </p:txBody>
      </p:sp>
      <p:pic>
        <p:nvPicPr>
          <p:cNvPr id="7" name="Screen g08-map-critical" descr="E:\Tender\tender-submission\build\shots-jpg\g08-map-critical.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Severity: Critical only</a:t>
            </a:r>
            <a:endParaRPr lang="en-US" sz="978" dirty="0"/>
          </a:p>
        </p:txBody>
      </p:sp>
      <p:sp>
        <p:nvSpPr>
          <p:cNvPr id="10" name="Badge 1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12" name="Requirement 1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GIS/Map Dashboard</a:t>
            </a:r>
            <a:endParaRPr lang="en-US" sz="978" dirty="0"/>
          </a:p>
          <a:p>
            <a:pPr indent="0" marL="0">
              <a:spcAft>
                <a:spcPts val="81"/>
              </a:spcAft>
              <a:buNone/>
            </a:pPr>
            <a:r>
              <a:rPr lang="en-US" sz="896" dirty="0">
                <a:solidFill>
                  <a:srgbClr val="5B6472"/>
                </a:solidFill>
              </a:rPr>
              <a:t>Filters by category, severity, status, date</a:t>
            </a:r>
            <a:endParaRPr lang="en-US" sz="978" dirty="0"/>
          </a:p>
        </p:txBody>
      </p:sp>
      <p:sp>
        <p:nvSpPr>
          <p:cNvPr id="13" name="Badge 19"/>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5" name="Requirement 19"/>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Spatial pattern of severe incidents</a:t>
            </a:r>
            <a:endParaRPr lang="en-US" sz="978" dirty="0"/>
          </a:p>
        </p:txBody>
      </p:sp>
      <p:sp>
        <p:nvSpPr>
          <p:cNvPr id="16" name="Badge 8"/>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8" name="Requirement 8"/>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Geographical Information</a:t>
            </a:r>
            <a:endParaRPr lang="en-US" sz="978" dirty="0"/>
          </a:p>
          <a:p>
            <a:pPr indent="0" marL="0">
              <a:spcAft>
                <a:spcPts val="81"/>
              </a:spcAft>
              <a:buNone/>
            </a:pPr>
            <a:r>
              <a:rPr lang="en-US" sz="896" dirty="0">
                <a:solidFill>
                  <a:srgbClr val="5B6472"/>
                </a:solidFill>
              </a:rPr>
              <a:t>Geographic analysis</a:t>
            </a:r>
            <a:endParaRPr lang="en-US" sz="978"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Clusters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incident as its own marker, grouped by zoom level; clicking a group zooms into it</a:t>
            </a:r>
            <a:endParaRPr lang="en-US" sz="1141" dirty="0"/>
          </a:p>
        </p:txBody>
      </p:sp>
      <p:pic>
        <p:nvPicPr>
          <p:cNvPr id="4" name="Screen g09-map-clusters" descr="E:\Tender\tender-submission\build\shots-jpg\g09-map-clusters.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Clusters coloured by the most severe incident</a:t>
            </a:r>
            <a:endParaRPr lang="en-US" sz="978" dirty="0"/>
          </a:p>
        </p:txBody>
      </p:sp>
      <p:pic>
        <p:nvPicPr>
          <p:cNvPr id="7" name="Screen g10-map-cluster-zoom" descr="E:\Tender\tender-submission\build\shots-jpg\g10-map-cluster-zoom.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Clicking a cluster zooms in to its incidents</a:t>
            </a:r>
            <a:endParaRPr lang="en-US" sz="978" dirty="0"/>
          </a:p>
        </p:txBody>
      </p:sp>
      <p:sp>
        <p:nvSpPr>
          <p:cNvPr id="10" name="Badge 1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12" name="Requirement 1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GIS/Map Dashboard</a:t>
            </a:r>
            <a:endParaRPr lang="en-US" sz="978" dirty="0"/>
          </a:p>
          <a:p>
            <a:pPr indent="0" marL="0">
              <a:spcAft>
                <a:spcPts val="81"/>
              </a:spcAft>
              <a:buNone/>
            </a:pPr>
            <a:r>
              <a:rPr lang="en-US" sz="896" dirty="0">
                <a:solidFill>
                  <a:srgbClr val="5B6472"/>
                </a:solidFill>
              </a:rPr>
              <a:t>Configurable map display</a:t>
            </a:r>
            <a:endParaRPr lang="en-US" sz="978" dirty="0"/>
          </a:p>
        </p:txBody>
      </p:sp>
      <p:sp>
        <p:nvSpPr>
          <p:cNvPr id="13" name="Badge 8"/>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5" name="Requirement 8"/>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Geographical Information</a:t>
            </a:r>
            <a:endParaRPr lang="en-US" sz="978" dirty="0"/>
          </a:p>
          <a:p>
            <a:pPr indent="0" marL="0">
              <a:spcAft>
                <a:spcPts val="81"/>
              </a:spcAft>
              <a:buNone/>
            </a:pPr>
            <a:r>
              <a:rPr lang="en-US" sz="896" dirty="0">
                <a:solidFill>
                  <a:srgbClr val="5B6472"/>
                </a:solidFill>
              </a:rPr>
              <a:t>Individual incident positions</a:t>
            </a:r>
            <a:endParaRPr lang="en-US" sz="978" dirty="0"/>
          </a:p>
        </p:txBody>
      </p:sp>
      <p:sp>
        <p:nvSpPr>
          <p:cNvPr id="16" name="Badge 19"/>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8" name="Requirement 19"/>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Concentration of incidents</a:t>
            </a:r>
            <a:endParaRPr lang="en-US" sz="978"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Heat map</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Concentrations of incidents, weighted by severity</a:t>
            </a:r>
            <a:endParaRPr lang="en-US" sz="1141" dirty="0"/>
          </a:p>
        </p:txBody>
      </p:sp>
      <p:pic>
        <p:nvPicPr>
          <p:cNvPr id="4" name="Screen g11-map-heat" descr="E:\Tender\tender-submission\build\shots-jpg\g11-map-hea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9" name="Requirement 1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Map display: points, clusters, heat map</a:t>
            </a:r>
            <a:endParaRPr lang="en-US" sz="1059" dirty="0"/>
          </a:p>
        </p:txBody>
      </p:sp>
      <p:sp>
        <p:nvSpPr>
          <p:cNvPr id="10" name="Badge 19"/>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2" name="Requirement 19"/>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Frequency and severity by area</a:t>
            </a:r>
            <a:endParaRPr lang="en-US" sz="1059" dirty="0"/>
          </a:p>
        </p:txBody>
      </p:sp>
      <p:sp>
        <p:nvSpPr>
          <p:cNvPr id="13" name="Badge 20"/>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#20</a:t>
            </a:r>
            <a:endParaRPr lang="en-US" sz="978" dirty="0"/>
          </a:p>
        </p:txBody>
      </p:sp>
      <p:sp>
        <p:nvSpPr>
          <p:cNvPr id="15" name="Requirement 20"/>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Trend Analysis</a:t>
            </a:r>
            <a:endParaRPr lang="en-US" sz="1059" dirty="0"/>
          </a:p>
          <a:p>
            <a:pPr indent="0" marL="0">
              <a:spcAft>
                <a:spcPts val="163"/>
              </a:spcAft>
              <a:buNone/>
            </a:pPr>
            <a:r>
              <a:rPr lang="en-US" sz="937" dirty="0">
                <a:solidFill>
                  <a:srgbClr val="5B6472"/>
                </a:solidFill>
              </a:rPr>
              <a:t>Combined with date filters for periods</a:t>
            </a:r>
            <a:endParaRPr lang="en-US" sz="1059"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Incident locations and the map on a phone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Below the map, every location with its status; on a phone the controls move below the popup</a:t>
            </a:r>
            <a:endParaRPr lang="en-US" sz="1141" dirty="0"/>
          </a:p>
        </p:txBody>
      </p:sp>
      <p:pic>
        <p:nvPicPr>
          <p:cNvPr id="4" name="Screen g12-map-locations-list" descr="E:\Tender\tender-submission\build\shots-jpg\g12-map-locations-list.jpg">    </p:cNvPr>
          <p:cNvPicPr>
            <a:picLocks noChangeAspect="1"/>
          </p:cNvPicPr>
          <p:nvPr/>
        </p:nvPicPr>
        <p:blipFill>
          <a:blip r:embed="rId1"/>
          <a:stretch>
            <a:fillRect/>
          </a:stretch>
        </p:blipFill>
        <p:spPr>
          <a:xfrm>
            <a:off x="1501394" y="1891453"/>
            <a:ext cx="4451426" cy="2782142"/>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51426" cy="2782142"/>
          </a:xfrm>
          <a:prstGeom prst="rect">
            <a:avLst/>
          </a:prstGeom>
          <a:ln w="7761">
            <a:solidFill>
              <a:srgbClr val="D7DED8"/>
            </a:solidFill>
            <a:prstDash val="solid"/>
          </a:ln>
        </p:spPr>
      </p:sp>
      <p:sp>
        <p:nvSpPr>
          <p:cNvPr id="6" name="Caption"/>
          <p:cNvSpPr txBox="1"/>
          <p:nvPr/>
        </p:nvSpPr>
        <p:spPr>
          <a:xfrm>
            <a:off x="1501394" y="4733201"/>
            <a:ext cx="4451426" cy="238421"/>
          </a:xfrm>
          <a:prstGeom prst="rect">
            <a:avLst/>
          </a:prstGeom>
          <a:noFill/>
          <a:ln/>
        </p:spPr>
        <p:txBody>
          <a:bodyPr wrap="square" lIns="0" tIns="0" rIns="0" bIns="0" rtlCol="0" anchor="ctr"/>
          <a:lstStyle/>
          <a:p>
            <a:pPr indent="0" marL="0">
              <a:buNone/>
            </a:pPr>
            <a:r>
              <a:rPr lang="en-US" sz="978" dirty="0">
                <a:solidFill>
                  <a:srgbClr val="5B6472"/>
                </a:solidFill>
              </a:rPr>
              <a:t>Incident locations list under the map</a:t>
            </a:r>
            <a:endParaRPr lang="en-US" sz="978" dirty="0"/>
          </a:p>
        </p:txBody>
      </p:sp>
      <p:pic>
        <p:nvPicPr>
          <p:cNvPr id="7" name="Screen g13-phone-map-popup" descr="E:\Tender\tender-submission\build\shots-jpg\g13-phone-map-popup.jpg">    </p:cNvPr>
          <p:cNvPicPr>
            <a:picLocks noChangeAspect="1"/>
          </p:cNvPicPr>
          <p:nvPr/>
        </p:nvPicPr>
        <p:blipFill>
          <a:blip r:embed="rId2"/>
          <a:stretch>
            <a:fillRect/>
          </a:stretch>
        </p:blipFill>
        <p:spPr>
          <a:xfrm>
            <a:off x="6176340" y="1891453"/>
            <a:ext cx="1285587" cy="2782142"/>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176340" y="1891453"/>
            <a:ext cx="1285587" cy="2782142"/>
          </a:xfrm>
          <a:prstGeom prst="rect">
            <a:avLst/>
          </a:prstGeom>
          <a:ln w="7761">
            <a:solidFill>
              <a:srgbClr val="D7DED8"/>
            </a:solidFill>
            <a:prstDash val="solid"/>
          </a:ln>
        </p:spPr>
      </p:sp>
      <p:sp>
        <p:nvSpPr>
          <p:cNvPr id="9" name="Caption"/>
          <p:cNvSpPr txBox="1"/>
          <p:nvPr/>
        </p:nvSpPr>
        <p:spPr>
          <a:xfrm>
            <a:off x="6176340" y="4733201"/>
            <a:ext cx="1639147" cy="238421"/>
          </a:xfrm>
          <a:prstGeom prst="rect">
            <a:avLst/>
          </a:prstGeom>
          <a:noFill/>
          <a:ln/>
        </p:spPr>
        <p:txBody>
          <a:bodyPr wrap="square" lIns="0" tIns="0" rIns="0" bIns="0" rtlCol="0" anchor="ctr"/>
          <a:lstStyle/>
          <a:p>
            <a:pPr indent="0" marL="0">
              <a:buNone/>
            </a:pPr>
            <a:r>
              <a:rPr lang="en-US" sz="978" dirty="0">
                <a:solidFill>
                  <a:srgbClr val="5B6472"/>
                </a:solidFill>
              </a:rPr>
              <a:t>Phone: popup and zoom controls</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1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13" name="Requirement 1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Map with incident list</a:t>
            </a:r>
            <a:endParaRPr lang="en-US" sz="1059" dirty="0"/>
          </a:p>
        </p:txBody>
      </p:sp>
      <p:sp>
        <p:nvSpPr>
          <p:cNvPr id="14" name="Badge 41"/>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#41</a:t>
            </a:r>
            <a:endParaRPr lang="en-US" sz="978" dirty="0"/>
          </a:p>
        </p:txBody>
      </p:sp>
      <p:sp>
        <p:nvSpPr>
          <p:cNvPr id="16" name="Requirement 41"/>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Mobile Responsiveness</a:t>
            </a:r>
            <a:endParaRPr lang="en-US" sz="1059" dirty="0"/>
          </a:p>
          <a:p>
            <a:pPr indent="0" marL="0">
              <a:spcAft>
                <a:spcPts val="163"/>
              </a:spcAft>
              <a:buNone/>
            </a:pPr>
            <a:r>
              <a:rPr lang="en-US" sz="937" dirty="0">
                <a:solidFill>
                  <a:srgbClr val="5B6472"/>
                </a:solidFill>
              </a:rPr>
              <a:t>Usable on phones</a:t>
            </a:r>
            <a:endParaRPr lang="en-US" sz="1059" dirty="0"/>
          </a:p>
        </p:txBody>
      </p:sp>
      <p:sp>
        <p:nvSpPr>
          <p:cNvPr id="17" name="Badge 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#8</a:t>
            </a:r>
            <a:endParaRPr lang="en-US" sz="978" dirty="0"/>
          </a:p>
        </p:txBody>
      </p:sp>
      <p:sp>
        <p:nvSpPr>
          <p:cNvPr id="19" name="Requirement 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Geographical Information</a:t>
            </a:r>
            <a:endParaRPr lang="en-US" sz="1059" dirty="0"/>
          </a:p>
          <a:p>
            <a:pPr indent="0" marL="0">
              <a:spcAft>
                <a:spcPts val="163"/>
              </a:spcAft>
              <a:buNone/>
            </a:pPr>
            <a:r>
              <a:rPr lang="en-US" sz="937" dirty="0">
                <a:solidFill>
                  <a:srgbClr val="5B6472"/>
                </a:solidFill>
              </a:rPr>
              <a:t>Positions with coordinates</a:t>
            </a:r>
            <a:endParaRPr lang="en-US" sz="1059"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06</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Analytics and trends</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19, 20</a:t>
            </a:r>
            <a:endParaRPr lang="en-US" sz="1467"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Key figures and the trend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Period, sector and battalion selectors; trend of all, high/critical and the previous year</a:t>
            </a:r>
            <a:endParaRPr lang="en-US" sz="1141" dirty="0"/>
          </a:p>
        </p:txBody>
      </p:sp>
      <p:pic>
        <p:nvPicPr>
          <p:cNvPr id="4" name="Screen n01-analytics-top" descr="E:\Tender\tender-submission\build\shots-jpg\n01-analytics-top.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0"/>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#20</a:t>
            </a:r>
            <a:endParaRPr lang="en-US" sz="978" dirty="0"/>
          </a:p>
        </p:txBody>
      </p:sp>
      <p:sp>
        <p:nvSpPr>
          <p:cNvPr id="9" name="Requirement 20"/>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Trend Analysis</a:t>
            </a:r>
            <a:endParaRPr lang="en-US" sz="1059" dirty="0"/>
          </a:p>
          <a:p>
            <a:pPr indent="0" marL="0">
              <a:spcAft>
                <a:spcPts val="163"/>
              </a:spcAft>
              <a:buNone/>
            </a:pPr>
            <a:r>
              <a:rPr lang="en-US" sz="937" dirty="0">
                <a:solidFill>
                  <a:srgbClr val="5B6472"/>
                </a:solidFill>
              </a:rPr>
              <a:t>Trend by day, week, month, quarter, year</a:t>
            </a:r>
            <a:endParaRPr lang="en-US" sz="1059" dirty="0"/>
          </a:p>
        </p:txBody>
      </p:sp>
      <p:sp>
        <p:nvSpPr>
          <p:cNvPr id="10" name="Badge 19"/>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2" name="Requirement 19"/>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Statistics for the selected period</a:t>
            </a:r>
            <a:endParaRPr lang="en-US" sz="1059" dirty="0"/>
          </a:p>
        </p:txBody>
      </p:sp>
      <p:sp>
        <p:nvSpPr>
          <p:cNvPr id="13" name="Badge 1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5" name="Requirement 1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Key indicators</a:t>
            </a:r>
            <a:endParaRPr lang="en-US" sz="1059"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By severity, category and sector</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Bars split into high/critical and other incidents; clicking a bar opens those incidents</a:t>
            </a:r>
            <a:endParaRPr lang="en-US" sz="1141" dirty="0"/>
          </a:p>
        </p:txBody>
      </p:sp>
      <p:pic>
        <p:nvPicPr>
          <p:cNvPr id="4" name="Screen n02-analytics-breakdowns" descr="E:\Tender\tender-submission\build\shots-jpg\n02-analytics-breakdown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9"/>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9" name="Requirement 19"/>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By type, location, unit, severity</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Drill-down to the incident list</a:t>
            </a:r>
            <a:endParaRPr lang="en-US" sz="1059" dirty="0"/>
          </a:p>
        </p:txBody>
      </p:sp>
      <p:sp>
        <p:nvSpPr>
          <p:cNvPr id="13" name="Badge 1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5" name="Requirement 1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Operational indicators</a:t>
            </a:r>
            <a:endParaRPr lang="en-US" sz="1059"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When incidents happen, and where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Busiest hours, night share, weekday pattern; the riskiest BOPs by severity-weighted score</a:t>
            </a:r>
            <a:endParaRPr lang="en-US" sz="1141" dirty="0"/>
          </a:p>
        </p:txBody>
      </p:sp>
      <p:pic>
        <p:nvPicPr>
          <p:cNvPr id="4" name="Screen n03-analytics-time-hotspots" descr="E:\Tender\tender-submission\build\shots-jpg\n03-analytics-time-hotspot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9"/>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9" name="Requirement 19"/>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Frequency by time and location</a:t>
            </a:r>
            <a:endParaRPr lang="en-US" sz="1059" dirty="0"/>
          </a:p>
        </p:txBody>
      </p:sp>
      <p:sp>
        <p:nvSpPr>
          <p:cNvPr id="10" name="Badge 1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#18</a:t>
            </a:r>
            <a:endParaRPr lang="en-US" sz="978" dirty="0"/>
          </a:p>
        </p:txBody>
      </p:sp>
      <p:sp>
        <p:nvSpPr>
          <p:cNvPr id="12" name="Requirement 1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GIS/Map Dashboard</a:t>
            </a:r>
            <a:endParaRPr lang="en-US" sz="1059" dirty="0"/>
          </a:p>
          <a:p>
            <a:pPr indent="0" marL="0">
              <a:spcAft>
                <a:spcPts val="163"/>
              </a:spcAft>
              <a:buNone/>
            </a:pPr>
            <a:r>
              <a:rPr lang="en-US" sz="937" dirty="0">
                <a:solidFill>
                  <a:srgbClr val="5B6472"/>
                </a:solidFill>
              </a:rPr>
              <a:t>Hotspot BOPs</a:t>
            </a:r>
            <a:endParaRPr lang="en-US" sz="1059" dirty="0"/>
          </a:p>
        </p:txBody>
      </p:sp>
      <p:sp>
        <p:nvSpPr>
          <p:cNvPr id="13" name="Badge 20"/>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#20</a:t>
            </a:r>
            <a:endParaRPr lang="en-US" sz="978" dirty="0"/>
          </a:p>
        </p:txBody>
      </p:sp>
      <p:sp>
        <p:nvSpPr>
          <p:cNvPr id="15" name="Requirement 20"/>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Trend Analysis</a:t>
            </a:r>
            <a:endParaRPr lang="en-US" sz="1059" dirty="0"/>
          </a:p>
          <a:p>
            <a:pPr indent="0" marL="0">
              <a:spcAft>
                <a:spcPts val="163"/>
              </a:spcAft>
              <a:buNone/>
            </a:pPr>
            <a:r>
              <a:rPr lang="en-US" sz="937" dirty="0">
                <a:solidFill>
                  <a:srgbClr val="5B6472"/>
                </a:solidFill>
              </a:rPr>
              <a:t>Patterns over time</a:t>
            </a:r>
            <a:endParaRPr lang="en-US" sz="1059"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Sector risk summary</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Totals, high/critical ratio, risk score and assessment for each sector, with how they are calculated</a:t>
            </a:r>
            <a:endParaRPr lang="en-US" sz="1141" dirty="0"/>
          </a:p>
        </p:txBody>
      </p:sp>
      <p:pic>
        <p:nvPicPr>
          <p:cNvPr id="4" name="Screen n04-analytics-risk" descr="E:\Tender\tender-submission\build\shots-jpg\n04-analytics-risk.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9"/>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9" name="Requirement 19"/>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Risk by sector</a:t>
            </a:r>
            <a:endParaRPr lang="en-US" sz="1059" dirty="0"/>
          </a:p>
        </p:txBody>
      </p:sp>
      <p:sp>
        <p:nvSpPr>
          <p:cNvPr id="10" name="Badge 17"/>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2" name="Requirement 17"/>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Management indicators</a:t>
            </a:r>
            <a:endParaRPr lang="en-US" sz="1059" dirty="0"/>
          </a:p>
        </p:txBody>
      </p:sp>
      <p:sp>
        <p:nvSpPr>
          <p:cNvPr id="13" name="Badge 21"/>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15" name="Requirement 21"/>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Basis for the sector report</a:t>
            </a:r>
            <a:endParaRPr lang="en-US" sz="1059"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Every chart opens its incidents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 click on "Smuggling" opened these 29 incidents with the same period</a:t>
            </a:r>
            <a:endParaRPr lang="en-US" sz="1141" dirty="0"/>
          </a:p>
        </p:txBody>
      </p:sp>
      <p:pic>
        <p:nvPicPr>
          <p:cNvPr id="4" name="Screen n05-analytics-drilldown" descr="E:\Tender\tender-submission\build\shots-jpg\n05-analytics-drilldow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16"/>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9" name="Requirement 16"/>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From statistics to the records</a:t>
            </a:r>
            <a:endParaRPr lang="en-US" sz="1059" dirty="0"/>
          </a:p>
        </p:txBody>
      </p:sp>
      <p:sp>
        <p:nvSpPr>
          <p:cNvPr id="10" name="Badge 19"/>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2" name="Requirement 19"/>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Analysis linked to data</a:t>
            </a:r>
            <a:endParaRPr lang="en-US" sz="1059" dirty="0"/>
          </a:p>
        </p:txBody>
      </p:sp>
      <p:sp>
        <p:nvSpPr>
          <p:cNvPr id="13" name="Badge 1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15" name="Requirement 1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Tracking by category and date</a:t>
            </a:r>
            <a:endParaRPr lang="en-US" sz="1059"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Any period, any granularity, any unit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Daily for 30 days, quarterly over 3 years, or one sector</a:t>
            </a:r>
            <a:endParaRPr lang="en-US" sz="1141" dirty="0"/>
          </a:p>
        </p:txBody>
      </p:sp>
      <p:pic>
        <p:nvPicPr>
          <p:cNvPr id="4" name="Screen n06-analytics-30days" descr="E:\Tender\tender-submission\build\shots-jpg\n06-analytics-30days.jpg">    </p:cNvPr>
          <p:cNvPicPr>
            <a:picLocks noChangeAspect="1"/>
          </p:cNvPicPr>
          <p:nvPr/>
        </p:nvPicPr>
        <p:blipFill>
          <a:blip r:embed="rId1"/>
          <a:stretch>
            <a:fillRect/>
          </a:stretch>
        </p:blipFill>
        <p:spPr>
          <a:xfrm>
            <a:off x="1501394" y="1965960"/>
            <a:ext cx="2980267" cy="18626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965960"/>
            <a:ext cx="2980267" cy="1862667"/>
          </a:xfrm>
          <a:prstGeom prst="rect">
            <a:avLst/>
          </a:prstGeom>
          <a:ln w="7761">
            <a:solidFill>
              <a:srgbClr val="D7DED8"/>
            </a:solidFill>
            <a:prstDash val="solid"/>
          </a:ln>
        </p:spPr>
      </p:sp>
      <p:sp>
        <p:nvSpPr>
          <p:cNvPr id="6" name="Step caption"/>
          <p:cNvSpPr txBox="1"/>
          <p:nvPr/>
        </p:nvSpPr>
        <p:spPr>
          <a:xfrm>
            <a:off x="1501394"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Last 30 days, daily</a:t>
            </a:r>
            <a:endParaRPr lang="en-US" sz="1059" dirty="0"/>
          </a:p>
        </p:txBody>
      </p:sp>
      <p:pic>
        <p:nvPicPr>
          <p:cNvPr id="7" name="Screen n07-analytics-3years" descr="E:\Tender\tender-submission\build\shots-jpg\n07-analytics-3years.jpg">    </p:cNvPr>
          <p:cNvPicPr>
            <a:picLocks noChangeAspect="1"/>
          </p:cNvPicPr>
          <p:nvPr/>
        </p:nvPicPr>
        <p:blipFill>
          <a:blip r:embed="rId2"/>
          <a:stretch>
            <a:fillRect/>
          </a:stretch>
        </p:blipFill>
        <p:spPr>
          <a:xfrm>
            <a:off x="4608322" y="1965960"/>
            <a:ext cx="2980267" cy="18626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608322" y="1965960"/>
            <a:ext cx="2980267" cy="1862667"/>
          </a:xfrm>
          <a:prstGeom prst="rect">
            <a:avLst/>
          </a:prstGeom>
          <a:ln w="7761">
            <a:solidFill>
              <a:srgbClr val="D7DED8"/>
            </a:solidFill>
            <a:prstDash val="solid"/>
          </a:ln>
        </p:spPr>
      </p:sp>
      <p:sp>
        <p:nvSpPr>
          <p:cNvPr id="9" name="Step caption"/>
          <p:cNvSpPr txBox="1"/>
          <p:nvPr/>
        </p:nvSpPr>
        <p:spPr>
          <a:xfrm>
            <a:off x="4608322"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3 years, quarterly</a:t>
            </a:r>
            <a:endParaRPr lang="en-US" sz="1059" dirty="0"/>
          </a:p>
        </p:txBody>
      </p:sp>
      <p:pic>
        <p:nvPicPr>
          <p:cNvPr id="10" name="Screen n08-analytics-sector7" descr="E:\Tender\tender-submission\build\shots-jpg\n08-analytics-sector7.jpg">    </p:cNvPr>
          <p:cNvPicPr>
            <a:picLocks noChangeAspect="1"/>
          </p:cNvPicPr>
          <p:nvPr/>
        </p:nvPicPr>
        <p:blipFill>
          <a:blip r:embed="rId3"/>
          <a:stretch>
            <a:fillRect/>
          </a:stretch>
        </p:blipFill>
        <p:spPr>
          <a:xfrm>
            <a:off x="7715250" y="1965960"/>
            <a:ext cx="2980267" cy="1862667"/>
          </a:xfrm>
          <a:prstGeom prst="rect">
            <a:avLst/>
          </a:prstGeom>
          <a:effectLst>
            <a:outerShdw sx="100000" sy="100000" kx="0" ky="0" algn="bl" rotWithShape="0" blurRad="62089" dist="20696" dir="5400000">
              <a:srgbClr val="000000">
                <a:alpha val="18000"/>
              </a:srgbClr>
            </a:outerShdw>
          </a:effectLst>
        </p:spPr>
      </p:pic>
      <p:sp>
        <p:nvSpPr>
          <p:cNvPr id="11" name="Frame"/>
          <p:cNvSpPr/>
          <p:nvPr/>
        </p:nvSpPr>
        <p:spPr>
          <a:xfrm>
            <a:off x="7715250" y="1965960"/>
            <a:ext cx="2980267" cy="1862667"/>
          </a:xfrm>
          <a:prstGeom prst="rect">
            <a:avLst/>
          </a:prstGeom>
          <a:ln w="7761">
            <a:solidFill>
              <a:srgbClr val="D7DED8"/>
            </a:solidFill>
            <a:prstDash val="solid"/>
          </a:ln>
        </p:spPr>
      </p:sp>
      <p:sp>
        <p:nvSpPr>
          <p:cNvPr id="12" name="Step caption"/>
          <p:cNvSpPr txBox="1"/>
          <p:nvPr/>
        </p:nvSpPr>
        <p:spPr>
          <a:xfrm>
            <a:off x="7715250"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Sector-7 only</a:t>
            </a:r>
            <a:endParaRPr lang="en-US" sz="1059" dirty="0"/>
          </a:p>
        </p:txBody>
      </p:sp>
      <p:sp>
        <p:nvSpPr>
          <p:cNvPr id="13" name="Badge 20"/>
          <p:cNvSpPr/>
          <p:nvPr/>
        </p:nvSpPr>
        <p:spPr>
          <a:xfrm>
            <a:off x="1501394" y="4976029"/>
            <a:ext cx="461941" cy="253323"/>
          </a:xfrm>
          <a:prstGeom prst="roundRect">
            <a:avLst>
              <a:gd name="adj" fmla="val 17647"/>
            </a:avLst>
          </a:prstGeom>
          <a:solidFill>
            <a:srgbClr val="164716"/>
          </a:solidFill>
          <a:ln w="10348">
            <a:solidFill>
              <a:srgbClr val="164716"/>
            </a:solidFill>
            <a:prstDash val="solid"/>
          </a:ln>
        </p:spPr>
      </p:sp>
      <p:sp>
        <p:nvSpPr>
          <p:cNvPr id="14" name="Text 9"/>
          <p:cNvSpPr txBox="1"/>
          <p:nvPr/>
        </p:nvSpPr>
        <p:spPr>
          <a:xfrm>
            <a:off x="1501394"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#20</a:t>
            </a:r>
            <a:endParaRPr lang="en-US" sz="978" dirty="0"/>
          </a:p>
        </p:txBody>
      </p:sp>
      <p:sp>
        <p:nvSpPr>
          <p:cNvPr id="15" name="Requirement 20"/>
          <p:cNvSpPr txBox="1"/>
          <p:nvPr/>
        </p:nvSpPr>
        <p:spPr>
          <a:xfrm>
            <a:off x="2037842"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Trend Analysis</a:t>
            </a:r>
            <a:endParaRPr lang="en-US" sz="978" dirty="0"/>
          </a:p>
          <a:p>
            <a:pPr indent="0" marL="0">
              <a:spcAft>
                <a:spcPts val="81"/>
              </a:spcAft>
              <a:buNone/>
            </a:pPr>
            <a:r>
              <a:rPr lang="en-US" sz="896" dirty="0">
                <a:solidFill>
                  <a:srgbClr val="5B6472"/>
                </a:solidFill>
              </a:rPr>
              <a:t>Day, week, month, quarter, year</a:t>
            </a:r>
            <a:endParaRPr lang="en-US" sz="978" dirty="0"/>
          </a:p>
        </p:txBody>
      </p:sp>
      <p:sp>
        <p:nvSpPr>
          <p:cNvPr id="16" name="Badge 19"/>
          <p:cNvSpPr/>
          <p:nvPr/>
        </p:nvSpPr>
        <p:spPr>
          <a:xfrm>
            <a:off x="4563618" y="4976029"/>
            <a:ext cx="461941" cy="253323"/>
          </a:xfrm>
          <a:prstGeom prst="roundRect">
            <a:avLst>
              <a:gd name="adj" fmla="val 17647"/>
            </a:avLst>
          </a:prstGeom>
          <a:solidFill>
            <a:srgbClr val="164716"/>
          </a:solidFill>
          <a:ln w="10348">
            <a:solidFill>
              <a:srgbClr val="164716"/>
            </a:solidFill>
            <a:prstDash val="solid"/>
          </a:ln>
        </p:spPr>
      </p:sp>
      <p:sp>
        <p:nvSpPr>
          <p:cNvPr id="17" name="Text 12"/>
          <p:cNvSpPr txBox="1"/>
          <p:nvPr/>
        </p:nvSpPr>
        <p:spPr>
          <a:xfrm>
            <a:off x="4563618"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8" name="Requirement 19"/>
          <p:cNvSpPr txBox="1"/>
          <p:nvPr/>
        </p:nvSpPr>
        <p:spPr>
          <a:xfrm>
            <a:off x="5100066"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By sector and battalion</a:t>
            </a:r>
            <a:endParaRPr lang="en-US" sz="978" dirty="0"/>
          </a:p>
        </p:txBody>
      </p:sp>
      <p:sp>
        <p:nvSpPr>
          <p:cNvPr id="19" name="Badge 3"/>
          <p:cNvSpPr/>
          <p:nvPr/>
        </p:nvSpPr>
        <p:spPr>
          <a:xfrm>
            <a:off x="7625842" y="4976029"/>
            <a:ext cx="461941" cy="253323"/>
          </a:xfrm>
          <a:prstGeom prst="roundRect">
            <a:avLst>
              <a:gd name="adj" fmla="val 17647"/>
            </a:avLst>
          </a:prstGeom>
          <a:solidFill>
            <a:srgbClr val="164716"/>
          </a:solidFill>
          <a:ln w="10348">
            <a:solidFill>
              <a:srgbClr val="164716"/>
            </a:solidFill>
            <a:prstDash val="solid"/>
          </a:ln>
        </p:spPr>
      </p:sp>
      <p:sp>
        <p:nvSpPr>
          <p:cNvPr id="20" name="Text 15"/>
          <p:cNvSpPr txBox="1"/>
          <p:nvPr/>
        </p:nvSpPr>
        <p:spPr>
          <a:xfrm>
            <a:off x="7625842"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21" name="Requirement 3"/>
          <p:cNvSpPr txBox="1"/>
          <p:nvPr/>
        </p:nvSpPr>
        <p:spPr>
          <a:xfrm>
            <a:off x="8162290"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User Management</a:t>
            </a:r>
            <a:endParaRPr lang="en-US" sz="978" dirty="0"/>
          </a:p>
          <a:p>
            <a:pPr indent="0" marL="0">
              <a:spcAft>
                <a:spcPts val="81"/>
              </a:spcAft>
              <a:buNone/>
            </a:pPr>
            <a:r>
              <a:rPr lang="en-US" sz="896" dirty="0">
                <a:solidFill>
                  <a:srgbClr val="5B6472"/>
                </a:solidFill>
              </a:rPr>
              <a:t>Figures limited to the officer's scope</a:t>
            </a:r>
            <a:endParaRPr lang="en-US" sz="978"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07</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Reports, printing and export</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21, 22</a:t>
            </a:r>
            <a:endParaRPr lang="en-US" sz="1467"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Configurable reports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Template, period, unit, category, severity and status; summary figures on screen</a:t>
            </a:r>
            <a:endParaRPr lang="en-US" sz="1141" dirty="0"/>
          </a:p>
        </p:txBody>
      </p:sp>
      <p:pic>
        <p:nvPicPr>
          <p:cNvPr id="4" name="Screen p01-reports-page" descr="E:\Tender\tender-submission\build\shots-jpg\p01-reports-page.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9"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Operational, statistical and management reports</a:t>
            </a:r>
            <a:endParaRPr lang="en-US" sz="1059" dirty="0"/>
          </a:p>
        </p:txBody>
      </p:sp>
      <p:sp>
        <p:nvSpPr>
          <p:cNvPr id="10" name="Badge 1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#16</a:t>
            </a:r>
            <a:endParaRPr lang="en-US" sz="978" dirty="0"/>
          </a:p>
        </p:txBody>
      </p:sp>
      <p:sp>
        <p:nvSpPr>
          <p:cNvPr id="12" name="Requirement 1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Search Facility</a:t>
            </a:r>
            <a:endParaRPr lang="en-US" sz="1059" dirty="0"/>
          </a:p>
          <a:p>
            <a:pPr indent="0" marL="0">
              <a:spcAft>
                <a:spcPts val="163"/>
              </a:spcAft>
              <a:buNone/>
            </a:pPr>
            <a:r>
              <a:rPr lang="en-US" sz="937" dirty="0">
                <a:solidFill>
                  <a:srgbClr val="5B6472"/>
                </a:solidFill>
              </a:rPr>
              <a:t>Same filters as the register</a:t>
            </a:r>
            <a:endParaRPr lang="en-US" sz="1059" dirty="0"/>
          </a:p>
        </p:txBody>
      </p:sp>
      <p:sp>
        <p:nvSpPr>
          <p:cNvPr id="13" name="Badge 22"/>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5" name="Requirement 22"/>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Print / PDF, Excel, CSV</a:t>
            </a:r>
            <a:endParaRPr lang="en-US" sz="1059"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Report overview on screen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Distribution by category and sector, and the register of incidents in the report</a:t>
            </a:r>
            <a:endParaRPr lang="en-US" sz="1141" dirty="0"/>
          </a:p>
        </p:txBody>
      </p:sp>
      <p:pic>
        <p:nvPicPr>
          <p:cNvPr id="4" name="Screen p02-report-overview" descr="E:\Tender\tender-submission\build\shots-jpg\p02-report-overview.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9"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Report content reviewed before printing</a:t>
            </a:r>
            <a:endParaRPr lang="en-US" sz="1059" dirty="0"/>
          </a:p>
        </p:txBody>
      </p:sp>
      <p:sp>
        <p:nvSpPr>
          <p:cNvPr id="10" name="Badge 19"/>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2" name="Requirement 19"/>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Analytics &amp; Statistics</a:t>
            </a:r>
            <a:endParaRPr lang="en-US" sz="1059" dirty="0"/>
          </a:p>
          <a:p>
            <a:pPr indent="0" marL="0">
              <a:spcAft>
                <a:spcPts val="163"/>
              </a:spcAft>
              <a:buNone/>
            </a:pPr>
            <a:r>
              <a:rPr lang="en-US" sz="937" dirty="0">
                <a:solidFill>
                  <a:srgbClr val="5B6472"/>
                </a:solidFill>
              </a:rPr>
              <a:t>Statistical tables</a:t>
            </a:r>
            <a:endParaRPr lang="en-US" sz="1059" dirty="0"/>
          </a:p>
        </p:txBody>
      </p:sp>
      <p:sp>
        <p:nvSpPr>
          <p:cNvPr id="13" name="Badge 1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15" name="Requirement 1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Incidents listed by reference</a:t>
            </a:r>
            <a:endParaRPr lang="en-US" sz="1059"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Print preview: the formal document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Exactly as it will print: crest, letterhead, classification, reference, subject, numbered sections</a:t>
            </a:r>
            <a:endParaRPr lang="en-US" sz="1141" dirty="0"/>
          </a:p>
        </p:txBody>
      </p:sp>
      <p:pic>
        <p:nvPicPr>
          <p:cNvPr id="4" name="Screen p03-preview-operational" descr="E:\Tender\tender-submission\build\shots-jpg\p03-preview-operational.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9"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Printable formal report</a:t>
            </a:r>
            <a:endParaRPr lang="en-US" sz="1059" dirty="0"/>
          </a:p>
        </p:txBody>
      </p:sp>
      <p:sp>
        <p:nvSpPr>
          <p:cNvPr id="10" name="Badge 2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2" name="Requirement 2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Print and PDF</a:t>
            </a:r>
            <a:endParaRPr lang="en-US" sz="1059" dirty="0"/>
          </a:p>
        </p:txBody>
      </p:sp>
      <p:sp>
        <p:nvSpPr>
          <p:cNvPr id="13" name="Badge 24"/>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Each print gets a reference and an audit entry</a:t>
            </a:r>
            <a:endParaRPr lang="en-US" sz="1059"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printed report (PDF)</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Page 1 and 2 of the operational report as printed: reference BGB/BIRDS/RPT/2026/0001</a:t>
            </a:r>
            <a:endParaRPr lang="en-US" sz="1141" dirty="0"/>
          </a:p>
        </p:txBody>
      </p:sp>
      <p:pic>
        <p:nvPicPr>
          <p:cNvPr id="4" name="Screen pdf-report-operational-p01" descr="E:\Tender\tender-submission\build\shots-jpg\pdf-report-operational-p01.jpg">    </p:cNvPr>
          <p:cNvPicPr>
            <a:picLocks noChangeAspect="1"/>
          </p:cNvPicPr>
          <p:nvPr/>
        </p:nvPicPr>
        <p:blipFill>
          <a:blip r:embed="rId1"/>
          <a:stretch>
            <a:fillRect/>
          </a:stretch>
        </p:blipFill>
        <p:spPr>
          <a:xfrm>
            <a:off x="1870280" y="1891453"/>
            <a:ext cx="249962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870280" y="1891453"/>
            <a:ext cx="2499620" cy="3539067"/>
          </a:xfrm>
          <a:prstGeom prst="rect">
            <a:avLst/>
          </a:prstGeom>
          <a:ln w="7761">
            <a:solidFill>
              <a:srgbClr val="D7DED8"/>
            </a:solidFill>
            <a:prstDash val="solid"/>
          </a:ln>
        </p:spPr>
      </p:sp>
      <p:sp>
        <p:nvSpPr>
          <p:cNvPr id="6" name="Caption"/>
          <p:cNvSpPr txBox="1"/>
          <p:nvPr/>
        </p:nvSpPr>
        <p:spPr>
          <a:xfrm>
            <a:off x="1870280"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Page 1: scope and parameters</a:t>
            </a:r>
            <a:endParaRPr lang="en-US" sz="978" dirty="0"/>
          </a:p>
        </p:txBody>
      </p:sp>
      <p:pic>
        <p:nvPicPr>
          <p:cNvPr id="7" name="Screen pdf-report-operational-p02" descr="E:\Tender\tender-submission\build\shots-jpg\pdf-report-operational-p02.jpg">    </p:cNvPr>
          <p:cNvPicPr>
            <a:picLocks noChangeAspect="1"/>
          </p:cNvPicPr>
          <p:nvPr/>
        </p:nvPicPr>
        <p:blipFill>
          <a:blip r:embed="rId2"/>
          <a:stretch>
            <a:fillRect/>
          </a:stretch>
        </p:blipFill>
        <p:spPr>
          <a:xfrm>
            <a:off x="4593421" y="1891453"/>
            <a:ext cx="249962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593421" y="1891453"/>
            <a:ext cx="2499620" cy="3539067"/>
          </a:xfrm>
          <a:prstGeom prst="rect">
            <a:avLst/>
          </a:prstGeom>
          <a:ln w="7761">
            <a:solidFill>
              <a:srgbClr val="D7DED8"/>
            </a:solidFill>
            <a:prstDash val="solid"/>
          </a:ln>
        </p:spPr>
      </p:sp>
      <p:sp>
        <p:nvSpPr>
          <p:cNvPr id="9" name="Caption"/>
          <p:cNvSpPr txBox="1"/>
          <p:nvPr/>
        </p:nvSpPr>
        <p:spPr>
          <a:xfrm>
            <a:off x="4593421"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Page 2: summary and distributions</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13"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Formal operational report</a:t>
            </a:r>
            <a:endParaRPr lang="en-US" sz="1059" dirty="0"/>
          </a:p>
        </p:txBody>
      </p:sp>
      <p:sp>
        <p:nvSpPr>
          <p:cNvPr id="14" name="Badge 2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6" name="Requirement 2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PDF export</a:t>
            </a:r>
            <a:endParaRPr lang="en-US" sz="1059" dirty="0"/>
          </a:p>
        </p:txBody>
      </p:sp>
      <p:sp>
        <p:nvSpPr>
          <p:cNvPr id="17" name="Badge 26"/>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#26</a:t>
            </a:r>
            <a:endParaRPr lang="en-US" sz="978" dirty="0"/>
          </a:p>
        </p:txBody>
      </p:sp>
      <p:sp>
        <p:nvSpPr>
          <p:cNvPr id="19" name="Requirement 26"/>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Security</a:t>
            </a:r>
            <a:endParaRPr lang="en-US" sz="1059" dirty="0"/>
          </a:p>
          <a:p>
            <a:pPr indent="0" marL="0">
              <a:spcAft>
                <a:spcPts val="163"/>
              </a:spcAft>
              <a:buNone/>
            </a:pPr>
            <a:r>
              <a:rPr lang="en-US" sz="937" dirty="0">
                <a:solidFill>
                  <a:srgbClr val="5B6472"/>
                </a:solidFill>
              </a:rPr>
              <a:t>Classification marking on every page</a:t>
            </a:r>
            <a:endParaRPr lang="en-US" sz="1059"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Register, certificate and signatures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printed register of incidents; certificate, prepared / checked / approved blocks and distribution</a:t>
            </a:r>
            <a:endParaRPr lang="en-US" sz="1141" dirty="0"/>
          </a:p>
        </p:txBody>
      </p:sp>
      <p:pic>
        <p:nvPicPr>
          <p:cNvPr id="4" name="Screen pdf-report-operational-p05" descr="E:\Tender\tender-submission\build\shots-jpg\pdf-report-operational-p05.jpg">    </p:cNvPr>
          <p:cNvPicPr>
            <a:picLocks noChangeAspect="1"/>
          </p:cNvPicPr>
          <p:nvPr/>
        </p:nvPicPr>
        <p:blipFill>
          <a:blip r:embed="rId1"/>
          <a:stretch>
            <a:fillRect/>
          </a:stretch>
        </p:blipFill>
        <p:spPr>
          <a:xfrm>
            <a:off x="1870280" y="1891453"/>
            <a:ext cx="249962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870280" y="1891453"/>
            <a:ext cx="2499620" cy="3539067"/>
          </a:xfrm>
          <a:prstGeom prst="rect">
            <a:avLst/>
          </a:prstGeom>
          <a:ln w="7761">
            <a:solidFill>
              <a:srgbClr val="D7DED8"/>
            </a:solidFill>
            <a:prstDash val="solid"/>
          </a:ln>
        </p:spPr>
      </p:sp>
      <p:sp>
        <p:nvSpPr>
          <p:cNvPr id="6" name="Caption"/>
          <p:cNvSpPr txBox="1"/>
          <p:nvPr/>
        </p:nvSpPr>
        <p:spPr>
          <a:xfrm>
            <a:off x="1870280"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Register of incidents</a:t>
            </a:r>
            <a:endParaRPr lang="en-US" sz="978" dirty="0"/>
          </a:p>
        </p:txBody>
      </p:sp>
      <p:pic>
        <p:nvPicPr>
          <p:cNvPr id="7" name="Screen pdf-report-operational-p06" descr="E:\Tender\tender-submission\build\shots-jpg\pdf-report-operational-p06.jpg">    </p:cNvPr>
          <p:cNvPicPr>
            <a:picLocks noChangeAspect="1"/>
          </p:cNvPicPr>
          <p:nvPr/>
        </p:nvPicPr>
        <p:blipFill>
          <a:blip r:embed="rId2"/>
          <a:stretch>
            <a:fillRect/>
          </a:stretch>
        </p:blipFill>
        <p:spPr>
          <a:xfrm>
            <a:off x="4593421" y="1891453"/>
            <a:ext cx="249962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593421" y="1891453"/>
            <a:ext cx="2499620" cy="3539067"/>
          </a:xfrm>
          <a:prstGeom prst="rect">
            <a:avLst/>
          </a:prstGeom>
          <a:ln w="7761">
            <a:solidFill>
              <a:srgbClr val="D7DED8"/>
            </a:solidFill>
            <a:prstDash val="solid"/>
          </a:ln>
        </p:spPr>
      </p:sp>
      <p:sp>
        <p:nvSpPr>
          <p:cNvPr id="9" name="Caption"/>
          <p:cNvSpPr txBox="1"/>
          <p:nvPr/>
        </p:nvSpPr>
        <p:spPr>
          <a:xfrm>
            <a:off x="4593421"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Signature blocks and distribution</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13"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Management report with sign-off</a:t>
            </a:r>
            <a:endParaRPr lang="en-US" sz="1059" dirty="0"/>
          </a:p>
        </p:txBody>
      </p:sp>
      <p:sp>
        <p:nvSpPr>
          <p:cNvPr id="14" name="Badge 2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6" name="Requirement 2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Printed by, at, under reference</a:t>
            </a:r>
            <a:endParaRPr lang="en-US" sz="1059" dirty="0"/>
          </a:p>
        </p:txBody>
      </p:sp>
      <p:sp>
        <p:nvSpPr>
          <p:cNvPr id="17" name="Badge 22"/>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9" name="Requirement 22"/>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Printable document</a:t>
            </a:r>
            <a:endParaRPr lang="en-US" sz="1059"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Four report templates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Statistical &amp; threat summary, high-threat alert digest, sector performance report</a:t>
            </a:r>
            <a:endParaRPr lang="en-US" sz="1141" dirty="0"/>
          </a:p>
        </p:txBody>
      </p:sp>
      <p:pic>
        <p:nvPicPr>
          <p:cNvPr id="4" name="Screen p05-preview-statistical" descr="E:\Tender\tender-submission\build\shots-jpg\p05-preview-statistical.jpg">    </p:cNvPr>
          <p:cNvPicPr>
            <a:picLocks noChangeAspect="1"/>
          </p:cNvPicPr>
          <p:nvPr/>
        </p:nvPicPr>
        <p:blipFill>
          <a:blip r:embed="rId1"/>
          <a:stretch>
            <a:fillRect/>
          </a:stretch>
        </p:blipFill>
        <p:spPr>
          <a:xfrm>
            <a:off x="1501394" y="1965960"/>
            <a:ext cx="2980267" cy="18626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965960"/>
            <a:ext cx="2980267" cy="1862667"/>
          </a:xfrm>
          <a:prstGeom prst="rect">
            <a:avLst/>
          </a:prstGeom>
          <a:ln w="7761">
            <a:solidFill>
              <a:srgbClr val="D7DED8"/>
            </a:solidFill>
            <a:prstDash val="solid"/>
          </a:ln>
        </p:spPr>
      </p:sp>
      <p:sp>
        <p:nvSpPr>
          <p:cNvPr id="6" name="Step caption"/>
          <p:cNvSpPr txBox="1"/>
          <p:nvPr/>
        </p:nvSpPr>
        <p:spPr>
          <a:xfrm>
            <a:off x="1501394"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Statistical &amp; threat summary</a:t>
            </a:r>
            <a:endParaRPr lang="en-US" sz="1059" dirty="0"/>
          </a:p>
        </p:txBody>
      </p:sp>
      <p:pic>
        <p:nvPicPr>
          <p:cNvPr id="7" name="Screen p06-preview-high-threat" descr="E:\Tender\tender-submission\build\shots-jpg\p06-preview-high-threat.jpg">    </p:cNvPr>
          <p:cNvPicPr>
            <a:picLocks noChangeAspect="1"/>
          </p:cNvPicPr>
          <p:nvPr/>
        </p:nvPicPr>
        <p:blipFill>
          <a:blip r:embed="rId2"/>
          <a:stretch>
            <a:fillRect/>
          </a:stretch>
        </p:blipFill>
        <p:spPr>
          <a:xfrm>
            <a:off x="4608322" y="1965960"/>
            <a:ext cx="2980267" cy="18626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608322" y="1965960"/>
            <a:ext cx="2980267" cy="1862667"/>
          </a:xfrm>
          <a:prstGeom prst="rect">
            <a:avLst/>
          </a:prstGeom>
          <a:ln w="7761">
            <a:solidFill>
              <a:srgbClr val="D7DED8"/>
            </a:solidFill>
            <a:prstDash val="solid"/>
          </a:ln>
        </p:spPr>
      </p:sp>
      <p:sp>
        <p:nvSpPr>
          <p:cNvPr id="9" name="Step caption"/>
          <p:cNvSpPr txBox="1"/>
          <p:nvPr/>
        </p:nvSpPr>
        <p:spPr>
          <a:xfrm>
            <a:off x="4608322"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High-threat alert digest</a:t>
            </a:r>
            <a:endParaRPr lang="en-US" sz="1059" dirty="0"/>
          </a:p>
        </p:txBody>
      </p:sp>
      <p:pic>
        <p:nvPicPr>
          <p:cNvPr id="10" name="Screen p07-preview-sector" descr="E:\Tender\tender-submission\build\shots-jpg\p07-preview-sector.jpg">    </p:cNvPr>
          <p:cNvPicPr>
            <a:picLocks noChangeAspect="1"/>
          </p:cNvPicPr>
          <p:nvPr/>
        </p:nvPicPr>
        <p:blipFill>
          <a:blip r:embed="rId3"/>
          <a:stretch>
            <a:fillRect/>
          </a:stretch>
        </p:blipFill>
        <p:spPr>
          <a:xfrm>
            <a:off x="7715250" y="1965960"/>
            <a:ext cx="2980267" cy="1862667"/>
          </a:xfrm>
          <a:prstGeom prst="rect">
            <a:avLst/>
          </a:prstGeom>
          <a:effectLst>
            <a:outerShdw sx="100000" sy="100000" kx="0" ky="0" algn="bl" rotWithShape="0" blurRad="62089" dist="20696" dir="5400000">
              <a:srgbClr val="000000">
                <a:alpha val="18000"/>
              </a:srgbClr>
            </a:outerShdw>
          </a:effectLst>
        </p:spPr>
      </p:pic>
      <p:sp>
        <p:nvSpPr>
          <p:cNvPr id="11" name="Frame"/>
          <p:cNvSpPr/>
          <p:nvPr/>
        </p:nvSpPr>
        <p:spPr>
          <a:xfrm>
            <a:off x="7715250" y="1965960"/>
            <a:ext cx="2980267" cy="1862667"/>
          </a:xfrm>
          <a:prstGeom prst="rect">
            <a:avLst/>
          </a:prstGeom>
          <a:ln w="7761">
            <a:solidFill>
              <a:srgbClr val="D7DED8"/>
            </a:solidFill>
            <a:prstDash val="solid"/>
          </a:ln>
        </p:spPr>
      </p:sp>
      <p:sp>
        <p:nvSpPr>
          <p:cNvPr id="12" name="Step caption"/>
          <p:cNvSpPr txBox="1"/>
          <p:nvPr/>
        </p:nvSpPr>
        <p:spPr>
          <a:xfrm>
            <a:off x="7715250" y="3903133"/>
            <a:ext cx="2980267" cy="461941"/>
          </a:xfrm>
          <a:prstGeom prst="rect">
            <a:avLst/>
          </a:prstGeom>
          <a:noFill/>
          <a:ln/>
        </p:spPr>
        <p:txBody>
          <a:bodyPr wrap="square" lIns="0" tIns="0" rIns="0" bIns="0" rtlCol="0" anchor="t"/>
          <a:lstStyle/>
          <a:p>
            <a:pPr indent="0" marL="0">
              <a:buNone/>
            </a:pPr>
            <a:r>
              <a:rPr lang="en-US" sz="1059" b="1" dirty="0">
                <a:solidFill>
                  <a:srgbClr val="1F2937"/>
                </a:solidFill>
              </a:rPr>
              <a:t>Sector performance report</a:t>
            </a:r>
            <a:endParaRPr lang="en-US" sz="1059" dirty="0"/>
          </a:p>
        </p:txBody>
      </p:sp>
      <p:sp>
        <p:nvSpPr>
          <p:cNvPr id="13" name="Badge 21"/>
          <p:cNvSpPr/>
          <p:nvPr/>
        </p:nvSpPr>
        <p:spPr>
          <a:xfrm>
            <a:off x="1501394" y="4976029"/>
            <a:ext cx="461941" cy="253323"/>
          </a:xfrm>
          <a:prstGeom prst="roundRect">
            <a:avLst>
              <a:gd name="adj" fmla="val 17647"/>
            </a:avLst>
          </a:prstGeom>
          <a:solidFill>
            <a:srgbClr val="164716"/>
          </a:solidFill>
          <a:ln w="10348">
            <a:solidFill>
              <a:srgbClr val="164716"/>
            </a:solidFill>
            <a:prstDash val="solid"/>
          </a:ln>
        </p:spPr>
      </p:sp>
      <p:sp>
        <p:nvSpPr>
          <p:cNvPr id="14" name="Text 9"/>
          <p:cNvSpPr txBox="1"/>
          <p:nvPr/>
        </p:nvSpPr>
        <p:spPr>
          <a:xfrm>
            <a:off x="1501394"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15" name="Requirement 21"/>
          <p:cNvSpPr txBox="1"/>
          <p:nvPr/>
        </p:nvSpPr>
        <p:spPr>
          <a:xfrm>
            <a:off x="2037842"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Reporting</a:t>
            </a:r>
            <a:endParaRPr lang="en-US" sz="978" dirty="0"/>
          </a:p>
          <a:p>
            <a:pPr indent="0" marL="0">
              <a:spcAft>
                <a:spcPts val="81"/>
              </a:spcAft>
              <a:buNone/>
            </a:pPr>
            <a:r>
              <a:rPr lang="en-US" sz="896" dirty="0">
                <a:solidFill>
                  <a:srgbClr val="5B6472"/>
                </a:solidFill>
              </a:rPr>
              <a:t>Operational, statistical, management reports</a:t>
            </a:r>
            <a:endParaRPr lang="en-US" sz="978" dirty="0"/>
          </a:p>
        </p:txBody>
      </p:sp>
      <p:sp>
        <p:nvSpPr>
          <p:cNvPr id="16" name="Badge 19"/>
          <p:cNvSpPr/>
          <p:nvPr/>
        </p:nvSpPr>
        <p:spPr>
          <a:xfrm>
            <a:off x="4563618" y="4976029"/>
            <a:ext cx="461941" cy="253323"/>
          </a:xfrm>
          <a:prstGeom prst="roundRect">
            <a:avLst>
              <a:gd name="adj" fmla="val 17647"/>
            </a:avLst>
          </a:prstGeom>
          <a:solidFill>
            <a:srgbClr val="164716"/>
          </a:solidFill>
          <a:ln w="10348">
            <a:solidFill>
              <a:srgbClr val="164716"/>
            </a:solidFill>
            <a:prstDash val="solid"/>
          </a:ln>
        </p:spPr>
      </p:sp>
      <p:sp>
        <p:nvSpPr>
          <p:cNvPr id="17" name="Text 12"/>
          <p:cNvSpPr txBox="1"/>
          <p:nvPr/>
        </p:nvSpPr>
        <p:spPr>
          <a:xfrm>
            <a:off x="4563618"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8" name="Requirement 19"/>
          <p:cNvSpPr txBox="1"/>
          <p:nvPr/>
        </p:nvSpPr>
        <p:spPr>
          <a:xfrm>
            <a:off x="5100066"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Statistics by sector and threat</a:t>
            </a:r>
            <a:endParaRPr lang="en-US" sz="978" dirty="0"/>
          </a:p>
        </p:txBody>
      </p:sp>
      <p:sp>
        <p:nvSpPr>
          <p:cNvPr id="19" name="Badge 22"/>
          <p:cNvSpPr/>
          <p:nvPr/>
        </p:nvSpPr>
        <p:spPr>
          <a:xfrm>
            <a:off x="7625842" y="4976029"/>
            <a:ext cx="461941" cy="253323"/>
          </a:xfrm>
          <a:prstGeom prst="roundRect">
            <a:avLst>
              <a:gd name="adj" fmla="val 17647"/>
            </a:avLst>
          </a:prstGeom>
          <a:solidFill>
            <a:srgbClr val="164716"/>
          </a:solidFill>
          <a:ln w="10348">
            <a:solidFill>
              <a:srgbClr val="164716"/>
            </a:solidFill>
            <a:prstDash val="solid"/>
          </a:ln>
        </p:spPr>
      </p:sp>
      <p:sp>
        <p:nvSpPr>
          <p:cNvPr id="20" name="Text 15"/>
          <p:cNvSpPr txBox="1"/>
          <p:nvPr/>
        </p:nvSpPr>
        <p:spPr>
          <a:xfrm>
            <a:off x="7625842" y="497602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21" name="Requirement 22"/>
          <p:cNvSpPr txBox="1"/>
          <p:nvPr/>
        </p:nvSpPr>
        <p:spPr>
          <a:xfrm>
            <a:off x="8162290" y="494622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Export</a:t>
            </a:r>
            <a:endParaRPr lang="en-US" sz="978" dirty="0"/>
          </a:p>
          <a:p>
            <a:pPr indent="0" marL="0">
              <a:spcAft>
                <a:spcPts val="81"/>
              </a:spcAft>
              <a:buNone/>
            </a:pPr>
            <a:r>
              <a:rPr lang="en-US" sz="896" dirty="0">
                <a:solidFill>
                  <a:srgbClr val="5B6472"/>
                </a:solidFill>
              </a:rPr>
              <a:t>Each printed as PDF</a:t>
            </a:r>
            <a:endParaRPr lang="en-US" sz="978"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Report with full incident details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"Include full details of each incident": every incident on its own page, with its evidence</a:t>
            </a:r>
            <a:endParaRPr lang="en-US" sz="1141" dirty="0"/>
          </a:p>
        </p:txBody>
      </p:sp>
      <p:pic>
        <p:nvPicPr>
          <p:cNvPr id="4" name="Screen p08-details-option" descr="E:\Tender\tender-submission\build\shots-jpg\p08-details-optio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9"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Reports with full incident detail</a:t>
            </a:r>
            <a:endParaRPr lang="en-US" sz="1059" dirty="0"/>
          </a:p>
        </p:txBody>
      </p:sp>
      <p:sp>
        <p:nvSpPr>
          <p:cNvPr id="10" name="Badge 10"/>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2" name="Requirement 10"/>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Evidence reproduced</a:t>
            </a:r>
            <a:endParaRPr lang="en-US" sz="1059" dirty="0"/>
          </a:p>
        </p:txBody>
      </p:sp>
      <p:sp>
        <p:nvSpPr>
          <p:cNvPr id="13" name="Badge 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15" name="Requirement 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Details</a:t>
            </a:r>
            <a:endParaRPr lang="en-US" sz="1059" dirty="0"/>
          </a:p>
          <a:p>
            <a:pPr indent="0" marL="0">
              <a:spcAft>
                <a:spcPts val="163"/>
              </a:spcAft>
              <a:buNone/>
            </a:pPr>
            <a:r>
              <a:rPr lang="en-US" sz="937" dirty="0">
                <a:solidFill>
                  <a:srgbClr val="5B6472"/>
                </a:solidFill>
              </a:rPr>
              <a:t>All captured details</a:t>
            </a:r>
            <a:endParaRPr lang="en-US" sz="1059"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Annex: each incident with its evidence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Real printed pages of the annex: particulars, narrative, persons, action, outcome and evidence with metadata</a:t>
            </a:r>
            <a:endParaRPr lang="en-US" sz="1141" dirty="0"/>
          </a:p>
        </p:txBody>
      </p:sp>
      <p:pic>
        <p:nvPicPr>
          <p:cNvPr id="4" name="Screen pdf-report-with-details-p06" descr="E:\Tender\tender-submission\build\shots-jpg\pdf-report-with-details-p06.jpg">    </p:cNvPr>
          <p:cNvPicPr>
            <a:picLocks noChangeAspect="1"/>
          </p:cNvPicPr>
          <p:nvPr/>
        </p:nvPicPr>
        <p:blipFill>
          <a:blip r:embed="rId1"/>
          <a:stretch>
            <a:fillRect/>
          </a:stretch>
        </p:blipFill>
        <p:spPr>
          <a:xfrm>
            <a:off x="1870280" y="1891453"/>
            <a:ext cx="249962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870280" y="1891453"/>
            <a:ext cx="2499620" cy="3539067"/>
          </a:xfrm>
          <a:prstGeom prst="rect">
            <a:avLst/>
          </a:prstGeom>
          <a:ln w="7761">
            <a:solidFill>
              <a:srgbClr val="D7DED8"/>
            </a:solidFill>
            <a:prstDash val="solid"/>
          </a:ln>
        </p:spPr>
      </p:sp>
      <p:sp>
        <p:nvSpPr>
          <p:cNvPr id="6" name="Caption"/>
          <p:cNvSpPr txBox="1"/>
          <p:nvPr/>
        </p:nvSpPr>
        <p:spPr>
          <a:xfrm>
            <a:off x="1870280"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Annex A-1: particulars and narrative</a:t>
            </a:r>
            <a:endParaRPr lang="en-US" sz="978" dirty="0"/>
          </a:p>
        </p:txBody>
      </p:sp>
      <p:pic>
        <p:nvPicPr>
          <p:cNvPr id="7" name="Screen pdf-report-with-details-p07" descr="E:\Tender\tender-submission\build\shots-jpg\pdf-report-with-details-p07.jpg">    </p:cNvPr>
          <p:cNvPicPr>
            <a:picLocks noChangeAspect="1"/>
          </p:cNvPicPr>
          <p:nvPr/>
        </p:nvPicPr>
        <p:blipFill>
          <a:blip r:embed="rId2"/>
          <a:stretch>
            <a:fillRect/>
          </a:stretch>
        </p:blipFill>
        <p:spPr>
          <a:xfrm>
            <a:off x="4593421" y="1891453"/>
            <a:ext cx="249962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593421" y="1891453"/>
            <a:ext cx="2499620" cy="3539067"/>
          </a:xfrm>
          <a:prstGeom prst="rect">
            <a:avLst/>
          </a:prstGeom>
          <a:ln w="7761">
            <a:solidFill>
              <a:srgbClr val="D7DED8"/>
            </a:solidFill>
            <a:prstDash val="solid"/>
          </a:ln>
        </p:spPr>
      </p:sp>
      <p:sp>
        <p:nvSpPr>
          <p:cNvPr id="9" name="Caption"/>
          <p:cNvSpPr txBox="1"/>
          <p:nvPr/>
        </p:nvSpPr>
        <p:spPr>
          <a:xfrm>
            <a:off x="4593421"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Evidence: photos with camera, size, SHA-256</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2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#21</a:t>
            </a:r>
            <a:endParaRPr lang="en-US" sz="978" dirty="0"/>
          </a:p>
        </p:txBody>
      </p:sp>
      <p:sp>
        <p:nvSpPr>
          <p:cNvPr id="13" name="Requirement 2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Reporting</a:t>
            </a:r>
            <a:endParaRPr lang="en-US" sz="1059" dirty="0"/>
          </a:p>
          <a:p>
            <a:pPr indent="0" marL="0">
              <a:spcAft>
                <a:spcPts val="163"/>
              </a:spcAft>
              <a:buNone/>
            </a:pPr>
            <a:r>
              <a:rPr lang="en-US" sz="937" dirty="0">
                <a:solidFill>
                  <a:srgbClr val="5B6472"/>
                </a:solidFill>
              </a:rPr>
              <a:t>Full detail of each incident in the report</a:t>
            </a:r>
            <a:endParaRPr lang="en-US" sz="1059" dirty="0"/>
          </a:p>
        </p:txBody>
      </p:sp>
      <p:sp>
        <p:nvSpPr>
          <p:cNvPr id="14" name="Badge 10"/>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6" name="Requirement 10"/>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Photographs reproduced, video still frames</a:t>
            </a:r>
            <a:endParaRPr lang="en-US" sz="1059" dirty="0"/>
          </a:p>
        </p:txBody>
      </p:sp>
      <p:sp>
        <p:nvSpPr>
          <p:cNvPr id="17" name="Badge 11"/>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9" name="Requirement 11"/>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Metadata and SHA-256 printed</a:t>
            </a:r>
            <a:endParaRPr lang="en-US" sz="1059"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Printing one incident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Print / PDF on the incident page: the full record in the same formal layout</a:t>
            </a:r>
            <a:endParaRPr lang="en-US" sz="1141" dirty="0"/>
          </a:p>
        </p:txBody>
      </p:sp>
      <p:pic>
        <p:nvPicPr>
          <p:cNvPr id="4" name="Screen p10-incident-preview" descr="E:\Tender\tender-submission\build\shots-jpg\p10-incident-preview.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2"/>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9" name="Requirement 22"/>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PDF of one incident</a:t>
            </a:r>
            <a:endParaRPr lang="en-US" sz="1059" dirty="0"/>
          </a:p>
        </p:txBody>
      </p:sp>
      <p:sp>
        <p:nvSpPr>
          <p:cNvPr id="10" name="Badge 1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2" name="Requirement 1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Timeline</a:t>
            </a:r>
            <a:endParaRPr lang="en-US" sz="1059" dirty="0"/>
          </a:p>
          <a:p>
            <a:pPr indent="0" marL="0">
              <a:spcAft>
                <a:spcPts val="163"/>
              </a:spcAft>
              <a:buNone/>
            </a:pPr>
            <a:r>
              <a:rPr lang="en-US" sz="937" dirty="0">
                <a:solidFill>
                  <a:srgbClr val="5B6472"/>
                </a:solidFill>
              </a:rPr>
              <a:t>Record history included</a:t>
            </a:r>
            <a:endParaRPr lang="en-US" sz="1059" dirty="0"/>
          </a:p>
        </p:txBody>
      </p:sp>
      <p:sp>
        <p:nvSpPr>
          <p:cNvPr id="13" name="Badge 24"/>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Print recorded with its reference</a:t>
            </a:r>
            <a:endParaRPr lang="en-US" sz="1059"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The single-incident printout (PDF)</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Particulars, narrative and evidence of BIRDS-2026-1072, as printed</a:t>
            </a:r>
            <a:endParaRPr lang="en-US" sz="1141" dirty="0"/>
          </a:p>
        </p:txBody>
      </p:sp>
      <p:pic>
        <p:nvPicPr>
          <p:cNvPr id="4" name="Screen pdf-incident-BIRDS-2026-1072-p01" descr="E:\Tender\tender-submission\build\shots-jpg\pdf-incident-BIRDS-2026-1072-p01.jpg">    </p:cNvPr>
          <p:cNvPicPr>
            <a:picLocks noChangeAspect="1"/>
          </p:cNvPicPr>
          <p:nvPr/>
        </p:nvPicPr>
        <p:blipFill>
          <a:blip r:embed="rId1"/>
          <a:stretch>
            <a:fillRect/>
          </a:stretch>
        </p:blipFill>
        <p:spPr>
          <a:xfrm>
            <a:off x="1870280" y="1891453"/>
            <a:ext cx="249962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870280" y="1891453"/>
            <a:ext cx="2499620" cy="3539067"/>
          </a:xfrm>
          <a:prstGeom prst="rect">
            <a:avLst/>
          </a:prstGeom>
          <a:ln w="7761">
            <a:solidFill>
              <a:srgbClr val="D7DED8"/>
            </a:solidFill>
            <a:prstDash val="solid"/>
          </a:ln>
        </p:spPr>
      </p:sp>
      <p:sp>
        <p:nvSpPr>
          <p:cNvPr id="6" name="Caption"/>
          <p:cNvSpPr txBox="1"/>
          <p:nvPr/>
        </p:nvSpPr>
        <p:spPr>
          <a:xfrm>
            <a:off x="1870280"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Page 1: particulars and narrative</a:t>
            </a:r>
            <a:endParaRPr lang="en-US" sz="978" dirty="0"/>
          </a:p>
        </p:txBody>
      </p:sp>
      <p:pic>
        <p:nvPicPr>
          <p:cNvPr id="7" name="Screen pdf-incident-BIRDS-2026-1072-p02" descr="E:\Tender\tender-submission\build\shots-jpg\pdf-incident-BIRDS-2026-1072-p02.jpg">    </p:cNvPr>
          <p:cNvPicPr>
            <a:picLocks noChangeAspect="1"/>
          </p:cNvPicPr>
          <p:nvPr/>
        </p:nvPicPr>
        <p:blipFill>
          <a:blip r:embed="rId2"/>
          <a:stretch>
            <a:fillRect/>
          </a:stretch>
        </p:blipFill>
        <p:spPr>
          <a:xfrm>
            <a:off x="4593421" y="1891453"/>
            <a:ext cx="249962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593421" y="1891453"/>
            <a:ext cx="2499620" cy="3539067"/>
          </a:xfrm>
          <a:prstGeom prst="rect">
            <a:avLst/>
          </a:prstGeom>
          <a:ln w="7761">
            <a:solidFill>
              <a:srgbClr val="D7DED8"/>
            </a:solidFill>
            <a:prstDash val="solid"/>
          </a:ln>
        </p:spPr>
      </p:sp>
      <p:sp>
        <p:nvSpPr>
          <p:cNvPr id="9" name="Caption"/>
          <p:cNvSpPr txBox="1"/>
          <p:nvPr/>
        </p:nvSpPr>
        <p:spPr>
          <a:xfrm>
            <a:off x="4593421" y="5490125"/>
            <a:ext cx="2499620" cy="238421"/>
          </a:xfrm>
          <a:prstGeom prst="rect">
            <a:avLst/>
          </a:prstGeom>
          <a:noFill/>
          <a:ln/>
        </p:spPr>
        <p:txBody>
          <a:bodyPr wrap="square" lIns="0" tIns="0" rIns="0" bIns="0" rtlCol="0" anchor="ctr"/>
          <a:lstStyle/>
          <a:p>
            <a:pPr indent="0" marL="0">
              <a:buNone/>
            </a:pPr>
            <a:r>
              <a:rPr lang="en-US" sz="978" dirty="0">
                <a:solidFill>
                  <a:srgbClr val="5B6472"/>
                </a:solidFill>
              </a:rPr>
              <a:t>Page 2: action, outcome, evidence</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22"/>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3" name="Requirement 22"/>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Printable incident record</a:t>
            </a:r>
            <a:endParaRPr lang="en-US" sz="1059" dirty="0"/>
          </a:p>
        </p:txBody>
      </p:sp>
      <p:sp>
        <p:nvSpPr>
          <p:cNvPr id="14" name="Badge 10"/>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#10</a:t>
            </a:r>
            <a:endParaRPr lang="en-US" sz="978" dirty="0"/>
          </a:p>
        </p:txBody>
      </p:sp>
      <p:sp>
        <p:nvSpPr>
          <p:cNvPr id="16" name="Requirement 10"/>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Evidence &amp; Document Management</a:t>
            </a:r>
            <a:endParaRPr lang="en-US" sz="1059" dirty="0"/>
          </a:p>
          <a:p>
            <a:pPr indent="0" marL="0">
              <a:spcAft>
                <a:spcPts val="163"/>
              </a:spcAft>
              <a:buNone/>
            </a:pPr>
            <a:r>
              <a:rPr lang="en-US" sz="937" dirty="0">
                <a:solidFill>
                  <a:srgbClr val="5B6472"/>
                </a:solidFill>
              </a:rPr>
              <a:t>Evidence with captions</a:t>
            </a:r>
            <a:endParaRPr lang="en-US" sz="1059" dirty="0"/>
          </a:p>
        </p:txBody>
      </p:sp>
      <p:sp>
        <p:nvSpPr>
          <p:cNvPr id="17" name="Badge 4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9" name="Requirement 4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text in the printout</a:t>
            </a:r>
            <a:endParaRPr lang="en-US" sz="1059"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Excel and CSV export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real export file: classification, title and generation line, then one row per incident</a:t>
            </a:r>
            <a:endParaRPr lang="en-US" sz="1141" dirty="0"/>
          </a:p>
        </p:txBody>
      </p:sp>
      <p:pic>
        <p:nvPicPr>
          <p:cNvPr id="4" name="Screen p12-excel-export" descr="E:\Tender\tender-submission\build\shots-jpg\p12-excel-expor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2"/>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9" name="Requirement 22"/>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Excel and CSV export</a:t>
            </a:r>
            <a:endParaRPr lang="en-US" sz="1059" dirty="0"/>
          </a:p>
        </p:txBody>
      </p:sp>
      <p:sp>
        <p:nvSpPr>
          <p:cNvPr id="10" name="Badge 2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Every export audited</a:t>
            </a:r>
            <a:endParaRPr lang="en-US" sz="1059" dirty="0"/>
          </a:p>
        </p:txBody>
      </p:sp>
      <p:sp>
        <p:nvSpPr>
          <p:cNvPr id="13" name="Badge 4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5" name="Requirement 4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text kept in the file</a:t>
            </a:r>
            <a:endParaRPr lang="en-US" sz="1059"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08</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Audit trail and data integrity</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24, 25</a:t>
            </a:r>
            <a:endParaRPr lang="en-US" sz="1467"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Tamper-evident audit trail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significant action: sign-ins, workflow, evidence views, prints, exports, settings, calls</a:t>
            </a:r>
            <a:endParaRPr lang="en-US" sz="1141" dirty="0"/>
          </a:p>
        </p:txBody>
      </p:sp>
      <p:pic>
        <p:nvPicPr>
          <p:cNvPr id="4" name="Screen u01-audit" descr="E:\Tender\tender-submission\build\shots-jpg\u01-audi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9" name="Requirement 2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Comprehensive audit logging</a:t>
            </a:r>
            <a:endParaRPr lang="en-US" sz="1059" dirty="0"/>
          </a:p>
        </p:txBody>
      </p:sp>
      <p:sp>
        <p:nvSpPr>
          <p:cNvPr id="10" name="Badge 4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#48</a:t>
            </a:r>
            <a:endParaRPr lang="en-US" sz="978" dirty="0"/>
          </a:p>
        </p:txBody>
      </p:sp>
      <p:sp>
        <p:nvSpPr>
          <p:cNvPr id="12" name="Requirement 4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Logging &amp; Monitoring</a:t>
            </a:r>
            <a:endParaRPr lang="en-US" sz="1059" dirty="0"/>
          </a:p>
          <a:p>
            <a:pPr indent="0" marL="0">
              <a:spcAft>
                <a:spcPts val="163"/>
              </a:spcAft>
              <a:buNone/>
            </a:pPr>
            <a:r>
              <a:rPr lang="en-US" sz="937" dirty="0">
                <a:solidFill>
                  <a:srgbClr val="5B6472"/>
                </a:solidFill>
              </a:rPr>
              <a:t>User, time, action, details, IP address</a:t>
            </a:r>
            <a:endParaRPr lang="en-US" sz="1059" dirty="0"/>
          </a:p>
        </p:txBody>
      </p:sp>
      <p:sp>
        <p:nvSpPr>
          <p:cNvPr id="13" name="Badge 22"/>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5" name="Requirement 22"/>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Export</a:t>
            </a:r>
            <a:endParaRPr lang="en-US" sz="1059" dirty="0"/>
          </a:p>
          <a:p>
            <a:pPr indent="0" marL="0">
              <a:spcAft>
                <a:spcPts val="163"/>
              </a:spcAft>
              <a:buNone/>
            </a:pPr>
            <a:r>
              <a:rPr lang="en-US" sz="937" dirty="0">
                <a:solidFill>
                  <a:srgbClr val="5B6472"/>
                </a:solidFill>
              </a:rPr>
              <a:t>Export to CSV or Excel; print</a:t>
            </a:r>
            <a:endParaRPr lang="en-US" sz="1059"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One click verifies the whole chain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entry is sealed with the hash of the previous one; "Chain intact" covers all entries</a:t>
            </a:r>
            <a:endParaRPr lang="en-US" sz="1141" dirty="0"/>
          </a:p>
        </p:txBody>
      </p:sp>
      <p:pic>
        <p:nvPicPr>
          <p:cNvPr id="4" name="Screen u02-audit-verified" descr="E:\Tender\tender-submission\build\shots-jpg\u02-audit-verified.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9" name="Requirement 2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Tamper-evident logging</a:t>
            </a:r>
            <a:endParaRPr lang="en-US" sz="1059" dirty="0"/>
          </a:p>
        </p:txBody>
      </p:sp>
      <p:sp>
        <p:nvSpPr>
          <p:cNvPr id="10" name="Badge 2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2" name="Requirement 2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Alteration or deletion detected</a:t>
            </a:r>
            <a:endParaRPr lang="en-US" sz="1059" dirty="0"/>
          </a:p>
        </p:txBody>
      </p:sp>
      <p:sp>
        <p:nvSpPr>
          <p:cNvPr id="13" name="Badge 26"/>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#26</a:t>
            </a:r>
            <a:endParaRPr lang="en-US" sz="978" dirty="0"/>
          </a:p>
        </p:txBody>
      </p:sp>
      <p:sp>
        <p:nvSpPr>
          <p:cNvPr id="15" name="Requirement 26"/>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Security</a:t>
            </a:r>
            <a:endParaRPr lang="en-US" sz="1059" dirty="0"/>
          </a:p>
          <a:p>
            <a:pPr indent="0" marL="0">
              <a:spcAft>
                <a:spcPts val="163"/>
              </a:spcAft>
              <a:buNone/>
            </a:pPr>
            <a:r>
              <a:rPr lang="en-US" sz="937" dirty="0">
                <a:solidFill>
                  <a:srgbClr val="5B6472"/>
                </a:solidFill>
              </a:rPr>
              <a:t>Protected at database level</a:t>
            </a:r>
            <a:endParaRPr lang="en-US" sz="1059"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Entry details and its seal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Who, when, from where, what, and the hash linking it to the previous entry</a:t>
            </a:r>
            <a:endParaRPr lang="en-US" sz="1141" dirty="0"/>
          </a:p>
        </p:txBody>
      </p:sp>
      <p:pic>
        <p:nvPicPr>
          <p:cNvPr id="4" name="Screen u03-audit-details" descr="E:\Tender\tender-submission\build\shots-jpg\u03-audit-detail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2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9" name="Requirement 2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Detail of each audit event</a:t>
            </a:r>
            <a:endParaRPr lang="en-US" sz="1059" dirty="0"/>
          </a:p>
        </p:txBody>
      </p:sp>
      <p:sp>
        <p:nvSpPr>
          <p:cNvPr id="10" name="Badge 2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#25</a:t>
            </a:r>
            <a:endParaRPr lang="en-US" sz="978" dirty="0"/>
          </a:p>
        </p:txBody>
      </p:sp>
      <p:sp>
        <p:nvSpPr>
          <p:cNvPr id="12" name="Requirement 2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Data Integrity</a:t>
            </a:r>
            <a:endParaRPr lang="en-US" sz="1059" dirty="0"/>
          </a:p>
          <a:p>
            <a:pPr indent="0" marL="0">
              <a:spcAft>
                <a:spcPts val="163"/>
              </a:spcAft>
              <a:buNone/>
            </a:pPr>
            <a:r>
              <a:rPr lang="en-US" sz="937" dirty="0">
                <a:solidFill>
                  <a:srgbClr val="5B6472"/>
                </a:solidFill>
              </a:rPr>
              <a:t>Hash chain per entry</a:t>
            </a:r>
            <a:endParaRPr lang="en-US" sz="1059" dirty="0"/>
          </a:p>
        </p:txBody>
      </p:sp>
      <p:sp>
        <p:nvSpPr>
          <p:cNvPr id="13" name="Badge 4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#48</a:t>
            </a:r>
            <a:endParaRPr lang="en-US" sz="978" dirty="0"/>
          </a:p>
        </p:txBody>
      </p:sp>
      <p:sp>
        <p:nvSpPr>
          <p:cNvPr id="15" name="Requirement 4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Logging &amp; Monitoring</a:t>
            </a:r>
            <a:endParaRPr lang="en-US" sz="1059" dirty="0"/>
          </a:p>
          <a:p>
            <a:pPr indent="0" marL="0">
              <a:spcAft>
                <a:spcPts val="163"/>
              </a:spcAft>
              <a:buNone/>
            </a:pPr>
            <a:r>
              <a:rPr lang="en-US" sz="937" dirty="0">
                <a:solidFill>
                  <a:srgbClr val="5B6472"/>
                </a:solidFill>
              </a:rPr>
              <a:t>Browser and IP recorded</a:t>
            </a:r>
            <a:endParaRPr lang="en-US" sz="1059"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Filter by action, or follow one incident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print with its reference; everything that happened to BIRDS-2026-1072</a:t>
            </a:r>
            <a:endParaRPr lang="en-US" sz="1141" dirty="0"/>
          </a:p>
        </p:txBody>
      </p:sp>
      <p:pic>
        <p:nvPicPr>
          <p:cNvPr id="4" name="Screen u04-audit-filter" descr="E:\Tender\tender-submission\build\shots-jpg\u04-audit-filter.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Action: Print report</a:t>
            </a:r>
            <a:endParaRPr lang="en-US" sz="978" dirty="0"/>
          </a:p>
        </p:txBody>
      </p:sp>
      <p:pic>
        <p:nvPicPr>
          <p:cNvPr id="7" name="Screen u05-audit-incident-history" descr="E:\Tender\tender-submission\build\shots-jpg\u05-audit-incident-history.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Search: BIRDS-2026-1072</a:t>
            </a:r>
            <a:endParaRPr lang="en-US" sz="978" dirty="0"/>
          </a:p>
        </p:txBody>
      </p:sp>
      <p:sp>
        <p:nvSpPr>
          <p:cNvPr id="10" name="Badge 2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Audit search and filter</a:t>
            </a:r>
            <a:endParaRPr lang="en-US" sz="978" dirty="0"/>
          </a:p>
        </p:txBody>
      </p:sp>
      <p:sp>
        <p:nvSpPr>
          <p:cNvPr id="13" name="Badge 22"/>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#22</a:t>
            </a:r>
            <a:endParaRPr lang="en-US" sz="978" dirty="0"/>
          </a:p>
        </p:txBody>
      </p:sp>
      <p:sp>
        <p:nvSpPr>
          <p:cNvPr id="15" name="Requirement 22"/>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Export</a:t>
            </a:r>
            <a:endParaRPr lang="en-US" sz="978" dirty="0"/>
          </a:p>
          <a:p>
            <a:pPr indent="0" marL="0">
              <a:spcAft>
                <a:spcPts val="81"/>
              </a:spcAft>
              <a:buNone/>
            </a:pPr>
            <a:r>
              <a:rPr lang="en-US" sz="896" dirty="0">
                <a:solidFill>
                  <a:srgbClr val="5B6472"/>
                </a:solidFill>
              </a:rPr>
              <a:t>Printouts traceable by reference</a:t>
            </a:r>
            <a:endParaRPr lang="en-US" sz="978" dirty="0"/>
          </a:p>
        </p:txBody>
      </p:sp>
      <p:sp>
        <p:nvSpPr>
          <p:cNvPr id="16" name="Badge 12"/>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#12</a:t>
            </a:r>
            <a:endParaRPr lang="en-US" sz="978" dirty="0"/>
          </a:p>
        </p:txBody>
      </p:sp>
      <p:sp>
        <p:nvSpPr>
          <p:cNvPr id="18" name="Requirement 12"/>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Timeline</a:t>
            </a:r>
            <a:endParaRPr lang="en-US" sz="978" dirty="0"/>
          </a:p>
          <a:p>
            <a:pPr indent="0" marL="0">
              <a:spcAft>
                <a:spcPts val="81"/>
              </a:spcAft>
              <a:buNone/>
            </a:pPr>
            <a:r>
              <a:rPr lang="en-US" sz="896" dirty="0">
                <a:solidFill>
                  <a:srgbClr val="5B6472"/>
                </a:solidFill>
              </a:rPr>
              <a:t>Complete trace of one record</a:t>
            </a:r>
            <a:endParaRPr lang="en-US" sz="978"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09</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Administration and configuration</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3, 6, 9, 13, 44–47, 55</a:t>
            </a:r>
            <a:endParaRPr lang="en-US" sz="1467"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Users and roles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21 accounts: role, unit scope, status and last sign-in; create, edit, reset, deactivate</a:t>
            </a:r>
            <a:endParaRPr lang="en-US" sz="1141" dirty="0"/>
          </a:p>
        </p:txBody>
      </p:sp>
      <p:pic>
        <p:nvPicPr>
          <p:cNvPr id="4" name="Screen m01-admin-users" descr="E:\Tender\tender-submission\build\shots-jpg\m01-admin-user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6"/>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#46</a:t>
            </a:r>
            <a:endParaRPr lang="en-US" sz="978" dirty="0"/>
          </a:p>
        </p:txBody>
      </p:sp>
      <p:sp>
        <p:nvSpPr>
          <p:cNvPr id="9" name="Requirement 46"/>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Administrative Module</a:t>
            </a:r>
            <a:endParaRPr lang="en-US" sz="1059" dirty="0"/>
          </a:p>
          <a:p>
            <a:pPr indent="0" marL="0">
              <a:spcAft>
                <a:spcPts val="163"/>
              </a:spcAft>
              <a:buNone/>
            </a:pPr>
            <a:r>
              <a:rPr lang="en-US" sz="937" dirty="0">
                <a:solidFill>
                  <a:srgbClr val="5B6472"/>
                </a:solidFill>
              </a:rPr>
              <a:t>Central administration of users</a:t>
            </a:r>
            <a:endParaRPr lang="en-US" sz="1059" dirty="0"/>
          </a:p>
        </p:txBody>
      </p:sp>
      <p:sp>
        <p:nvSpPr>
          <p:cNvPr id="10" name="Badge 3"/>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2" name="Requirement 3"/>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Role and scope per user</a:t>
            </a:r>
            <a:endParaRPr lang="en-US" sz="1059" dirty="0"/>
          </a:p>
        </p:txBody>
      </p:sp>
      <p:sp>
        <p:nvSpPr>
          <p:cNvPr id="13" name="Badge 29"/>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#29</a:t>
            </a:r>
            <a:endParaRPr lang="en-US" sz="978" dirty="0"/>
          </a:p>
        </p:txBody>
      </p:sp>
      <p:sp>
        <p:nvSpPr>
          <p:cNvPr id="15" name="Requirement 29"/>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Password Security</a:t>
            </a:r>
            <a:endParaRPr lang="en-US" sz="1059" dirty="0"/>
          </a:p>
          <a:p>
            <a:pPr indent="0" marL="0">
              <a:spcAft>
                <a:spcPts val="163"/>
              </a:spcAft>
              <a:buNone/>
            </a:pPr>
            <a:r>
              <a:rPr lang="en-US" sz="937" dirty="0">
                <a:solidFill>
                  <a:srgbClr val="5B6472"/>
                </a:solidFill>
              </a:rPr>
              <a:t>Password reset, unlock</a:t>
            </a:r>
            <a:endParaRPr lang="en-US" sz="1059"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Editing an account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Name, username, e-mail, role and unit; a change of role or scope ends the user's sessions</a:t>
            </a:r>
            <a:endParaRPr lang="en-US" sz="1141" dirty="0"/>
          </a:p>
        </p:txBody>
      </p:sp>
      <p:pic>
        <p:nvPicPr>
          <p:cNvPr id="4" name="Screen m02-admin-user-edit" descr="E:\Tender\tender-submission\build\shots-jpg\m02-admin-user-edi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9" name="Requirement 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Configurable roles and scopes</a:t>
            </a:r>
            <a:endParaRPr lang="en-US" sz="1059" dirty="0"/>
          </a:p>
        </p:txBody>
      </p:sp>
      <p:sp>
        <p:nvSpPr>
          <p:cNvPr id="10" name="Badge 4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#46</a:t>
            </a:r>
            <a:endParaRPr lang="en-US" sz="978" dirty="0"/>
          </a:p>
        </p:txBody>
      </p:sp>
      <p:sp>
        <p:nvSpPr>
          <p:cNvPr id="12" name="Requirement 4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Administrative Module</a:t>
            </a:r>
            <a:endParaRPr lang="en-US" sz="1059" dirty="0"/>
          </a:p>
          <a:p>
            <a:pPr indent="0" marL="0">
              <a:spcAft>
                <a:spcPts val="163"/>
              </a:spcAft>
              <a:buNone/>
            </a:pPr>
            <a:r>
              <a:rPr lang="en-US" sz="937" dirty="0">
                <a:solidFill>
                  <a:srgbClr val="5B6472"/>
                </a:solidFill>
              </a:rPr>
              <a:t>User management</a:t>
            </a:r>
            <a:endParaRPr lang="en-US" sz="1059" dirty="0"/>
          </a:p>
        </p:txBody>
      </p:sp>
      <p:sp>
        <p:nvSpPr>
          <p:cNvPr id="13" name="Badge 2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#28</a:t>
            </a:r>
            <a:endParaRPr lang="en-US" sz="978" dirty="0"/>
          </a:p>
        </p:txBody>
      </p:sp>
      <p:sp>
        <p:nvSpPr>
          <p:cNvPr id="15" name="Requirement 2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Session Security</a:t>
            </a:r>
            <a:endParaRPr lang="en-US" sz="1059" dirty="0"/>
          </a:p>
          <a:p>
            <a:pPr indent="0" marL="0">
              <a:spcAft>
                <a:spcPts val="163"/>
              </a:spcAft>
              <a:buNone/>
            </a:pPr>
            <a:r>
              <a:rPr lang="en-US" sz="937" dirty="0">
                <a:solidFill>
                  <a:srgbClr val="5B6472"/>
                </a:solidFill>
              </a:rPr>
              <a:t>Sessions ended on privilege change</a:t>
            </a:r>
            <a:endParaRPr lang="en-US" sz="1059"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Permissions matrix</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Which role may open which module; changes apply on the next request; reset to defaults</a:t>
            </a:r>
            <a:endParaRPr lang="en-US" sz="1141" dirty="0"/>
          </a:p>
        </p:txBody>
      </p:sp>
      <p:pic>
        <p:nvPicPr>
          <p:cNvPr id="4" name="Screen m03-admin-permissions" descr="E:\Tender\tender-submission\build\shots-jpg\m03-admin-permission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9" name="Requirement 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Configurable roles and privileges</a:t>
            </a:r>
            <a:endParaRPr lang="en-US" sz="1059" dirty="0"/>
          </a:p>
        </p:txBody>
      </p:sp>
      <p:sp>
        <p:nvSpPr>
          <p:cNvPr id="10" name="Badge 47"/>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2" name="Requirement 47"/>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Configuration</a:t>
            </a:r>
            <a:endParaRPr lang="en-US" sz="1059" dirty="0"/>
          </a:p>
          <a:p>
            <a:pPr indent="0" marL="0">
              <a:spcAft>
                <a:spcPts val="163"/>
              </a:spcAft>
              <a:buNone/>
            </a:pPr>
            <a:r>
              <a:rPr lang="en-US" sz="937" dirty="0">
                <a:solidFill>
                  <a:srgbClr val="5B6472"/>
                </a:solidFill>
              </a:rPr>
              <a:t>Without code changes</a:t>
            </a:r>
            <a:endParaRPr lang="en-US" sz="1059" dirty="0"/>
          </a:p>
        </p:txBody>
      </p:sp>
      <p:sp>
        <p:nvSpPr>
          <p:cNvPr id="13" name="Badge 24"/>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Every change audited</a:t>
            </a:r>
            <a:endParaRPr lang="en-US" sz="1059"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Incident categories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Categories and sub-categories with their use; add, rename unused, deactivate</a:t>
            </a:r>
            <a:endParaRPr lang="en-US" sz="1141" dirty="0"/>
          </a:p>
        </p:txBody>
      </p:sp>
      <p:pic>
        <p:nvPicPr>
          <p:cNvPr id="4" name="Screen m04-admin-categories" descr="E:\Tender\tender-submission\build\shots-jpg\m04-admin-categorie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6"/>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#6</a:t>
            </a:r>
            <a:endParaRPr lang="en-US" sz="978" dirty="0"/>
          </a:p>
        </p:txBody>
      </p:sp>
      <p:sp>
        <p:nvSpPr>
          <p:cNvPr id="9" name="Requirement 6"/>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Classification</a:t>
            </a:r>
            <a:endParaRPr lang="en-US" sz="1059" dirty="0"/>
          </a:p>
          <a:p>
            <a:pPr indent="0" marL="0">
              <a:spcAft>
                <a:spcPts val="163"/>
              </a:spcAft>
              <a:buNone/>
            </a:pPr>
            <a:r>
              <a:rPr lang="en-US" sz="937" dirty="0">
                <a:solidFill>
                  <a:srgbClr val="5B6472"/>
                </a:solidFill>
              </a:rPr>
              <a:t>Configurable classification</a:t>
            </a:r>
            <a:endParaRPr lang="en-US" sz="1059" dirty="0"/>
          </a:p>
        </p:txBody>
      </p:sp>
      <p:sp>
        <p:nvSpPr>
          <p:cNvPr id="10" name="Badge 5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#55</a:t>
            </a:r>
            <a:endParaRPr lang="en-US" sz="978" dirty="0"/>
          </a:p>
        </p:txBody>
      </p:sp>
      <p:sp>
        <p:nvSpPr>
          <p:cNvPr id="12" name="Requirement 5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Customization</a:t>
            </a:r>
            <a:endParaRPr lang="en-US" sz="1059" dirty="0"/>
          </a:p>
          <a:p>
            <a:pPr indent="0" marL="0">
              <a:spcAft>
                <a:spcPts val="163"/>
              </a:spcAft>
              <a:buNone/>
            </a:pPr>
            <a:r>
              <a:rPr lang="en-US" sz="937" dirty="0">
                <a:solidFill>
                  <a:srgbClr val="5B6472"/>
                </a:solidFill>
              </a:rPr>
              <a:t>Customisation of forms</a:t>
            </a:r>
            <a:endParaRPr lang="en-US" sz="1059" dirty="0"/>
          </a:p>
        </p:txBody>
      </p:sp>
      <p:sp>
        <p:nvSpPr>
          <p:cNvPr id="13" name="Badge 4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5" name="Requirement 4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Configuration</a:t>
            </a:r>
            <a:endParaRPr lang="en-US" sz="1059" dirty="0"/>
          </a:p>
          <a:p>
            <a:pPr indent="0" marL="0">
              <a:spcAft>
                <a:spcPts val="163"/>
              </a:spcAft>
              <a:buNone/>
            </a:pPr>
            <a:r>
              <a:rPr lang="en-US" sz="937" dirty="0">
                <a:solidFill>
                  <a:srgbClr val="5B6472"/>
                </a:solidFill>
              </a:rPr>
              <a:t>No code changes</a:t>
            </a:r>
            <a:endParaRPr lang="en-US" sz="1059"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Organisational hierarchy</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HQ → 5 sectors → 10 battalions → 32 BOPs; units added by the administrator</a:t>
            </a:r>
            <a:endParaRPr lang="en-US" sz="1141" dirty="0"/>
          </a:p>
        </p:txBody>
      </p:sp>
      <p:pic>
        <p:nvPicPr>
          <p:cNvPr id="4" name="Screen m05-admin-org" descr="E:\Tender\tender-submission\build\shots-jpg\m05-admin-org.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9"/>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#9</a:t>
            </a:r>
            <a:endParaRPr lang="en-US" sz="978" dirty="0"/>
          </a:p>
        </p:txBody>
      </p:sp>
      <p:sp>
        <p:nvSpPr>
          <p:cNvPr id="9" name="Requirement 9"/>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Border Sector Information</a:t>
            </a:r>
            <a:endParaRPr lang="en-US" sz="1059" dirty="0"/>
          </a:p>
          <a:p>
            <a:pPr indent="0" marL="0">
              <a:spcAft>
                <a:spcPts val="163"/>
              </a:spcAft>
              <a:buNone/>
            </a:pPr>
            <a:r>
              <a:rPr lang="en-US" sz="937" dirty="0">
                <a:solidFill>
                  <a:srgbClr val="5B6472"/>
                </a:solidFill>
              </a:rPr>
              <a:t>Configurable organisational hierarchy</a:t>
            </a:r>
            <a:endParaRPr lang="en-US" sz="1059" dirty="0"/>
          </a:p>
        </p:txBody>
      </p:sp>
      <p:sp>
        <p:nvSpPr>
          <p:cNvPr id="10" name="Badge 5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#55</a:t>
            </a:r>
            <a:endParaRPr lang="en-US" sz="978" dirty="0"/>
          </a:p>
        </p:txBody>
      </p:sp>
      <p:sp>
        <p:nvSpPr>
          <p:cNvPr id="12" name="Requirement 5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Customization</a:t>
            </a:r>
            <a:endParaRPr lang="en-US" sz="1059" dirty="0"/>
          </a:p>
          <a:p>
            <a:pPr indent="0" marL="0">
              <a:spcAft>
                <a:spcPts val="163"/>
              </a:spcAft>
              <a:buNone/>
            </a:pPr>
            <a:r>
              <a:rPr lang="en-US" sz="937" dirty="0">
                <a:solidFill>
                  <a:srgbClr val="5B6472"/>
                </a:solidFill>
              </a:rPr>
              <a:t>Customisation of the hierarchy</a:t>
            </a:r>
            <a:endParaRPr lang="en-US" sz="1059" dirty="0"/>
          </a:p>
        </p:txBody>
      </p:sp>
      <p:sp>
        <p:nvSpPr>
          <p:cNvPr id="13" name="Badge 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5" name="Requirement 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Scopes follow the hierarchy</a:t>
            </a:r>
            <a:endParaRPr lang="en-US" sz="1059"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Archiving, retention and e-mail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Archive after 365 days; retention 3,650 days; nightly archiving; e-mail outbox</a:t>
            </a:r>
            <a:endParaRPr lang="en-US" sz="1141" dirty="0"/>
          </a:p>
        </p:txBody>
      </p:sp>
      <p:pic>
        <p:nvPicPr>
          <p:cNvPr id="4" name="Screen m06-admin-archive" descr="E:\Tender\tender-submission\build\shots-jpg\m06-admin-archive.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Archiving and retention with counts</a:t>
            </a:r>
            <a:endParaRPr lang="en-US" sz="978" dirty="0"/>
          </a:p>
        </p:txBody>
      </p:sp>
      <p:pic>
        <p:nvPicPr>
          <p:cNvPr id="7" name="Screen m07-admin-mail" descr="E:\Tender\tender-submission\build\shots-jpg\m07-admin-mail.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E-mail notifications and delivery status</a:t>
            </a:r>
            <a:endParaRPr lang="en-US" sz="978" dirty="0"/>
          </a:p>
        </p:txBody>
      </p:sp>
      <p:sp>
        <p:nvSpPr>
          <p:cNvPr id="10" name="Badge 4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#44</a:t>
            </a:r>
            <a:endParaRPr lang="en-US" sz="978" dirty="0"/>
          </a:p>
        </p:txBody>
      </p:sp>
      <p:sp>
        <p:nvSpPr>
          <p:cNvPr id="12" name="Requirement 4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Retention</a:t>
            </a:r>
            <a:endParaRPr lang="en-US" sz="978" dirty="0"/>
          </a:p>
          <a:p>
            <a:pPr indent="0" marL="0">
              <a:spcAft>
                <a:spcPts val="81"/>
              </a:spcAft>
              <a:buNone/>
            </a:pPr>
            <a:r>
              <a:rPr lang="en-US" sz="896" dirty="0">
                <a:solidFill>
                  <a:srgbClr val="5B6472"/>
                </a:solidFill>
              </a:rPr>
              <a:t>Configurable data retention</a:t>
            </a:r>
            <a:endParaRPr lang="en-US" sz="978" dirty="0"/>
          </a:p>
        </p:txBody>
      </p:sp>
      <p:sp>
        <p:nvSpPr>
          <p:cNvPr id="13" name="Badge 4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#45</a:t>
            </a:r>
            <a:endParaRPr lang="en-US" sz="978" dirty="0"/>
          </a:p>
        </p:txBody>
      </p:sp>
      <p:sp>
        <p:nvSpPr>
          <p:cNvPr id="15" name="Requirement 4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Archiving</a:t>
            </a:r>
            <a:endParaRPr lang="en-US" sz="978" dirty="0"/>
          </a:p>
          <a:p>
            <a:pPr indent="0" marL="0">
              <a:spcAft>
                <a:spcPts val="81"/>
              </a:spcAft>
              <a:buNone/>
            </a:pPr>
            <a:r>
              <a:rPr lang="en-US" sz="896" dirty="0">
                <a:solidFill>
                  <a:srgbClr val="5B6472"/>
                </a:solidFill>
              </a:rPr>
              <a:t>Archiving with audit trail</a:t>
            </a:r>
            <a:endParaRPr lang="en-US" sz="978" dirty="0"/>
          </a:p>
        </p:txBody>
      </p:sp>
      <p:sp>
        <p:nvSpPr>
          <p:cNvPr id="16" name="Badge 2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8" name="Requirement 2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Notifications</a:t>
            </a:r>
            <a:endParaRPr lang="en-US" sz="978" dirty="0"/>
          </a:p>
          <a:p>
            <a:pPr indent="0" marL="0">
              <a:spcAft>
                <a:spcPts val="81"/>
              </a:spcAft>
              <a:buNone/>
            </a:pPr>
            <a:r>
              <a:rPr lang="en-US" sz="896" dirty="0">
                <a:solidFill>
                  <a:srgbClr val="5B6472"/>
                </a:solidFill>
              </a:rPr>
              <a:t>E-mail notifications</a:t>
            </a:r>
            <a:endParaRPr lang="en-US" sz="978"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Directory sign-in and reference numbers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AD/LDAP settings ready for BGB's directory (marked Demo); next reference number per year</a:t>
            </a:r>
            <a:endParaRPr lang="en-US" sz="1141" dirty="0"/>
          </a:p>
        </p:txBody>
      </p:sp>
      <p:pic>
        <p:nvPicPr>
          <p:cNvPr id="4" name="Screen m08-admin-directory" descr="E:\Tender\tender-submission\build\shots-jpg\m08-admin-directory.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32"/>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#32</a:t>
            </a:r>
            <a:endParaRPr lang="en-US" sz="978" dirty="0"/>
          </a:p>
        </p:txBody>
      </p:sp>
      <p:sp>
        <p:nvSpPr>
          <p:cNvPr id="9" name="Requirement 32"/>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AD/LDAP Integration</a:t>
            </a:r>
            <a:endParaRPr lang="en-US" sz="1059" dirty="0"/>
          </a:p>
          <a:p>
            <a:pPr indent="0" marL="0">
              <a:spcAft>
                <a:spcPts val="163"/>
              </a:spcAft>
              <a:buNone/>
            </a:pPr>
            <a:r>
              <a:rPr lang="en-US" sz="937" dirty="0">
                <a:solidFill>
                  <a:srgbClr val="5B6472"/>
                </a:solidFill>
              </a:rPr>
              <a:t>AD/LDAP integration at deployment</a:t>
            </a:r>
            <a:endParaRPr lang="en-US" sz="1059" dirty="0"/>
          </a:p>
        </p:txBody>
      </p:sp>
      <p:sp>
        <p:nvSpPr>
          <p:cNvPr id="10" name="Badge 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a:t>
            </a:r>
            <a:endParaRPr lang="en-US" sz="978" dirty="0"/>
          </a:p>
        </p:txBody>
      </p:sp>
      <p:sp>
        <p:nvSpPr>
          <p:cNvPr id="12" name="Requirement 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Authentication</a:t>
            </a:r>
            <a:endParaRPr lang="en-US" sz="1059" dirty="0"/>
          </a:p>
          <a:p>
            <a:pPr indent="0" marL="0">
              <a:spcAft>
                <a:spcPts val="163"/>
              </a:spcAft>
              <a:buNone/>
            </a:pPr>
            <a:r>
              <a:rPr lang="en-US" sz="937" dirty="0">
                <a:solidFill>
                  <a:srgbClr val="5B6472"/>
                </a:solidFill>
              </a:rPr>
              <a:t>Directory sign-in</a:t>
            </a:r>
            <a:endParaRPr lang="en-US" sz="1059" dirty="0"/>
          </a:p>
        </p:txBody>
      </p:sp>
      <p:sp>
        <p:nvSpPr>
          <p:cNvPr id="13" name="Badge 15"/>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#15</a:t>
            </a:r>
            <a:endParaRPr lang="en-US" sz="978" dirty="0"/>
          </a:p>
        </p:txBody>
      </p:sp>
      <p:sp>
        <p:nvSpPr>
          <p:cNvPr id="15" name="Requirement 15"/>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Incident Tracking</a:t>
            </a:r>
            <a:endParaRPr lang="en-US" sz="1059" dirty="0"/>
          </a:p>
          <a:p>
            <a:pPr indent="0" marL="0">
              <a:spcAft>
                <a:spcPts val="163"/>
              </a:spcAft>
              <a:buNone/>
            </a:pPr>
            <a:r>
              <a:rPr lang="en-US" sz="937" dirty="0">
                <a:solidFill>
                  <a:srgbClr val="5B6472"/>
                </a:solidFill>
              </a:rPr>
              <a:t>Reference numbers allocated by the server</a:t>
            </a:r>
            <a:endParaRPr lang="en-US" sz="1059"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Operations: what production adds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Backup, disaster recovery, high availability, performance and logs (marked Demo)</a:t>
            </a:r>
            <a:endParaRPr lang="en-US" sz="1141" dirty="0"/>
          </a:p>
        </p:txBody>
      </p:sp>
      <p:pic>
        <p:nvPicPr>
          <p:cNvPr id="4" name="Screen m09-ops-overview" descr="E:\Tender\tender-submission\build\shots-jpg\m09-ops-overview.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34"/>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#34</a:t>
            </a:r>
            <a:endParaRPr lang="en-US" sz="978" dirty="0"/>
          </a:p>
        </p:txBody>
      </p:sp>
      <p:sp>
        <p:nvSpPr>
          <p:cNvPr id="9" name="Requirement 34"/>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Backup</a:t>
            </a:r>
            <a:endParaRPr lang="en-US" sz="1059" dirty="0"/>
          </a:p>
          <a:p>
            <a:pPr indent="0" marL="0">
              <a:spcAft>
                <a:spcPts val="163"/>
              </a:spcAft>
              <a:buNone/>
            </a:pPr>
            <a:r>
              <a:rPr lang="en-US" sz="937" dirty="0">
                <a:solidFill>
                  <a:srgbClr val="5B6472"/>
                </a:solidFill>
              </a:rPr>
              <a:t>Automated backup</a:t>
            </a:r>
            <a:endParaRPr lang="en-US" sz="1059" dirty="0"/>
          </a:p>
        </p:txBody>
      </p:sp>
      <p:sp>
        <p:nvSpPr>
          <p:cNvPr id="10" name="Badge 35"/>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#35</a:t>
            </a:r>
            <a:endParaRPr lang="en-US" sz="978" dirty="0"/>
          </a:p>
        </p:txBody>
      </p:sp>
      <p:sp>
        <p:nvSpPr>
          <p:cNvPr id="12" name="Requirement 35"/>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Disaster Recovery</a:t>
            </a:r>
            <a:endParaRPr lang="en-US" sz="1059" dirty="0"/>
          </a:p>
          <a:p>
            <a:pPr indent="0" marL="0">
              <a:spcAft>
                <a:spcPts val="163"/>
              </a:spcAft>
              <a:buNone/>
            </a:pPr>
            <a:r>
              <a:rPr lang="en-US" sz="937" dirty="0">
                <a:solidFill>
                  <a:srgbClr val="5B6472"/>
                </a:solidFill>
              </a:rPr>
              <a:t>Disaster recovery</a:t>
            </a:r>
            <a:endParaRPr lang="en-US" sz="1059" dirty="0"/>
          </a:p>
        </p:txBody>
      </p:sp>
      <p:sp>
        <p:nvSpPr>
          <p:cNvPr id="13" name="Badge 36"/>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#36</a:t>
            </a:r>
            <a:endParaRPr lang="en-US" sz="978" dirty="0"/>
          </a:p>
        </p:txBody>
      </p:sp>
      <p:sp>
        <p:nvSpPr>
          <p:cNvPr id="15" name="Requirement 36"/>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High Availability</a:t>
            </a:r>
            <a:endParaRPr lang="en-US" sz="1059" dirty="0"/>
          </a:p>
          <a:p>
            <a:pPr indent="0" marL="0">
              <a:spcAft>
                <a:spcPts val="163"/>
              </a:spcAft>
              <a:buNone/>
            </a:pPr>
            <a:r>
              <a:rPr lang="en-US" sz="937" dirty="0">
                <a:solidFill>
                  <a:srgbClr val="5B6472"/>
                </a:solidFill>
              </a:rPr>
              <a:t>High availability</a:t>
            </a:r>
            <a:endParaRPr lang="en-US" sz="1059"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Backup, disaster recovery and high availability</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Interval, method and recent backups; DR site, replication, RPO and RTO; redundant nodes</a:t>
            </a:r>
            <a:endParaRPr lang="en-US" sz="1141" dirty="0"/>
          </a:p>
        </p:txBody>
      </p:sp>
      <p:pic>
        <p:nvPicPr>
          <p:cNvPr id="4" name="Screen m10-ops-backup" descr="E:\Tender\tender-submission\build\shots-jpg\m10-ops-backup.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Backup and restore</a:t>
            </a:r>
            <a:endParaRPr lang="en-US" sz="978" dirty="0"/>
          </a:p>
        </p:txBody>
      </p:sp>
      <p:pic>
        <p:nvPicPr>
          <p:cNvPr id="7" name="Screen m11-ops-dr-ha" descr="E:\Tender\tender-submission\build\shots-jpg\m11-ops-dr-ha.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Disaster recovery and high availability</a:t>
            </a:r>
            <a:endParaRPr lang="en-US" sz="978" dirty="0"/>
          </a:p>
        </p:txBody>
      </p:sp>
      <p:sp>
        <p:nvSpPr>
          <p:cNvPr id="10" name="Badge 3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#34</a:t>
            </a:r>
            <a:endParaRPr lang="en-US" sz="978" dirty="0"/>
          </a:p>
        </p:txBody>
      </p:sp>
      <p:sp>
        <p:nvSpPr>
          <p:cNvPr id="12" name="Requirement 3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Backup</a:t>
            </a:r>
            <a:endParaRPr lang="en-US" sz="978" dirty="0"/>
          </a:p>
          <a:p>
            <a:pPr indent="0" marL="0">
              <a:spcAft>
                <a:spcPts val="81"/>
              </a:spcAft>
              <a:buNone/>
            </a:pPr>
            <a:r>
              <a:rPr lang="en-US" sz="896" dirty="0">
                <a:solidFill>
                  <a:srgbClr val="5B6472"/>
                </a:solidFill>
              </a:rPr>
              <a:t>Scheduled encrypted backup</a:t>
            </a:r>
            <a:endParaRPr lang="en-US" sz="978" dirty="0"/>
          </a:p>
        </p:txBody>
      </p:sp>
      <p:sp>
        <p:nvSpPr>
          <p:cNvPr id="13" name="Badge 35"/>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#35</a:t>
            </a:r>
            <a:endParaRPr lang="en-US" sz="978" dirty="0"/>
          </a:p>
        </p:txBody>
      </p:sp>
      <p:sp>
        <p:nvSpPr>
          <p:cNvPr id="15" name="Requirement 35"/>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Disaster Recovery</a:t>
            </a:r>
            <a:endParaRPr lang="en-US" sz="978" dirty="0"/>
          </a:p>
          <a:p>
            <a:pPr indent="0" marL="0">
              <a:spcAft>
                <a:spcPts val="81"/>
              </a:spcAft>
              <a:buNone/>
            </a:pPr>
            <a:r>
              <a:rPr lang="en-US" sz="896" dirty="0">
                <a:solidFill>
                  <a:srgbClr val="5B6472"/>
                </a:solidFill>
              </a:rPr>
              <a:t>DR site with recovery targets</a:t>
            </a:r>
            <a:endParaRPr lang="en-US" sz="978" dirty="0"/>
          </a:p>
        </p:txBody>
      </p:sp>
      <p:sp>
        <p:nvSpPr>
          <p:cNvPr id="16" name="Badge 36"/>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#36</a:t>
            </a:r>
            <a:endParaRPr lang="en-US" sz="978" dirty="0"/>
          </a:p>
        </p:txBody>
      </p:sp>
      <p:sp>
        <p:nvSpPr>
          <p:cNvPr id="18" name="Requirement 36"/>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High Availability</a:t>
            </a:r>
            <a:endParaRPr lang="en-US" sz="978" dirty="0"/>
          </a:p>
          <a:p>
            <a:pPr indent="0" marL="0">
              <a:spcAft>
                <a:spcPts val="81"/>
              </a:spcAft>
              <a:buNone/>
            </a:pPr>
            <a:r>
              <a:rPr lang="en-US" sz="896" dirty="0">
                <a:solidFill>
                  <a:srgbClr val="5B6472"/>
                </a:solidFill>
              </a:rPr>
              <a:t>Redundant servers</a:t>
            </a:r>
            <a:endParaRPr lang="en-US" sz="978"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Performance, availability and logs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Targets from the tender, load test results, log streams and rotation</a:t>
            </a:r>
            <a:endParaRPr lang="en-US" sz="1141" dirty="0"/>
          </a:p>
        </p:txBody>
      </p:sp>
      <p:pic>
        <p:nvPicPr>
          <p:cNvPr id="4" name="Screen m12-ops-performance" descr="E:\Tender\tender-submission\build\shots-jpg\m12-ops-performance.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Users, response time, availability</a:t>
            </a:r>
            <a:endParaRPr lang="en-US" sz="978" dirty="0"/>
          </a:p>
        </p:txBody>
      </p:sp>
      <p:pic>
        <p:nvPicPr>
          <p:cNvPr id="7" name="Screen m13-ops-logs" descr="E:\Tender\tender-submission\build\shots-jpg\m13-ops-log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Logs and monitoring</a:t>
            </a:r>
            <a:endParaRPr lang="en-US" sz="978" dirty="0"/>
          </a:p>
        </p:txBody>
      </p:sp>
      <p:sp>
        <p:nvSpPr>
          <p:cNvPr id="10" name="Badge 3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#38</a:t>
            </a:r>
            <a:endParaRPr lang="en-US" sz="978" dirty="0"/>
          </a:p>
        </p:txBody>
      </p:sp>
      <p:sp>
        <p:nvSpPr>
          <p:cNvPr id="12" name="Requirement 3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Concurrent Users</a:t>
            </a:r>
            <a:endParaRPr lang="en-US" sz="978" dirty="0"/>
          </a:p>
          <a:p>
            <a:pPr indent="0" marL="0">
              <a:spcAft>
                <a:spcPts val="81"/>
              </a:spcAft>
              <a:buNone/>
            </a:pPr>
            <a:r>
              <a:rPr lang="en-US" sz="896" dirty="0">
                <a:solidFill>
                  <a:srgbClr val="5B6472"/>
                </a:solidFill>
              </a:rPr>
              <a:t>Concurrent users target</a:t>
            </a:r>
            <a:endParaRPr lang="en-US" sz="978" dirty="0"/>
          </a:p>
        </p:txBody>
      </p:sp>
      <p:sp>
        <p:nvSpPr>
          <p:cNvPr id="13" name="Badge 39"/>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#39</a:t>
            </a:r>
            <a:endParaRPr lang="en-US" sz="978" dirty="0"/>
          </a:p>
        </p:txBody>
      </p:sp>
      <p:sp>
        <p:nvSpPr>
          <p:cNvPr id="15" name="Requirement 39"/>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Performance</a:t>
            </a:r>
            <a:endParaRPr lang="en-US" sz="978" dirty="0"/>
          </a:p>
          <a:p>
            <a:pPr indent="0" marL="0">
              <a:spcAft>
                <a:spcPts val="81"/>
              </a:spcAft>
              <a:buNone/>
            </a:pPr>
            <a:r>
              <a:rPr lang="en-US" sz="896" dirty="0">
                <a:solidFill>
                  <a:srgbClr val="5B6472"/>
                </a:solidFill>
              </a:rPr>
              <a:t>Response time under 3 seconds</a:t>
            </a:r>
            <a:endParaRPr lang="en-US" sz="978" dirty="0"/>
          </a:p>
        </p:txBody>
      </p:sp>
      <p:sp>
        <p:nvSpPr>
          <p:cNvPr id="16" name="Badge 48"/>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#48</a:t>
            </a:r>
            <a:endParaRPr lang="en-US" sz="978" dirty="0"/>
          </a:p>
        </p:txBody>
      </p:sp>
      <p:sp>
        <p:nvSpPr>
          <p:cNvPr id="18" name="Requirement 48"/>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Logging &amp; Monitoring</a:t>
            </a:r>
            <a:endParaRPr lang="en-US" sz="978" dirty="0"/>
          </a:p>
          <a:p>
            <a:pPr indent="0" marL="0">
              <a:spcAft>
                <a:spcPts val="81"/>
              </a:spcAft>
              <a:buNone/>
            </a:pPr>
            <a:r>
              <a:rPr lang="en-US" sz="896" dirty="0">
                <a:solidFill>
                  <a:srgbClr val="5B6472"/>
                </a:solidFill>
              </a:rPr>
              <a:t>Application logging and monitoring</a:t>
            </a:r>
            <a:endParaRPr lang="en-US" sz="978"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10</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Platform, languages and integration</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Specification items 31, 41–43, 58</a:t>
            </a:r>
            <a:endParaRPr lang="en-US" sz="1467"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Full Bangla interface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screen, message and printout in Bangla; one switch in the header</a:t>
            </a:r>
            <a:endParaRPr lang="en-US" sz="1141" dirty="0"/>
          </a:p>
        </p:txBody>
      </p:sp>
      <p:pic>
        <p:nvPicPr>
          <p:cNvPr id="4" name="Screen x01-bangla-dashboard" descr="E:\Tender\tender-submission\build\shots-jpg\x01-bangla-dashboard.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9" name="Requirement 4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English and Bangla interface</a:t>
            </a:r>
            <a:endParaRPr lang="en-US" sz="1059" dirty="0"/>
          </a:p>
        </p:txBody>
      </p:sp>
      <p:sp>
        <p:nvSpPr>
          <p:cNvPr id="10" name="Badge 17"/>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2" name="Requirement 17"/>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Same dashboard in Bangla</a:t>
            </a:r>
            <a:endParaRPr lang="en-US" sz="1059" dirty="0"/>
          </a:p>
        </p:txBody>
      </p:sp>
      <p:sp>
        <p:nvSpPr>
          <p:cNvPr id="13" name="Badge 41"/>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#41</a:t>
            </a:r>
            <a:endParaRPr lang="en-US" sz="978" dirty="0"/>
          </a:p>
        </p:txBody>
      </p:sp>
      <p:sp>
        <p:nvSpPr>
          <p:cNvPr id="15" name="Requirement 41"/>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Mobile Responsiveness</a:t>
            </a:r>
            <a:endParaRPr lang="en-US" sz="1059" dirty="0"/>
          </a:p>
          <a:p>
            <a:pPr indent="0" marL="0">
              <a:spcAft>
                <a:spcPts val="163"/>
              </a:spcAft>
              <a:buNone/>
            </a:pPr>
            <a:r>
              <a:rPr lang="en-US" sz="937" dirty="0">
                <a:solidFill>
                  <a:srgbClr val="5B6472"/>
                </a:solidFill>
              </a:rPr>
              <a:t>Bangla font included</a:t>
            </a:r>
            <a:endParaRPr lang="en-US" sz="1059"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Bangla throughout: records and analytics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Incident page and analytics in Bangla, with Bangla dates and numbers in labels</a:t>
            </a:r>
            <a:endParaRPr lang="en-US" sz="1141" dirty="0"/>
          </a:p>
        </p:txBody>
      </p:sp>
      <p:pic>
        <p:nvPicPr>
          <p:cNvPr id="4" name="Screen x02-bangla-incident" descr="E:\Tender\tender-submission\build\shots-jpg\x02-bangla-incident.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Incident record in Bangla</a:t>
            </a:r>
            <a:endParaRPr lang="en-US" sz="978" dirty="0"/>
          </a:p>
        </p:txBody>
      </p:sp>
      <p:pic>
        <p:nvPicPr>
          <p:cNvPr id="7" name="Screen x03-bangla-analytics" descr="E:\Tender\tender-submission\build\shots-jpg\x03-bangla-analytic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Analytics in Bangla</a:t>
            </a:r>
            <a:endParaRPr lang="en-US" sz="978" dirty="0"/>
          </a:p>
        </p:txBody>
      </p:sp>
      <p:sp>
        <p:nvSpPr>
          <p:cNvPr id="10" name="Badge 43"/>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2" name="Requirement 43"/>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Localization</a:t>
            </a:r>
            <a:endParaRPr lang="en-US" sz="978" dirty="0"/>
          </a:p>
          <a:p>
            <a:pPr indent="0" marL="0">
              <a:spcAft>
                <a:spcPts val="81"/>
              </a:spcAft>
              <a:buNone/>
            </a:pPr>
            <a:r>
              <a:rPr lang="en-US" sz="896" dirty="0">
                <a:solidFill>
                  <a:srgbClr val="5B6472"/>
                </a:solidFill>
              </a:rPr>
              <a:t>Bangla labels and content</a:t>
            </a:r>
            <a:endParaRPr lang="en-US" sz="978" dirty="0"/>
          </a:p>
        </p:txBody>
      </p:sp>
      <p:sp>
        <p:nvSpPr>
          <p:cNvPr id="13" name="Badge 19"/>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#19</a:t>
            </a:r>
            <a:endParaRPr lang="en-US" sz="978" dirty="0"/>
          </a:p>
        </p:txBody>
      </p:sp>
      <p:sp>
        <p:nvSpPr>
          <p:cNvPr id="15" name="Requirement 19"/>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Analytics &amp; Statistics</a:t>
            </a:r>
            <a:endParaRPr lang="en-US" sz="978" dirty="0"/>
          </a:p>
          <a:p>
            <a:pPr indent="0" marL="0">
              <a:spcAft>
                <a:spcPts val="81"/>
              </a:spcAft>
              <a:buNone/>
            </a:pPr>
            <a:r>
              <a:rPr lang="en-US" sz="896" dirty="0">
                <a:solidFill>
                  <a:srgbClr val="5B6472"/>
                </a:solidFill>
              </a:rPr>
              <a:t>Analytics in Bangla</a:t>
            </a:r>
            <a:endParaRPr lang="en-US" sz="978" dirty="0"/>
          </a:p>
        </p:txBody>
      </p:sp>
      <p:sp>
        <p:nvSpPr>
          <p:cNvPr id="16" name="Badge 7"/>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#7</a:t>
            </a:r>
            <a:endParaRPr lang="en-US" sz="978" dirty="0"/>
          </a:p>
        </p:txBody>
      </p:sp>
      <p:sp>
        <p:nvSpPr>
          <p:cNvPr id="18" name="Requirement 7"/>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Incident Details</a:t>
            </a:r>
            <a:endParaRPr lang="en-US" sz="978" dirty="0"/>
          </a:p>
          <a:p>
            <a:pPr indent="0" marL="0">
              <a:spcAft>
                <a:spcPts val="81"/>
              </a:spcAft>
              <a:buNone/>
            </a:pPr>
            <a:r>
              <a:rPr lang="en-US" sz="896" dirty="0">
                <a:solidFill>
                  <a:srgbClr val="5B6472"/>
                </a:solidFill>
              </a:rPr>
              <a:t>Records readable in Bangla</a:t>
            </a:r>
            <a:endParaRPr lang="en-US" sz="978"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Administration in Bangla</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Settings, units and hints translated</a:t>
            </a:r>
            <a:endParaRPr lang="en-US" sz="1141" dirty="0"/>
          </a:p>
        </p:txBody>
      </p:sp>
      <p:pic>
        <p:nvPicPr>
          <p:cNvPr id="4" name="Screen x04-bangla-admin" descr="E:\Tender\tender-submission\build\shots-jpg\x04-bangla-admin.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9" name="Requirement 4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in every module</a:t>
            </a:r>
            <a:endParaRPr lang="en-US" sz="1059" dirty="0"/>
          </a:p>
        </p:txBody>
      </p:sp>
      <p:sp>
        <p:nvSpPr>
          <p:cNvPr id="10" name="Badge 46"/>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#46</a:t>
            </a:r>
            <a:endParaRPr lang="en-US" sz="978" dirty="0"/>
          </a:p>
        </p:txBody>
      </p:sp>
      <p:sp>
        <p:nvSpPr>
          <p:cNvPr id="12" name="Requirement 46"/>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Administrative Module</a:t>
            </a:r>
            <a:endParaRPr lang="en-US" sz="1059" dirty="0"/>
          </a:p>
          <a:p>
            <a:pPr indent="0" marL="0">
              <a:spcAft>
                <a:spcPts val="163"/>
              </a:spcAft>
              <a:buNone/>
            </a:pPr>
            <a:r>
              <a:rPr lang="en-US" sz="937" dirty="0">
                <a:solidFill>
                  <a:srgbClr val="5B6472"/>
                </a:solidFill>
              </a:rPr>
              <a:t>Administrative module</a:t>
            </a:r>
            <a:endParaRPr lang="en-US" sz="1059" dirty="0"/>
          </a:p>
        </p:txBody>
      </p:sp>
      <p:sp>
        <p:nvSpPr>
          <p:cNvPr id="13" name="Badge 47"/>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#47</a:t>
            </a:r>
            <a:endParaRPr lang="en-US" sz="978" dirty="0"/>
          </a:p>
        </p:txBody>
      </p:sp>
      <p:sp>
        <p:nvSpPr>
          <p:cNvPr id="15" name="Requirement 47"/>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Configuration</a:t>
            </a:r>
            <a:endParaRPr lang="en-US" sz="1059" dirty="0"/>
          </a:p>
          <a:p>
            <a:pPr indent="0" marL="0">
              <a:spcAft>
                <a:spcPts val="163"/>
              </a:spcAft>
              <a:buNone/>
            </a:pPr>
            <a:r>
              <a:rPr lang="en-US" sz="937" dirty="0">
                <a:solidFill>
                  <a:srgbClr val="5B6472"/>
                </a:solidFill>
              </a:rPr>
              <a:t>Configuration in either language</a:t>
            </a:r>
            <a:endParaRPr lang="en-US" sz="1059"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Phones: an installable app</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Installed from the browser, no app store; full screen like a native app</a:t>
            </a:r>
            <a:endParaRPr lang="en-US" sz="1141" dirty="0"/>
          </a:p>
        </p:txBody>
      </p:sp>
      <p:pic>
        <p:nvPicPr>
          <p:cNvPr id="4" name="Screen x05-phone-dashboard" descr="E:\Tender\tender-submission\build\shots-jpg\x05-phone-dashboard.jpg">    </p:cNvPr>
          <p:cNvPicPr>
            <a:picLocks noChangeAspect="1"/>
          </p:cNvPicPr>
          <p:nvPr/>
        </p:nvPicPr>
        <p:blipFill>
          <a:blip r:embed="rId1"/>
          <a:stretch>
            <a:fillRect/>
          </a:stretch>
        </p:blipFill>
        <p:spPr>
          <a:xfrm>
            <a:off x="1805115" y="1891453"/>
            <a:ext cx="163535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805115" y="1891453"/>
            <a:ext cx="1635350" cy="3539067"/>
          </a:xfrm>
          <a:prstGeom prst="rect">
            <a:avLst/>
          </a:prstGeom>
          <a:ln w="7761">
            <a:solidFill>
              <a:srgbClr val="D7DED8"/>
            </a:solidFill>
            <a:prstDash val="solid"/>
          </a:ln>
        </p:spPr>
      </p:sp>
      <p:sp>
        <p:nvSpPr>
          <p:cNvPr id="6" name="Caption"/>
          <p:cNvSpPr txBox="1"/>
          <p:nvPr/>
        </p:nvSpPr>
        <p:spPr>
          <a:xfrm>
            <a:off x="1805115" y="5490125"/>
            <a:ext cx="1639147" cy="238421"/>
          </a:xfrm>
          <a:prstGeom prst="rect">
            <a:avLst/>
          </a:prstGeom>
          <a:noFill/>
          <a:ln/>
        </p:spPr>
        <p:txBody>
          <a:bodyPr wrap="square" lIns="0" tIns="0" rIns="0" bIns="0" rtlCol="0" anchor="ctr"/>
          <a:lstStyle/>
          <a:p>
            <a:pPr indent="0" marL="0">
              <a:buNone/>
            </a:pPr>
            <a:r>
              <a:rPr lang="en-US" sz="978" dirty="0">
                <a:solidFill>
                  <a:srgbClr val="5B6472"/>
                </a:solidFill>
              </a:rPr>
              <a:t>Dashboard</a:t>
            </a:r>
            <a:endParaRPr lang="en-US" sz="978" dirty="0"/>
          </a:p>
        </p:txBody>
      </p:sp>
      <p:pic>
        <p:nvPicPr>
          <p:cNvPr id="7" name="Screen x06-phone-incident" descr="E:\Tender\tender-submission\build\shots-jpg\x06-phone-incident.jpg">    </p:cNvPr>
          <p:cNvPicPr>
            <a:picLocks noChangeAspect="1"/>
          </p:cNvPicPr>
          <p:nvPr/>
        </p:nvPicPr>
        <p:blipFill>
          <a:blip r:embed="rId2"/>
          <a:stretch>
            <a:fillRect/>
          </a:stretch>
        </p:blipFill>
        <p:spPr>
          <a:xfrm>
            <a:off x="3663985" y="1891453"/>
            <a:ext cx="163535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3663985" y="1891453"/>
            <a:ext cx="1635350" cy="3539067"/>
          </a:xfrm>
          <a:prstGeom prst="rect">
            <a:avLst/>
          </a:prstGeom>
          <a:ln w="7761">
            <a:solidFill>
              <a:srgbClr val="D7DED8"/>
            </a:solidFill>
            <a:prstDash val="solid"/>
          </a:ln>
        </p:spPr>
      </p:sp>
      <p:sp>
        <p:nvSpPr>
          <p:cNvPr id="9" name="Caption"/>
          <p:cNvSpPr txBox="1"/>
          <p:nvPr/>
        </p:nvSpPr>
        <p:spPr>
          <a:xfrm>
            <a:off x="3663985" y="5490125"/>
            <a:ext cx="1639147" cy="238421"/>
          </a:xfrm>
          <a:prstGeom prst="rect">
            <a:avLst/>
          </a:prstGeom>
          <a:noFill/>
          <a:ln/>
        </p:spPr>
        <p:txBody>
          <a:bodyPr wrap="square" lIns="0" tIns="0" rIns="0" bIns="0" rtlCol="0" anchor="ctr"/>
          <a:lstStyle/>
          <a:p>
            <a:pPr indent="0" marL="0">
              <a:buNone/>
            </a:pPr>
            <a:r>
              <a:rPr lang="en-US" sz="978" dirty="0">
                <a:solidFill>
                  <a:srgbClr val="5B6472"/>
                </a:solidFill>
              </a:rPr>
              <a:t>Returned report</a:t>
            </a:r>
            <a:endParaRPr lang="en-US" sz="978" dirty="0"/>
          </a:p>
        </p:txBody>
      </p:sp>
      <p:pic>
        <p:nvPicPr>
          <p:cNvPr id="10" name="Screen x07-phone-list" descr="E:\Tender\tender-submission\build\shots-jpg\x07-phone-list.jpg">    </p:cNvPr>
          <p:cNvPicPr>
            <a:picLocks noChangeAspect="1"/>
          </p:cNvPicPr>
          <p:nvPr/>
        </p:nvPicPr>
        <p:blipFill>
          <a:blip r:embed="rId3"/>
          <a:stretch>
            <a:fillRect/>
          </a:stretch>
        </p:blipFill>
        <p:spPr>
          <a:xfrm>
            <a:off x="5522856" y="1891453"/>
            <a:ext cx="1635350" cy="3539067"/>
          </a:xfrm>
          <a:prstGeom prst="rect">
            <a:avLst/>
          </a:prstGeom>
          <a:effectLst>
            <a:outerShdw sx="100000" sy="100000" kx="0" ky="0" algn="bl" rotWithShape="0" blurRad="62089" dist="20696" dir="5400000">
              <a:srgbClr val="000000">
                <a:alpha val="18000"/>
              </a:srgbClr>
            </a:outerShdw>
          </a:effectLst>
        </p:spPr>
      </p:pic>
      <p:sp>
        <p:nvSpPr>
          <p:cNvPr id="11" name="Frame"/>
          <p:cNvSpPr/>
          <p:nvPr/>
        </p:nvSpPr>
        <p:spPr>
          <a:xfrm>
            <a:off x="5522856" y="1891453"/>
            <a:ext cx="1635350" cy="3539067"/>
          </a:xfrm>
          <a:prstGeom prst="rect">
            <a:avLst/>
          </a:prstGeom>
          <a:ln w="7761">
            <a:solidFill>
              <a:srgbClr val="D7DED8"/>
            </a:solidFill>
            <a:prstDash val="solid"/>
          </a:ln>
        </p:spPr>
      </p:sp>
      <p:sp>
        <p:nvSpPr>
          <p:cNvPr id="12" name="Caption"/>
          <p:cNvSpPr txBox="1"/>
          <p:nvPr/>
        </p:nvSpPr>
        <p:spPr>
          <a:xfrm>
            <a:off x="5522856" y="5490125"/>
            <a:ext cx="1639147" cy="238421"/>
          </a:xfrm>
          <a:prstGeom prst="rect">
            <a:avLst/>
          </a:prstGeom>
          <a:noFill/>
          <a:ln/>
        </p:spPr>
        <p:txBody>
          <a:bodyPr wrap="square" lIns="0" tIns="0" rIns="0" bIns="0" rtlCol="0" anchor="ctr"/>
          <a:lstStyle/>
          <a:p>
            <a:pPr indent="0" marL="0">
              <a:buNone/>
            </a:pPr>
            <a:r>
              <a:rPr lang="en-US" sz="978" dirty="0">
                <a:solidFill>
                  <a:srgbClr val="5B6472"/>
                </a:solidFill>
              </a:rPr>
              <a:t>Incident list</a:t>
            </a:r>
            <a:endParaRPr lang="en-US" sz="978" dirty="0"/>
          </a:p>
        </p:txBody>
      </p:sp>
      <p:sp>
        <p:nvSpPr>
          <p:cNvPr id="13"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4" name="Badge 4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5" name="Text 10"/>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#41</a:t>
            </a:r>
            <a:endParaRPr lang="en-US" sz="978" dirty="0"/>
          </a:p>
        </p:txBody>
      </p:sp>
      <p:sp>
        <p:nvSpPr>
          <p:cNvPr id="16" name="Requirement 4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Mobile Responsiveness</a:t>
            </a:r>
            <a:endParaRPr lang="en-US" sz="1059" dirty="0"/>
          </a:p>
          <a:p>
            <a:pPr indent="0" marL="0">
              <a:spcAft>
                <a:spcPts val="163"/>
              </a:spcAft>
              <a:buNone/>
            </a:pPr>
            <a:r>
              <a:rPr lang="en-US" sz="937" dirty="0">
                <a:solidFill>
                  <a:srgbClr val="5B6472"/>
                </a:solidFill>
              </a:rPr>
              <a:t>Desktop, laptop, tablet and phone</a:t>
            </a:r>
            <a:endParaRPr lang="en-US" sz="1059" dirty="0"/>
          </a:p>
        </p:txBody>
      </p:sp>
      <p:sp>
        <p:nvSpPr>
          <p:cNvPr id="17" name="Badge 4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8" name="Text 13"/>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#42</a:t>
            </a:r>
            <a:endParaRPr lang="en-US" sz="978" dirty="0"/>
          </a:p>
        </p:txBody>
      </p:sp>
      <p:sp>
        <p:nvSpPr>
          <p:cNvPr id="19" name="Requirement 4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Browser Support</a:t>
            </a:r>
            <a:endParaRPr lang="en-US" sz="1059" dirty="0"/>
          </a:p>
          <a:p>
            <a:pPr indent="0" marL="0">
              <a:spcAft>
                <a:spcPts val="163"/>
              </a:spcAft>
              <a:buNone/>
            </a:pPr>
            <a:r>
              <a:rPr lang="en-US" sz="937" dirty="0">
                <a:solidFill>
                  <a:srgbClr val="5B6472"/>
                </a:solidFill>
              </a:rPr>
              <a:t>Chrome, Edge, Firefox, Safari</a:t>
            </a:r>
            <a:endParaRPr lang="en-US" sz="1059" dirty="0"/>
          </a:p>
        </p:txBody>
      </p:sp>
      <p:sp>
        <p:nvSpPr>
          <p:cNvPr id="20" name="Badge 5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21" name="Text 16"/>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22" name="Requirement 5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Progressive web app</a:t>
            </a:r>
            <a:endParaRPr lang="en-US" sz="1059"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Tablets, and installing the app</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register on a tablet; the user menu with profile, password and sign-out</a:t>
            </a:r>
            <a:endParaRPr lang="en-US" sz="1141" dirty="0"/>
          </a:p>
        </p:txBody>
      </p:sp>
      <p:pic>
        <p:nvPicPr>
          <p:cNvPr id="4" name="Screen x10-tablet-list" descr="E:\Tender\tender-submission\build\shots-jpg\x10-tablet-list.jpg">    </p:cNvPr>
          <p:cNvPicPr>
            <a:picLocks noChangeAspect="1"/>
          </p:cNvPicPr>
          <p:nvPr/>
        </p:nvPicPr>
        <p:blipFill>
          <a:blip r:embed="rId1"/>
          <a:stretch>
            <a:fillRect/>
          </a:stretch>
        </p:blipFill>
        <p:spPr>
          <a:xfrm>
            <a:off x="1501394" y="1891453"/>
            <a:ext cx="1737205" cy="249988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1737205" cy="2499880"/>
          </a:xfrm>
          <a:prstGeom prst="rect">
            <a:avLst/>
          </a:prstGeom>
          <a:ln w="7761">
            <a:solidFill>
              <a:srgbClr val="D7DED8"/>
            </a:solidFill>
            <a:prstDash val="solid"/>
          </a:ln>
        </p:spPr>
      </p:sp>
      <p:sp>
        <p:nvSpPr>
          <p:cNvPr id="6" name="Caption"/>
          <p:cNvSpPr txBox="1"/>
          <p:nvPr/>
        </p:nvSpPr>
        <p:spPr>
          <a:xfrm>
            <a:off x="1501394" y="4450939"/>
            <a:ext cx="1737205" cy="238421"/>
          </a:xfrm>
          <a:prstGeom prst="rect">
            <a:avLst/>
          </a:prstGeom>
          <a:noFill/>
          <a:ln/>
        </p:spPr>
        <p:txBody>
          <a:bodyPr wrap="square" lIns="0" tIns="0" rIns="0" bIns="0" rtlCol="0" anchor="ctr"/>
          <a:lstStyle/>
          <a:p>
            <a:pPr indent="0" marL="0">
              <a:buNone/>
            </a:pPr>
            <a:r>
              <a:rPr lang="en-US" sz="978" dirty="0">
                <a:solidFill>
                  <a:srgbClr val="5B6472"/>
                </a:solidFill>
              </a:rPr>
              <a:t>Tablet (portrait)</a:t>
            </a:r>
            <a:endParaRPr lang="en-US" sz="978" dirty="0"/>
          </a:p>
        </p:txBody>
      </p:sp>
      <p:pic>
        <p:nvPicPr>
          <p:cNvPr id="7" name="Screen x13-user-menu" descr="E:\Tender\tender-submission\build\shots-jpg\x13-user-menu.jpg">    </p:cNvPr>
          <p:cNvPicPr>
            <a:picLocks noChangeAspect="1"/>
          </p:cNvPicPr>
          <p:nvPr/>
        </p:nvPicPr>
        <p:blipFill>
          <a:blip r:embed="rId2"/>
          <a:stretch>
            <a:fillRect/>
          </a:stretch>
        </p:blipFill>
        <p:spPr>
          <a:xfrm>
            <a:off x="3462119" y="1891453"/>
            <a:ext cx="3999809" cy="249988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3462119" y="1891453"/>
            <a:ext cx="3999809" cy="2499880"/>
          </a:xfrm>
          <a:prstGeom prst="rect">
            <a:avLst/>
          </a:prstGeom>
          <a:ln w="7761">
            <a:solidFill>
              <a:srgbClr val="D7DED8"/>
            </a:solidFill>
            <a:prstDash val="solid"/>
          </a:ln>
        </p:spPr>
      </p:sp>
      <p:sp>
        <p:nvSpPr>
          <p:cNvPr id="9" name="Caption"/>
          <p:cNvSpPr txBox="1"/>
          <p:nvPr/>
        </p:nvSpPr>
        <p:spPr>
          <a:xfrm>
            <a:off x="3462119" y="4450939"/>
            <a:ext cx="3999809" cy="238421"/>
          </a:xfrm>
          <a:prstGeom prst="rect">
            <a:avLst/>
          </a:prstGeom>
          <a:noFill/>
          <a:ln/>
        </p:spPr>
        <p:txBody>
          <a:bodyPr wrap="square" lIns="0" tIns="0" rIns="0" bIns="0" rtlCol="0" anchor="ctr"/>
          <a:lstStyle/>
          <a:p>
            <a:pPr indent="0" marL="0">
              <a:buNone/>
            </a:pPr>
            <a:r>
              <a:rPr lang="en-US" sz="978" dirty="0">
                <a:solidFill>
                  <a:srgbClr val="5B6472"/>
                </a:solidFill>
              </a:rPr>
              <a:t>User menu</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4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#41</a:t>
            </a:r>
            <a:endParaRPr lang="en-US" sz="978" dirty="0"/>
          </a:p>
        </p:txBody>
      </p:sp>
      <p:sp>
        <p:nvSpPr>
          <p:cNvPr id="13" name="Requirement 4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Mobile Responsiveness</a:t>
            </a:r>
            <a:endParaRPr lang="en-US" sz="1059" dirty="0"/>
          </a:p>
          <a:p>
            <a:pPr indent="0" marL="0">
              <a:spcAft>
                <a:spcPts val="163"/>
              </a:spcAft>
              <a:buNone/>
            </a:pPr>
            <a:r>
              <a:rPr lang="en-US" sz="937" dirty="0">
                <a:solidFill>
                  <a:srgbClr val="5B6472"/>
                </a:solidFill>
              </a:rPr>
              <a:t>Mobile responsive design</a:t>
            </a:r>
            <a:endParaRPr lang="en-US" sz="1059" dirty="0"/>
          </a:p>
        </p:txBody>
      </p:sp>
      <p:sp>
        <p:nvSpPr>
          <p:cNvPr id="14" name="Badge 42"/>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#42</a:t>
            </a:r>
            <a:endParaRPr lang="en-US" sz="978" dirty="0"/>
          </a:p>
        </p:txBody>
      </p:sp>
      <p:sp>
        <p:nvSpPr>
          <p:cNvPr id="16" name="Requirement 42"/>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Browser Support</a:t>
            </a:r>
            <a:endParaRPr lang="en-US" sz="1059" dirty="0"/>
          </a:p>
          <a:p>
            <a:pPr indent="0" marL="0">
              <a:spcAft>
                <a:spcPts val="163"/>
              </a:spcAft>
              <a:buNone/>
            </a:pPr>
            <a:r>
              <a:rPr lang="en-US" sz="937" dirty="0">
                <a:solidFill>
                  <a:srgbClr val="5B6472"/>
                </a:solidFill>
              </a:rPr>
              <a:t>Supported browsers</a:t>
            </a:r>
            <a:endParaRPr lang="en-US" sz="1059" dirty="0"/>
          </a:p>
        </p:txBody>
      </p:sp>
      <p:sp>
        <p:nvSpPr>
          <p:cNvPr id="17" name="Badge 2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#28</a:t>
            </a:r>
            <a:endParaRPr lang="en-US" sz="978" dirty="0"/>
          </a:p>
        </p:txBody>
      </p:sp>
      <p:sp>
        <p:nvSpPr>
          <p:cNvPr id="19" name="Requirement 2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Session Security</a:t>
            </a:r>
            <a:endParaRPr lang="en-US" sz="1059" dirty="0"/>
          </a:p>
          <a:p>
            <a:pPr indent="0" marL="0">
              <a:spcAft>
                <a:spcPts val="163"/>
              </a:spcAft>
              <a:buNone/>
            </a:pPr>
            <a:r>
              <a:rPr lang="en-US" sz="937" dirty="0">
                <a:solidFill>
                  <a:srgbClr val="5B6472"/>
                </a:solidFill>
              </a:rPr>
              <a:t>Sign out from any device</a:t>
            </a:r>
            <a:endParaRPr lang="en-US" sz="1059"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Secure REST API, documented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Every endpoint described in OpenAPI 3.1 with an interactive console at /api/docs</a:t>
            </a:r>
            <a:endParaRPr lang="en-US" sz="1141" dirty="0"/>
          </a:p>
        </p:txBody>
      </p:sp>
      <p:pic>
        <p:nvPicPr>
          <p:cNvPr id="4" name="Screen x11-api-docs" descr="E:\Tender\tender-submission\build\shots-jpg\x11-api-docs.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Authentication, permissions, errors, rate limits</a:t>
            </a:r>
            <a:endParaRPr lang="en-US" sz="978" dirty="0"/>
          </a:p>
        </p:txBody>
      </p:sp>
      <p:pic>
        <p:nvPicPr>
          <p:cNvPr id="7" name="Screen x12-api-docs-incidents" descr="E:\Tender\tender-submission\build\shots-jpg\x12-api-docs-incident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Incidents endpoints</a:t>
            </a:r>
            <a:endParaRPr lang="en-US" sz="978" dirty="0"/>
          </a:p>
        </p:txBody>
      </p:sp>
      <p:sp>
        <p:nvSpPr>
          <p:cNvPr id="10" name="Badge 31"/>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#31</a:t>
            </a:r>
            <a:endParaRPr lang="en-US" sz="978" dirty="0"/>
          </a:p>
        </p:txBody>
      </p:sp>
      <p:sp>
        <p:nvSpPr>
          <p:cNvPr id="12" name="Requirement 31"/>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API / Integration</a:t>
            </a:r>
            <a:endParaRPr lang="en-US" sz="978" dirty="0"/>
          </a:p>
          <a:p>
            <a:pPr indent="0" marL="0">
              <a:spcAft>
                <a:spcPts val="81"/>
              </a:spcAft>
              <a:buNone/>
            </a:pPr>
            <a:r>
              <a:rPr lang="en-US" sz="896" dirty="0">
                <a:solidFill>
                  <a:srgbClr val="5B6472"/>
                </a:solidFill>
              </a:rPr>
              <a:t>REST API for authorised BGB systems</a:t>
            </a:r>
            <a:endParaRPr lang="en-US" sz="978" dirty="0"/>
          </a:p>
        </p:txBody>
      </p:sp>
      <p:sp>
        <p:nvSpPr>
          <p:cNvPr id="13" name="Badge 52"/>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#52</a:t>
            </a:r>
            <a:endParaRPr lang="en-US" sz="978" dirty="0"/>
          </a:p>
        </p:txBody>
      </p:sp>
      <p:sp>
        <p:nvSpPr>
          <p:cNvPr id="15" name="Requirement 52"/>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Documentation</a:t>
            </a:r>
            <a:endParaRPr lang="en-US" sz="978" dirty="0"/>
          </a:p>
          <a:p>
            <a:pPr indent="0" marL="0">
              <a:spcAft>
                <a:spcPts val="81"/>
              </a:spcAft>
              <a:buNone/>
            </a:pPr>
            <a:r>
              <a:rPr lang="en-US" sz="896" dirty="0">
                <a:solidFill>
                  <a:srgbClr val="5B6472"/>
                </a:solidFill>
              </a:rPr>
              <a:t>API documentation delivered</a:t>
            </a:r>
            <a:endParaRPr lang="en-US" sz="978" dirty="0"/>
          </a:p>
        </p:txBody>
      </p:sp>
      <p:sp>
        <p:nvSpPr>
          <p:cNvPr id="16" name="Badge 58"/>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8" name="Requirement 58"/>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Integration with future systems</a:t>
            </a:r>
            <a:endParaRPr lang="en-US" sz="978"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11</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Secure messaging, voice messages and calls</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Value addition included in the price · related items 23, 24, 58</a:t>
            </a:r>
            <a:endParaRPr lang="en-US" sz="1467"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Messages inside BIRDS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Direct conversations and groups with unread counts; officers find colleagues by name or unit</a:t>
            </a:r>
            <a:endParaRPr lang="en-US" sz="1141" dirty="0"/>
          </a:p>
        </p:txBody>
      </p:sp>
      <p:pic>
        <p:nvPicPr>
          <p:cNvPr id="4" name="Screen c01-messages-list" descr="E:\Tender\tender-submission\build\shots-jpg\c01-messages-lis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9" name="Requirement 5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Extensible: realtime communication</a:t>
            </a:r>
            <a:endParaRPr lang="en-US" sz="1059" dirty="0"/>
          </a:p>
        </p:txBody>
      </p:sp>
      <p:sp>
        <p:nvSpPr>
          <p:cNvPr id="10" name="Badge 2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Messages kept as official records</a:t>
            </a:r>
            <a:endParaRPr lang="en-US" sz="1059" dirty="0"/>
          </a:p>
        </p:txBody>
      </p:sp>
      <p:sp>
        <p:nvSpPr>
          <p:cNvPr id="13" name="Badge 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5" name="Requirement 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Messaging is a permission per role</a:t>
            </a:r>
            <a:endParaRPr lang="en-US" sz="1059"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Direct conversation, in Bangla and English</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Text messages with date separators; messages cannot be edited or deleted</a:t>
            </a:r>
            <a:endParaRPr lang="en-US" sz="1141" dirty="0"/>
          </a:p>
        </p:txBody>
      </p:sp>
      <p:pic>
        <p:nvPicPr>
          <p:cNvPr id="4" name="Screen c02-direct-chat" descr="E:\Tender\tender-submission\build\shots-jpg\c02-direct-cha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4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9" name="Requirement 4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Localization</a:t>
            </a:r>
            <a:endParaRPr lang="en-US" sz="1059" dirty="0"/>
          </a:p>
          <a:p>
            <a:pPr indent="0" marL="0">
              <a:spcAft>
                <a:spcPts val="163"/>
              </a:spcAft>
              <a:buNone/>
            </a:pPr>
            <a:r>
              <a:rPr lang="en-US" sz="937" dirty="0">
                <a:solidFill>
                  <a:srgbClr val="5B6472"/>
                </a:solidFill>
              </a:rPr>
              <a:t>Bangla and English messages</a:t>
            </a:r>
            <a:endParaRPr lang="en-US" sz="1059" dirty="0"/>
          </a:p>
        </p:txBody>
      </p:sp>
      <p:sp>
        <p:nvSpPr>
          <p:cNvPr id="10" name="Badge 2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Permanent record</a:t>
            </a:r>
            <a:endParaRPr lang="en-US" sz="1059" dirty="0"/>
          </a:p>
        </p:txBody>
      </p:sp>
      <p:sp>
        <p:nvSpPr>
          <p:cNvPr id="13" name="Badge 2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5" name="Requirement 2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Notifications</a:t>
            </a:r>
            <a:endParaRPr lang="en-US" sz="1059" dirty="0"/>
          </a:p>
          <a:p>
            <a:pPr indent="0" marL="0">
              <a:spcAft>
                <a:spcPts val="163"/>
              </a:spcAft>
              <a:buNone/>
            </a:pPr>
            <a:r>
              <a:rPr lang="en-US" sz="937" dirty="0">
                <a:solidFill>
                  <a:srgbClr val="5B6472"/>
                </a:solidFill>
              </a:rPr>
              <a:t>Unread messages notified</a:t>
            </a:r>
            <a:endParaRPr lang="en-US" sz="1059"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Voice messages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One tap to record (up to 5 minutes), one tap to send; stored encrypted with a fingerprint</a:t>
            </a:r>
            <a:endParaRPr lang="en-US" sz="1141" dirty="0"/>
          </a:p>
        </p:txBody>
      </p:sp>
      <p:pic>
        <p:nvPicPr>
          <p:cNvPr id="4" name="Screen c03-voice-recording" descr="E:\Tender\tender-submission\build\shots-jpg\c03-voice-recording.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Recording: timer, cancel, send</a:t>
            </a:r>
            <a:endParaRPr lang="en-US" sz="978" dirty="0"/>
          </a:p>
        </p:txBody>
      </p:sp>
      <p:pic>
        <p:nvPicPr>
          <p:cNvPr id="7" name="Screen c04-voice-sent" descr="E:\Tender\tender-submission\build\shots-jpg\c04-voice-sent.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Sent: played in the conversation</a:t>
            </a:r>
            <a:endParaRPr lang="en-US" sz="978" dirty="0"/>
          </a:p>
        </p:txBody>
      </p:sp>
      <p:sp>
        <p:nvSpPr>
          <p:cNvPr id="10" name="Badge 5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2" name="Requirement 5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Voice communication</a:t>
            </a:r>
            <a:endParaRPr lang="en-US" sz="978" dirty="0"/>
          </a:p>
        </p:txBody>
      </p:sp>
      <p:sp>
        <p:nvSpPr>
          <p:cNvPr id="13" name="Badge 27"/>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#27</a:t>
            </a:r>
            <a:endParaRPr lang="en-US" sz="978" dirty="0"/>
          </a:p>
        </p:txBody>
      </p:sp>
      <p:sp>
        <p:nvSpPr>
          <p:cNvPr id="15" name="Requirement 27"/>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Encryption</a:t>
            </a:r>
            <a:endParaRPr lang="en-US" sz="978" dirty="0"/>
          </a:p>
          <a:p>
            <a:pPr indent="0" marL="0">
              <a:spcAft>
                <a:spcPts val="81"/>
              </a:spcAft>
              <a:buNone/>
            </a:pPr>
            <a:r>
              <a:rPr lang="en-US" sz="896" dirty="0">
                <a:solidFill>
                  <a:srgbClr val="5B6472"/>
                </a:solidFill>
              </a:rPr>
              <a:t>Audio encrypted at rest</a:t>
            </a:r>
            <a:endParaRPr lang="en-US" sz="978" dirty="0"/>
          </a:p>
        </p:txBody>
      </p:sp>
      <p:sp>
        <p:nvSpPr>
          <p:cNvPr id="16" name="Badge 2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8" name="Requirement 2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Voice messages are records</a:t>
            </a:r>
            <a:endParaRPr lang="en-US" sz="978"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Voice message received and played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recipient plays the voice message in place; the list shows "Voice message"</a:t>
            </a:r>
            <a:endParaRPr lang="en-US" sz="1141" dirty="0"/>
          </a:p>
        </p:txBody>
      </p:sp>
      <p:pic>
        <p:nvPicPr>
          <p:cNvPr id="4" name="Screen c05-voice-received" descr="E:\Tender\tender-submission\build\shots-jpg\c05-voice-received.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9" name="Requirement 5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Voice messages</a:t>
            </a:r>
            <a:endParaRPr lang="en-US" sz="1059" dirty="0"/>
          </a:p>
        </p:txBody>
      </p:sp>
      <p:sp>
        <p:nvSpPr>
          <p:cNvPr id="10" name="Badge 23"/>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2" name="Requirement 23"/>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Notifications</a:t>
            </a:r>
            <a:endParaRPr lang="en-US" sz="1059" dirty="0"/>
          </a:p>
          <a:p>
            <a:pPr indent="0" marL="0">
              <a:spcAft>
                <a:spcPts val="163"/>
              </a:spcAft>
              <a:buNone/>
            </a:pPr>
            <a:r>
              <a:rPr lang="en-US" sz="937" dirty="0">
                <a:solidFill>
                  <a:srgbClr val="5B6472"/>
                </a:solidFill>
              </a:rPr>
              <a:t>Recipient notified</a:t>
            </a:r>
            <a:endParaRPr lang="en-US" sz="1059" dirty="0"/>
          </a:p>
        </p:txBody>
      </p:sp>
      <p:sp>
        <p:nvSpPr>
          <p:cNvPr id="13" name="Badge 11"/>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#11</a:t>
            </a:r>
            <a:endParaRPr lang="en-US" sz="978" dirty="0"/>
          </a:p>
        </p:txBody>
      </p:sp>
      <p:sp>
        <p:nvSpPr>
          <p:cNvPr id="15" name="Requirement 11"/>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Media Metadata</a:t>
            </a:r>
            <a:endParaRPr lang="en-US" sz="1059" dirty="0"/>
          </a:p>
          <a:p>
            <a:pPr indent="0" marL="0">
              <a:spcAft>
                <a:spcPts val="163"/>
              </a:spcAft>
              <a:buNone/>
            </a:pPr>
            <a:r>
              <a:rPr lang="en-US" sz="937" dirty="0">
                <a:solidFill>
                  <a:srgbClr val="5B6472"/>
                </a:solidFill>
              </a:rPr>
              <a:t>Integrity checked on playback</a:t>
            </a:r>
            <a:endParaRPr lang="en-US" sz="1059"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Audio call: ringing</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The caller sees the call ringing; the callee gets the incoming call on any page, with Answer and Decline</a:t>
            </a:r>
            <a:endParaRPr lang="en-US" sz="1141" dirty="0"/>
          </a:p>
        </p:txBody>
      </p:sp>
      <p:pic>
        <p:nvPicPr>
          <p:cNvPr id="4" name="Screen c06-call-ringing" descr="E:\Tender\tender-submission\build\shots-jpg\c06-call-ringing.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Caller: Lt. Col. Karim, ringing</a:t>
            </a:r>
            <a:endParaRPr lang="en-US" sz="978" dirty="0"/>
          </a:p>
        </p:txBody>
      </p:sp>
      <p:pic>
        <p:nvPicPr>
          <p:cNvPr id="7" name="Screen c07-call-incoming" descr="E:\Tender\tender-submission\build\shots-jpg\c07-call-incoming.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Callee: Capt. Hasan, incoming call</a:t>
            </a:r>
            <a:endParaRPr lang="en-US" sz="978" dirty="0"/>
          </a:p>
        </p:txBody>
      </p:sp>
      <p:sp>
        <p:nvSpPr>
          <p:cNvPr id="10" name="Badge 5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2" name="Requirement 5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Voice calls between users</a:t>
            </a:r>
            <a:endParaRPr lang="en-US" sz="978" dirty="0"/>
          </a:p>
        </p:txBody>
      </p:sp>
      <p:sp>
        <p:nvSpPr>
          <p:cNvPr id="13" name="Badge 23"/>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5" name="Requirement 23"/>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Notifications</a:t>
            </a:r>
            <a:endParaRPr lang="en-US" sz="978" dirty="0"/>
          </a:p>
          <a:p>
            <a:pPr indent="0" marL="0">
              <a:spcAft>
                <a:spcPts val="81"/>
              </a:spcAft>
              <a:buNone/>
            </a:pPr>
            <a:r>
              <a:rPr lang="en-US" sz="896" dirty="0">
                <a:solidFill>
                  <a:srgbClr val="5B6472"/>
                </a:solidFill>
              </a:rPr>
              <a:t>Incoming call alert, also by push</a:t>
            </a:r>
            <a:endParaRPr lang="en-US" sz="978" dirty="0"/>
          </a:p>
        </p:txBody>
      </p:sp>
      <p:sp>
        <p:nvSpPr>
          <p:cNvPr id="16" name="Badge 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8" name="Requirement 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User Management</a:t>
            </a:r>
            <a:endParaRPr lang="en-US" sz="978" dirty="0"/>
          </a:p>
          <a:p>
            <a:pPr indent="0" marL="0">
              <a:spcAft>
                <a:spcPts val="81"/>
              </a:spcAft>
              <a:buNone/>
            </a:pPr>
            <a:r>
              <a:rPr lang="en-US" sz="896" dirty="0">
                <a:solidFill>
                  <a:srgbClr val="5B6472"/>
                </a:solidFill>
              </a:rPr>
              <a:t>Calls allowed by permission</a:t>
            </a:r>
            <a:endParaRPr lang="en-US" sz="978"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Audio call: connected</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Browser-to-browser audio with mute and hang up; the audio is never recorded</a:t>
            </a:r>
            <a:endParaRPr lang="en-US" sz="1141" dirty="0"/>
          </a:p>
        </p:txBody>
      </p:sp>
      <p:pic>
        <p:nvPicPr>
          <p:cNvPr id="4" name="Screen c08-call-connected" descr="E:\Tender\tender-submission\build\shots-jpg\c08-call-connected.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Caller: connected, timer, mute, hang up</a:t>
            </a:r>
            <a:endParaRPr lang="en-US" sz="978" dirty="0"/>
          </a:p>
        </p:txBody>
      </p:sp>
      <p:pic>
        <p:nvPicPr>
          <p:cNvPr id="7" name="Screen c09-call-connected-callee" descr="E:\Tender\tender-submission\build\shots-jpg\c09-call-connected-callee.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Callee: connected</a:t>
            </a:r>
            <a:endParaRPr lang="en-US" sz="978" dirty="0"/>
          </a:p>
        </p:txBody>
      </p:sp>
      <p:sp>
        <p:nvSpPr>
          <p:cNvPr id="10" name="Badge 5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2" name="Requirement 5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Realtime voice</a:t>
            </a:r>
            <a:endParaRPr lang="en-US" sz="978" dirty="0"/>
          </a:p>
        </p:txBody>
      </p:sp>
      <p:sp>
        <p:nvSpPr>
          <p:cNvPr id="13" name="Badge 26"/>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#26</a:t>
            </a:r>
            <a:endParaRPr lang="en-US" sz="978" dirty="0"/>
          </a:p>
        </p:txBody>
      </p:sp>
      <p:sp>
        <p:nvSpPr>
          <p:cNvPr id="15" name="Requirement 26"/>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Data Security</a:t>
            </a:r>
            <a:endParaRPr lang="en-US" sz="978" dirty="0"/>
          </a:p>
          <a:p>
            <a:pPr indent="0" marL="0">
              <a:spcAft>
                <a:spcPts val="81"/>
              </a:spcAft>
              <a:buNone/>
            </a:pPr>
            <a:r>
              <a:rPr lang="en-US" sz="896" dirty="0">
                <a:solidFill>
                  <a:srgbClr val="5B6472"/>
                </a:solidFill>
              </a:rPr>
              <a:t>Audio encrypted in transit, never stored</a:t>
            </a:r>
            <a:endParaRPr lang="en-US" sz="978" dirty="0"/>
          </a:p>
        </p:txBody>
      </p:sp>
      <p:sp>
        <p:nvSpPr>
          <p:cNvPr id="16" name="Badge 24"/>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8" name="Requirement 24"/>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Each call logged and audited</a:t>
            </a:r>
            <a:endParaRPr lang="en-US" sz="978"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Call log</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officer's calls; administrators and auditors see every call</a:t>
            </a:r>
            <a:endParaRPr lang="en-US" sz="1141" dirty="0"/>
          </a:p>
        </p:txBody>
      </p:sp>
      <p:pic>
        <p:nvPicPr>
          <p:cNvPr id="4" name="Screen c10-call-log" descr="E:\Tender\tender-submission\build\shots-jpg\c10-call-log.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My calls: direction, result, time, duration</a:t>
            </a:r>
            <a:endParaRPr lang="en-US" sz="978" dirty="0"/>
          </a:p>
        </p:txBody>
      </p:sp>
      <p:pic>
        <p:nvPicPr>
          <p:cNvPr id="7" name="Screen c15-all-calls" descr="E:\Tender\tender-submission\build\shots-jpg\c15-all-calls.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All calls (administrator)</a:t>
            </a:r>
            <a:endParaRPr lang="en-US" sz="978" dirty="0"/>
          </a:p>
        </p:txBody>
      </p:sp>
      <p:sp>
        <p:nvSpPr>
          <p:cNvPr id="10" name="Badge 24"/>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Audit Trail</a:t>
            </a:r>
            <a:endParaRPr lang="en-US" sz="978" dirty="0"/>
          </a:p>
          <a:p>
            <a:pPr indent="0" marL="0">
              <a:spcAft>
                <a:spcPts val="81"/>
              </a:spcAft>
              <a:buNone/>
            </a:pPr>
            <a:r>
              <a:rPr lang="en-US" sz="896" dirty="0">
                <a:solidFill>
                  <a:srgbClr val="5B6472"/>
                </a:solidFill>
              </a:rPr>
              <a:t>Calls recorded and audited</a:t>
            </a:r>
            <a:endParaRPr lang="en-US" sz="978" dirty="0"/>
          </a:p>
        </p:txBody>
      </p:sp>
      <p:sp>
        <p:nvSpPr>
          <p:cNvPr id="13" name="Badge 58"/>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5" name="Requirement 58"/>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Communication records</a:t>
            </a:r>
            <a:endParaRPr lang="en-US" sz="978" dirty="0"/>
          </a:p>
        </p:txBody>
      </p:sp>
      <p:sp>
        <p:nvSpPr>
          <p:cNvPr id="16" name="Badge 3"/>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18" name="Requirement 3"/>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User Management</a:t>
            </a:r>
            <a:endParaRPr lang="en-US" sz="978" dirty="0"/>
          </a:p>
          <a:p>
            <a:pPr indent="0" marL="0">
              <a:spcAft>
                <a:spcPts val="81"/>
              </a:spcAft>
              <a:buNone/>
            </a:pPr>
            <a:r>
              <a:rPr lang="en-US" sz="896" dirty="0">
                <a:solidFill>
                  <a:srgbClr val="5B6472"/>
                </a:solidFill>
              </a:rPr>
              <a:t>"All calls" only for admin and audit</a:t>
            </a:r>
            <a:endParaRPr lang="en-US" sz="978"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Group chat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Sector-7 Operations: officers of three battalions and the verifier in one group</a:t>
            </a:r>
            <a:endParaRPr lang="en-US" sz="1141" dirty="0"/>
          </a:p>
        </p:txBody>
      </p:sp>
      <p:pic>
        <p:nvPicPr>
          <p:cNvPr id="4" name="Screen c11-group-chat" descr="E:\Tender\tender-submission\build\shots-jpg\c11-group-chat.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9" name="Requirement 5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Group communication</a:t>
            </a:r>
            <a:endParaRPr lang="en-US" sz="1059" dirty="0"/>
          </a:p>
        </p:txBody>
      </p:sp>
      <p:sp>
        <p:nvSpPr>
          <p:cNvPr id="10" name="Badge 1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#14</a:t>
            </a:r>
            <a:endParaRPr lang="en-US" sz="978" dirty="0"/>
          </a:p>
        </p:txBody>
      </p:sp>
      <p:sp>
        <p:nvSpPr>
          <p:cNvPr id="12" name="Requirement 1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Verification &amp; Approval</a:t>
            </a:r>
            <a:endParaRPr lang="en-US" sz="1059" dirty="0"/>
          </a:p>
          <a:p>
            <a:pPr indent="0" marL="0">
              <a:spcAft>
                <a:spcPts val="163"/>
              </a:spcAft>
              <a:buNone/>
            </a:pPr>
            <a:r>
              <a:rPr lang="en-US" sz="937" dirty="0">
                <a:solidFill>
                  <a:srgbClr val="5B6472"/>
                </a:solidFill>
              </a:rPr>
              <a:t>Coordination between levels</a:t>
            </a:r>
            <a:endParaRPr lang="en-US" sz="1059" dirty="0"/>
          </a:p>
        </p:txBody>
      </p:sp>
      <p:sp>
        <p:nvSpPr>
          <p:cNvPr id="13" name="Badge 24"/>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Group messages are records</a:t>
            </a:r>
            <a:endParaRPr lang="en-US" sz="1059"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Group administration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Admins approve join requests, make or remove admins, remove members, rename, set a photo</a:t>
            </a:r>
            <a:endParaRPr lang="en-US" sz="1141" dirty="0"/>
          </a:p>
        </p:txBody>
      </p:sp>
      <p:pic>
        <p:nvPicPr>
          <p:cNvPr id="4" name="Screen c12-group-settings" descr="E:\Tender\tender-submission\build\shots-jpg\c12-group-settings.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3"/>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#3</a:t>
            </a:r>
            <a:endParaRPr lang="en-US" sz="978" dirty="0"/>
          </a:p>
        </p:txBody>
      </p:sp>
      <p:sp>
        <p:nvSpPr>
          <p:cNvPr id="9" name="Requirement 3"/>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User Management</a:t>
            </a:r>
            <a:endParaRPr lang="en-US" sz="1059" dirty="0"/>
          </a:p>
          <a:p>
            <a:pPr indent="0" marL="0">
              <a:spcAft>
                <a:spcPts val="163"/>
              </a:spcAft>
              <a:buNone/>
            </a:pPr>
            <a:r>
              <a:rPr lang="en-US" sz="937" dirty="0">
                <a:solidFill>
                  <a:srgbClr val="5B6472"/>
                </a:solidFill>
              </a:rPr>
              <a:t>Controlled membership</a:t>
            </a:r>
            <a:endParaRPr lang="en-US" sz="1059" dirty="0"/>
          </a:p>
        </p:txBody>
      </p:sp>
      <p:sp>
        <p:nvSpPr>
          <p:cNvPr id="10" name="Badge 24"/>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2" name="Requirement 24"/>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Every change audited</a:t>
            </a:r>
            <a:endParaRPr lang="en-US" sz="1059" dirty="0"/>
          </a:p>
        </p:txBody>
      </p:sp>
      <p:sp>
        <p:nvSpPr>
          <p:cNvPr id="13" name="Badge 58"/>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5" name="Requirement 58"/>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Managed groups</a:t>
            </a:r>
            <a:endParaRPr lang="en-US" sz="1059"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New groups and group photos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Create a group with chosen colleagues; groups can have a photo</a:t>
            </a:r>
            <a:endParaRPr lang="en-US" sz="1141" dirty="0"/>
          </a:p>
        </p:txBody>
      </p:sp>
      <p:pic>
        <p:nvPicPr>
          <p:cNvPr id="4" name="Screen c13-new-group" descr="E:\Tender\tender-submission\build\shots-jpg\c13-new-group.jpg">    </p:cNvPr>
          <p:cNvPicPr>
            <a:picLocks noChangeAspect="1"/>
          </p:cNvPicPr>
          <p:nvPr/>
        </p:nvPicPr>
        <p:blipFill>
          <a:blip r:embed="rId1"/>
          <a:stretch>
            <a:fillRect/>
          </a:stretch>
        </p:blipFill>
        <p:spPr>
          <a:xfrm>
            <a:off x="1501394" y="1891453"/>
            <a:ext cx="4470400" cy="2794000"/>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4470400" cy="2794000"/>
          </a:xfrm>
          <a:prstGeom prst="rect">
            <a:avLst/>
          </a:prstGeom>
          <a:ln w="7761">
            <a:solidFill>
              <a:srgbClr val="D7DED8"/>
            </a:solidFill>
            <a:prstDash val="solid"/>
          </a:ln>
        </p:spPr>
      </p:sp>
      <p:sp>
        <p:nvSpPr>
          <p:cNvPr id="6" name="Caption"/>
          <p:cNvSpPr txBox="1"/>
          <p:nvPr/>
        </p:nvSpPr>
        <p:spPr>
          <a:xfrm>
            <a:off x="1501394"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New group: name and members</a:t>
            </a:r>
            <a:endParaRPr lang="en-US" sz="978" dirty="0"/>
          </a:p>
        </p:txBody>
      </p:sp>
      <p:pic>
        <p:nvPicPr>
          <p:cNvPr id="7" name="Screen c14-group-cover" descr="E:\Tender\tender-submission\build\shots-jpg\c14-group-cover.jpg">    </p:cNvPr>
          <p:cNvPicPr>
            <a:picLocks noChangeAspect="1"/>
          </p:cNvPicPr>
          <p:nvPr/>
        </p:nvPicPr>
        <p:blipFill>
          <a:blip r:embed="rId2"/>
          <a:stretch>
            <a:fillRect/>
          </a:stretch>
        </p:blipFill>
        <p:spPr>
          <a:xfrm>
            <a:off x="6217666" y="1891453"/>
            <a:ext cx="4470400" cy="2794000"/>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6217666" y="1891453"/>
            <a:ext cx="4470400" cy="2794000"/>
          </a:xfrm>
          <a:prstGeom prst="rect">
            <a:avLst/>
          </a:prstGeom>
          <a:ln w="7761">
            <a:solidFill>
              <a:srgbClr val="D7DED8"/>
            </a:solidFill>
            <a:prstDash val="solid"/>
          </a:ln>
        </p:spPr>
      </p:sp>
      <p:sp>
        <p:nvSpPr>
          <p:cNvPr id="9" name="Caption"/>
          <p:cNvSpPr txBox="1"/>
          <p:nvPr/>
        </p:nvSpPr>
        <p:spPr>
          <a:xfrm>
            <a:off x="6217666" y="4737608"/>
            <a:ext cx="4470400" cy="238421"/>
          </a:xfrm>
          <a:prstGeom prst="rect">
            <a:avLst/>
          </a:prstGeom>
          <a:noFill/>
          <a:ln/>
        </p:spPr>
        <p:txBody>
          <a:bodyPr wrap="square" lIns="0" tIns="0" rIns="0" bIns="0" rtlCol="0" anchor="ctr"/>
          <a:lstStyle/>
          <a:p>
            <a:pPr indent="0" marL="0">
              <a:buNone/>
            </a:pPr>
            <a:r>
              <a:rPr lang="en-US" sz="978" dirty="0">
                <a:solidFill>
                  <a:srgbClr val="5B6472"/>
                </a:solidFill>
              </a:rPr>
              <a:t>Naf River Watch, with its group photo</a:t>
            </a:r>
            <a:endParaRPr lang="en-US" sz="978" dirty="0"/>
          </a:p>
        </p:txBody>
      </p:sp>
      <p:sp>
        <p:nvSpPr>
          <p:cNvPr id="10" name="Badge 58"/>
          <p:cNvSpPr/>
          <p:nvPr/>
        </p:nvSpPr>
        <p:spPr>
          <a:xfrm>
            <a:off x="1501394" y="5199549"/>
            <a:ext cx="461941" cy="253323"/>
          </a:xfrm>
          <a:prstGeom prst="roundRect">
            <a:avLst>
              <a:gd name="adj" fmla="val 17647"/>
            </a:avLst>
          </a:prstGeom>
          <a:solidFill>
            <a:srgbClr val="164716"/>
          </a:solidFill>
          <a:ln w="10348">
            <a:solidFill>
              <a:srgbClr val="164716"/>
            </a:solidFill>
            <a:prstDash val="solid"/>
          </a:ln>
        </p:spPr>
      </p:sp>
      <p:sp>
        <p:nvSpPr>
          <p:cNvPr id="11" name="Text 7"/>
          <p:cNvSpPr txBox="1"/>
          <p:nvPr/>
        </p:nvSpPr>
        <p:spPr>
          <a:xfrm>
            <a:off x="1501394"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2" name="Requirement 58"/>
          <p:cNvSpPr txBox="1"/>
          <p:nvPr/>
        </p:nvSpPr>
        <p:spPr>
          <a:xfrm>
            <a:off x="2037842"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Future Expansion</a:t>
            </a:r>
            <a:endParaRPr lang="en-US" sz="978" dirty="0"/>
          </a:p>
          <a:p>
            <a:pPr indent="0" marL="0">
              <a:spcAft>
                <a:spcPts val="81"/>
              </a:spcAft>
              <a:buNone/>
            </a:pPr>
            <a:r>
              <a:rPr lang="en-US" sz="896" dirty="0">
                <a:solidFill>
                  <a:srgbClr val="5B6472"/>
                </a:solidFill>
              </a:rPr>
              <a:t>Groups created by users</a:t>
            </a:r>
            <a:endParaRPr lang="en-US" sz="978" dirty="0"/>
          </a:p>
        </p:txBody>
      </p:sp>
      <p:sp>
        <p:nvSpPr>
          <p:cNvPr id="13" name="Badge 43"/>
          <p:cNvSpPr/>
          <p:nvPr/>
        </p:nvSpPr>
        <p:spPr>
          <a:xfrm>
            <a:off x="4563618" y="5199549"/>
            <a:ext cx="461941" cy="253323"/>
          </a:xfrm>
          <a:prstGeom prst="roundRect">
            <a:avLst>
              <a:gd name="adj" fmla="val 17647"/>
            </a:avLst>
          </a:prstGeom>
          <a:solidFill>
            <a:srgbClr val="164716"/>
          </a:solidFill>
          <a:ln w="10348">
            <a:solidFill>
              <a:srgbClr val="164716"/>
            </a:solidFill>
            <a:prstDash val="solid"/>
          </a:ln>
        </p:spPr>
      </p:sp>
      <p:sp>
        <p:nvSpPr>
          <p:cNvPr id="14" name="Text 10"/>
          <p:cNvSpPr txBox="1"/>
          <p:nvPr/>
        </p:nvSpPr>
        <p:spPr>
          <a:xfrm>
            <a:off x="4563618"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#43</a:t>
            </a:r>
            <a:endParaRPr lang="en-US" sz="978" dirty="0"/>
          </a:p>
        </p:txBody>
      </p:sp>
      <p:sp>
        <p:nvSpPr>
          <p:cNvPr id="15" name="Requirement 43"/>
          <p:cNvSpPr txBox="1"/>
          <p:nvPr/>
        </p:nvSpPr>
        <p:spPr>
          <a:xfrm>
            <a:off x="5100066"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Localization</a:t>
            </a:r>
            <a:endParaRPr lang="en-US" sz="978" dirty="0"/>
          </a:p>
          <a:p>
            <a:pPr indent="0" marL="0">
              <a:spcAft>
                <a:spcPts val="81"/>
              </a:spcAft>
              <a:buNone/>
            </a:pPr>
            <a:r>
              <a:rPr lang="en-US" sz="896" dirty="0">
                <a:solidFill>
                  <a:srgbClr val="5B6472"/>
                </a:solidFill>
              </a:rPr>
              <a:t>Bangla group names</a:t>
            </a:r>
            <a:endParaRPr lang="en-US" sz="978" dirty="0"/>
          </a:p>
        </p:txBody>
      </p:sp>
      <p:sp>
        <p:nvSpPr>
          <p:cNvPr id="16" name="Badge 27"/>
          <p:cNvSpPr/>
          <p:nvPr/>
        </p:nvSpPr>
        <p:spPr>
          <a:xfrm>
            <a:off x="7625842" y="5199549"/>
            <a:ext cx="461941" cy="253323"/>
          </a:xfrm>
          <a:prstGeom prst="roundRect">
            <a:avLst>
              <a:gd name="adj" fmla="val 17647"/>
            </a:avLst>
          </a:prstGeom>
          <a:solidFill>
            <a:srgbClr val="164716"/>
          </a:solidFill>
          <a:ln w="10348">
            <a:solidFill>
              <a:srgbClr val="164716"/>
            </a:solidFill>
            <a:prstDash val="solid"/>
          </a:ln>
        </p:spPr>
      </p:sp>
      <p:sp>
        <p:nvSpPr>
          <p:cNvPr id="17" name="Text 13"/>
          <p:cNvSpPr txBox="1"/>
          <p:nvPr/>
        </p:nvSpPr>
        <p:spPr>
          <a:xfrm>
            <a:off x="7625842" y="5199549"/>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#27</a:t>
            </a:r>
            <a:endParaRPr lang="en-US" sz="978" dirty="0"/>
          </a:p>
        </p:txBody>
      </p:sp>
      <p:sp>
        <p:nvSpPr>
          <p:cNvPr id="18" name="Requirement 27"/>
          <p:cNvSpPr txBox="1"/>
          <p:nvPr/>
        </p:nvSpPr>
        <p:spPr>
          <a:xfrm>
            <a:off x="8162290" y="5169747"/>
            <a:ext cx="2428917" cy="633307"/>
          </a:xfrm>
          <a:prstGeom prst="rect">
            <a:avLst/>
          </a:prstGeom>
          <a:noFill/>
          <a:ln/>
        </p:spPr>
        <p:txBody>
          <a:bodyPr wrap="square" lIns="0" tIns="0" rIns="0" bIns="0" rtlCol="0" anchor="t"/>
          <a:lstStyle/>
          <a:p>
            <a:pPr indent="0" marL="0">
              <a:spcAft>
                <a:spcPts val="81"/>
              </a:spcAft>
              <a:buNone/>
            </a:pPr>
            <a:r>
              <a:rPr lang="en-US" sz="978" b="1" dirty="0">
                <a:solidFill>
                  <a:srgbClr val="1F2937"/>
                </a:solidFill>
              </a:rPr>
              <a:t>Encryption</a:t>
            </a:r>
            <a:endParaRPr lang="en-US" sz="978" dirty="0"/>
          </a:p>
          <a:p>
            <a:pPr indent="0" marL="0">
              <a:spcAft>
                <a:spcPts val="81"/>
              </a:spcAft>
              <a:buNone/>
            </a:pPr>
            <a:r>
              <a:rPr lang="en-US" sz="896" dirty="0">
                <a:solidFill>
                  <a:srgbClr val="5B6472"/>
                </a:solidFill>
              </a:rPr>
              <a:t>Group photos stored encrypted</a:t>
            </a:r>
            <a:endParaRPr lang="en-US" sz="978"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HQ and sectors in one channel</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HQ Duty Officers: daily coordination between HQ and the five sectors</a:t>
            </a:r>
            <a:endParaRPr lang="en-US" sz="1141" dirty="0"/>
          </a:p>
        </p:txBody>
      </p:sp>
      <p:pic>
        <p:nvPicPr>
          <p:cNvPr id="4" name="Screen c16-hq-group" descr="E:\Tender\tender-submission\build\shots-jpg\c16-hq-group.jpg">    </p:cNvPr>
          <p:cNvPicPr>
            <a:picLocks noChangeAspect="1"/>
          </p:cNvPicPr>
          <p:nvPr/>
        </p:nvPicPr>
        <p:blipFill>
          <a:blip r:embed="rId1"/>
          <a:stretch>
            <a:fillRect/>
          </a:stretch>
        </p:blipFill>
        <p:spPr>
          <a:xfrm>
            <a:off x="1501394" y="1891453"/>
            <a:ext cx="5960533" cy="3725333"/>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1501394" y="1891453"/>
            <a:ext cx="5960533" cy="3725333"/>
          </a:xfrm>
          <a:prstGeom prst="rect">
            <a:avLst/>
          </a:prstGeom>
          <a:ln w="7761">
            <a:solidFill>
              <a:srgbClr val="D7DED8"/>
            </a:solidFill>
            <a:prstDash val="solid"/>
          </a:ln>
        </p:spPr>
      </p:sp>
      <p:sp>
        <p:nvSpPr>
          <p:cNvPr id="6"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7" name="Badge 58"/>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8" name="Text 5"/>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9" name="Requirement 58"/>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Organisation-wide communication</a:t>
            </a:r>
            <a:endParaRPr lang="en-US" sz="1059" dirty="0"/>
          </a:p>
        </p:txBody>
      </p:sp>
      <p:sp>
        <p:nvSpPr>
          <p:cNvPr id="10" name="Badge 17"/>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1" name="Text 8"/>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#17</a:t>
            </a:r>
            <a:endParaRPr lang="en-US" sz="978" dirty="0"/>
          </a:p>
        </p:txBody>
      </p:sp>
      <p:sp>
        <p:nvSpPr>
          <p:cNvPr id="12" name="Requirement 17"/>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Dashboard</a:t>
            </a:r>
            <a:endParaRPr lang="en-US" sz="1059" dirty="0"/>
          </a:p>
          <a:p>
            <a:pPr indent="0" marL="0">
              <a:spcAft>
                <a:spcPts val="163"/>
              </a:spcAft>
              <a:buNone/>
            </a:pPr>
            <a:r>
              <a:rPr lang="en-US" sz="937" dirty="0">
                <a:solidFill>
                  <a:srgbClr val="5B6472"/>
                </a:solidFill>
              </a:rPr>
              <a:t>HQ oversight</a:t>
            </a:r>
            <a:endParaRPr lang="en-US" sz="1059" dirty="0"/>
          </a:p>
        </p:txBody>
      </p:sp>
      <p:sp>
        <p:nvSpPr>
          <p:cNvPr id="13" name="Badge 24"/>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4" name="Text 11"/>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#24</a:t>
            </a:r>
            <a:endParaRPr lang="en-US" sz="978" dirty="0"/>
          </a:p>
        </p:txBody>
      </p:sp>
      <p:sp>
        <p:nvSpPr>
          <p:cNvPr id="15" name="Requirement 24"/>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Audit Trail</a:t>
            </a:r>
            <a:endParaRPr lang="en-US" sz="1059" dirty="0"/>
          </a:p>
          <a:p>
            <a:pPr indent="0" marL="0">
              <a:spcAft>
                <a:spcPts val="163"/>
              </a:spcAft>
              <a:buNone/>
            </a:pPr>
            <a:r>
              <a:rPr lang="en-US" sz="937" dirty="0">
                <a:solidFill>
                  <a:srgbClr val="5B6472"/>
                </a:solidFill>
              </a:rPr>
              <a:t>Permanent record</a:t>
            </a:r>
            <a:endParaRPr lang="en-US" sz="1059"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Messaging on a phone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Conversations and chat on a phone, installed as an app</a:t>
            </a:r>
            <a:endParaRPr lang="en-US" sz="1141" dirty="0"/>
          </a:p>
        </p:txBody>
      </p:sp>
      <p:pic>
        <p:nvPicPr>
          <p:cNvPr id="4" name="Screen x08-phone-messages" descr="E:\Tender\tender-submission\build\shots-jpg\x08-phone-messages.jpg">    </p:cNvPr>
          <p:cNvPicPr>
            <a:picLocks noChangeAspect="1"/>
          </p:cNvPicPr>
          <p:nvPr/>
        </p:nvPicPr>
        <p:blipFill>
          <a:blip r:embed="rId1"/>
          <a:stretch>
            <a:fillRect/>
          </a:stretch>
        </p:blipFill>
        <p:spPr>
          <a:xfrm>
            <a:off x="2734550" y="1891453"/>
            <a:ext cx="1635350" cy="3539067"/>
          </a:xfrm>
          <a:prstGeom prst="rect">
            <a:avLst/>
          </a:prstGeom>
          <a:effectLst>
            <a:outerShdw sx="100000" sy="100000" kx="0" ky="0" algn="bl" rotWithShape="0" blurRad="62089" dist="20696" dir="5400000">
              <a:srgbClr val="000000">
                <a:alpha val="18000"/>
              </a:srgbClr>
            </a:outerShdw>
          </a:effectLst>
        </p:spPr>
      </p:pic>
      <p:sp>
        <p:nvSpPr>
          <p:cNvPr id="5" name="Frame"/>
          <p:cNvSpPr/>
          <p:nvPr/>
        </p:nvSpPr>
        <p:spPr>
          <a:xfrm>
            <a:off x="2734550" y="1891453"/>
            <a:ext cx="1635350" cy="3539067"/>
          </a:xfrm>
          <a:prstGeom prst="rect">
            <a:avLst/>
          </a:prstGeom>
          <a:ln w="7761">
            <a:solidFill>
              <a:srgbClr val="D7DED8"/>
            </a:solidFill>
            <a:prstDash val="solid"/>
          </a:ln>
        </p:spPr>
      </p:sp>
      <p:sp>
        <p:nvSpPr>
          <p:cNvPr id="6" name="Caption"/>
          <p:cNvSpPr txBox="1"/>
          <p:nvPr/>
        </p:nvSpPr>
        <p:spPr>
          <a:xfrm>
            <a:off x="2734550" y="5490125"/>
            <a:ext cx="1639147" cy="238421"/>
          </a:xfrm>
          <a:prstGeom prst="rect">
            <a:avLst/>
          </a:prstGeom>
          <a:noFill/>
          <a:ln/>
        </p:spPr>
        <p:txBody>
          <a:bodyPr wrap="square" lIns="0" tIns="0" rIns="0" bIns="0" rtlCol="0" anchor="ctr"/>
          <a:lstStyle/>
          <a:p>
            <a:pPr indent="0" marL="0">
              <a:buNone/>
            </a:pPr>
            <a:r>
              <a:rPr lang="en-US" sz="978" dirty="0">
                <a:solidFill>
                  <a:srgbClr val="5B6472"/>
                </a:solidFill>
              </a:rPr>
              <a:t>Conversations</a:t>
            </a:r>
            <a:endParaRPr lang="en-US" sz="978" dirty="0"/>
          </a:p>
        </p:txBody>
      </p:sp>
      <p:pic>
        <p:nvPicPr>
          <p:cNvPr id="7" name="Screen x09-phone-chat" descr="E:\Tender\tender-submission\build\shots-jpg\x09-phone-chat.jpg">    </p:cNvPr>
          <p:cNvPicPr>
            <a:picLocks noChangeAspect="1"/>
          </p:cNvPicPr>
          <p:nvPr/>
        </p:nvPicPr>
        <p:blipFill>
          <a:blip r:embed="rId2"/>
          <a:stretch>
            <a:fillRect/>
          </a:stretch>
        </p:blipFill>
        <p:spPr>
          <a:xfrm>
            <a:off x="4593421" y="1891453"/>
            <a:ext cx="1635350" cy="3539067"/>
          </a:xfrm>
          <a:prstGeom prst="rect">
            <a:avLst/>
          </a:prstGeom>
          <a:effectLst>
            <a:outerShdw sx="100000" sy="100000" kx="0" ky="0" algn="bl" rotWithShape="0" blurRad="62089" dist="20696" dir="5400000">
              <a:srgbClr val="000000">
                <a:alpha val="18000"/>
              </a:srgbClr>
            </a:outerShdw>
          </a:effectLst>
        </p:spPr>
      </p:pic>
      <p:sp>
        <p:nvSpPr>
          <p:cNvPr id="8" name="Frame"/>
          <p:cNvSpPr/>
          <p:nvPr/>
        </p:nvSpPr>
        <p:spPr>
          <a:xfrm>
            <a:off x="4593421" y="1891453"/>
            <a:ext cx="1635350" cy="3539067"/>
          </a:xfrm>
          <a:prstGeom prst="rect">
            <a:avLst/>
          </a:prstGeom>
          <a:ln w="7761">
            <a:solidFill>
              <a:srgbClr val="D7DED8"/>
            </a:solidFill>
            <a:prstDash val="solid"/>
          </a:ln>
        </p:spPr>
      </p:sp>
      <p:sp>
        <p:nvSpPr>
          <p:cNvPr id="9" name="Caption"/>
          <p:cNvSpPr txBox="1"/>
          <p:nvPr/>
        </p:nvSpPr>
        <p:spPr>
          <a:xfrm>
            <a:off x="4593421" y="5490125"/>
            <a:ext cx="1639147" cy="238421"/>
          </a:xfrm>
          <a:prstGeom prst="rect">
            <a:avLst/>
          </a:prstGeom>
          <a:noFill/>
          <a:ln/>
        </p:spPr>
        <p:txBody>
          <a:bodyPr wrap="square" lIns="0" tIns="0" rIns="0" bIns="0" rtlCol="0" anchor="ctr"/>
          <a:lstStyle/>
          <a:p>
            <a:pPr indent="0" marL="0">
              <a:buNone/>
            </a:pPr>
            <a:r>
              <a:rPr lang="en-US" sz="978" dirty="0">
                <a:solidFill>
                  <a:srgbClr val="5B6472"/>
                </a:solidFill>
              </a:rPr>
              <a:t>Direct chat</a:t>
            </a:r>
            <a:endParaRPr lang="en-US" sz="978" dirty="0"/>
          </a:p>
        </p:txBody>
      </p:sp>
      <p:sp>
        <p:nvSpPr>
          <p:cNvPr id="10" name="Panel heading"/>
          <p:cNvSpPr txBox="1"/>
          <p:nvPr/>
        </p:nvSpPr>
        <p:spPr>
          <a:xfrm>
            <a:off x="7722701" y="1891453"/>
            <a:ext cx="2980267" cy="260773"/>
          </a:xfrm>
          <a:prstGeom prst="rect">
            <a:avLst/>
          </a:prstGeom>
          <a:noFill/>
          <a:ln/>
        </p:spPr>
        <p:txBody>
          <a:bodyPr wrap="square" lIns="0" tIns="0" rIns="0" bIns="0" rtlCol="0" anchor="ctr"/>
          <a:lstStyle/>
          <a:p>
            <a:pPr indent="0" marL="0">
              <a:buNone/>
            </a:pPr>
            <a:r>
              <a:rPr lang="en-US" sz="1141" b="1" dirty="0">
                <a:solidFill>
                  <a:srgbClr val="164716"/>
                </a:solidFill>
              </a:rPr>
              <a:t>Requirements shown</a:t>
            </a:r>
            <a:endParaRPr lang="en-US" sz="1141" dirty="0"/>
          </a:p>
        </p:txBody>
      </p:sp>
      <p:sp>
        <p:nvSpPr>
          <p:cNvPr id="11" name="Badge 41"/>
          <p:cNvSpPr/>
          <p:nvPr/>
        </p:nvSpPr>
        <p:spPr>
          <a:xfrm>
            <a:off x="7722701" y="2263987"/>
            <a:ext cx="461941" cy="253323"/>
          </a:xfrm>
          <a:prstGeom prst="roundRect">
            <a:avLst>
              <a:gd name="adj" fmla="val 17647"/>
            </a:avLst>
          </a:prstGeom>
          <a:solidFill>
            <a:srgbClr val="164716"/>
          </a:solidFill>
          <a:ln w="10348">
            <a:solidFill>
              <a:srgbClr val="164716"/>
            </a:solidFill>
            <a:prstDash val="solid"/>
          </a:ln>
        </p:spPr>
      </p:sp>
      <p:sp>
        <p:nvSpPr>
          <p:cNvPr id="12" name="Text 8"/>
          <p:cNvSpPr txBox="1"/>
          <p:nvPr/>
        </p:nvSpPr>
        <p:spPr>
          <a:xfrm>
            <a:off x="7722701" y="2263987"/>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#41</a:t>
            </a:r>
            <a:endParaRPr lang="en-US" sz="978" dirty="0"/>
          </a:p>
        </p:txBody>
      </p:sp>
      <p:sp>
        <p:nvSpPr>
          <p:cNvPr id="13" name="Requirement 41"/>
          <p:cNvSpPr txBox="1"/>
          <p:nvPr/>
        </p:nvSpPr>
        <p:spPr>
          <a:xfrm>
            <a:off x="8281501" y="2234184"/>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Mobile Responsiveness</a:t>
            </a:r>
            <a:endParaRPr lang="en-US" sz="1059" dirty="0"/>
          </a:p>
          <a:p>
            <a:pPr indent="0" marL="0">
              <a:spcAft>
                <a:spcPts val="163"/>
              </a:spcAft>
              <a:buNone/>
            </a:pPr>
            <a:r>
              <a:rPr lang="en-US" sz="937" dirty="0">
                <a:solidFill>
                  <a:srgbClr val="5B6472"/>
                </a:solidFill>
              </a:rPr>
              <a:t>Usable on phones</a:t>
            </a:r>
            <a:endParaRPr lang="en-US" sz="1059" dirty="0"/>
          </a:p>
        </p:txBody>
      </p:sp>
      <p:sp>
        <p:nvSpPr>
          <p:cNvPr id="14" name="Badge 58"/>
          <p:cNvSpPr/>
          <p:nvPr/>
        </p:nvSpPr>
        <p:spPr>
          <a:xfrm>
            <a:off x="7722701" y="3098461"/>
            <a:ext cx="461941" cy="253323"/>
          </a:xfrm>
          <a:prstGeom prst="roundRect">
            <a:avLst>
              <a:gd name="adj" fmla="val 17647"/>
            </a:avLst>
          </a:prstGeom>
          <a:solidFill>
            <a:srgbClr val="164716"/>
          </a:solidFill>
          <a:ln w="10348">
            <a:solidFill>
              <a:srgbClr val="164716"/>
            </a:solidFill>
            <a:prstDash val="solid"/>
          </a:ln>
        </p:spPr>
      </p:sp>
      <p:sp>
        <p:nvSpPr>
          <p:cNvPr id="15" name="Text 11"/>
          <p:cNvSpPr txBox="1"/>
          <p:nvPr/>
        </p:nvSpPr>
        <p:spPr>
          <a:xfrm>
            <a:off x="7722701" y="3098461"/>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#58</a:t>
            </a:r>
            <a:endParaRPr lang="en-US" sz="978" dirty="0"/>
          </a:p>
        </p:txBody>
      </p:sp>
      <p:sp>
        <p:nvSpPr>
          <p:cNvPr id="16" name="Requirement 58"/>
          <p:cNvSpPr txBox="1"/>
          <p:nvPr/>
        </p:nvSpPr>
        <p:spPr>
          <a:xfrm>
            <a:off x="8281501" y="3068659"/>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Future Expansion</a:t>
            </a:r>
            <a:endParaRPr lang="en-US" sz="1059" dirty="0"/>
          </a:p>
          <a:p>
            <a:pPr indent="0" marL="0">
              <a:spcAft>
                <a:spcPts val="163"/>
              </a:spcAft>
              <a:buNone/>
            </a:pPr>
            <a:r>
              <a:rPr lang="en-US" sz="937" dirty="0">
                <a:solidFill>
                  <a:srgbClr val="5B6472"/>
                </a:solidFill>
              </a:rPr>
              <a:t>Mobile communication</a:t>
            </a:r>
            <a:endParaRPr lang="en-US" sz="1059" dirty="0"/>
          </a:p>
        </p:txBody>
      </p:sp>
      <p:sp>
        <p:nvSpPr>
          <p:cNvPr id="17" name="Badge 23"/>
          <p:cNvSpPr/>
          <p:nvPr/>
        </p:nvSpPr>
        <p:spPr>
          <a:xfrm>
            <a:off x="7722701" y="3932936"/>
            <a:ext cx="461941" cy="253323"/>
          </a:xfrm>
          <a:prstGeom prst="roundRect">
            <a:avLst>
              <a:gd name="adj" fmla="val 17647"/>
            </a:avLst>
          </a:prstGeom>
          <a:solidFill>
            <a:srgbClr val="164716"/>
          </a:solidFill>
          <a:ln w="10348">
            <a:solidFill>
              <a:srgbClr val="164716"/>
            </a:solidFill>
            <a:prstDash val="solid"/>
          </a:ln>
        </p:spPr>
      </p:sp>
      <p:sp>
        <p:nvSpPr>
          <p:cNvPr id="18" name="Text 14"/>
          <p:cNvSpPr txBox="1"/>
          <p:nvPr/>
        </p:nvSpPr>
        <p:spPr>
          <a:xfrm>
            <a:off x="7722701" y="3932936"/>
            <a:ext cx="461941" cy="253323"/>
          </a:xfrm>
          <a:prstGeom prst="rect">
            <a:avLst/>
          </a:prstGeom>
          <a:noFill/>
          <a:ln/>
        </p:spPr>
        <p:txBody>
          <a:bodyPr wrap="square" lIns="0" tIns="0" rIns="0" bIns="0" rtlCol="0" anchor="ctr"/>
          <a:lstStyle/>
          <a:p>
            <a:pPr algn="ctr" indent="0" marL="0">
              <a:buNone/>
            </a:pPr>
            <a:r>
              <a:rPr lang="en-US" sz="978" b="1" dirty="0">
                <a:solidFill>
                  <a:srgbClr val="FFFFFF"/>
                </a:solidFill>
              </a:rPr>
              <a:t>#23</a:t>
            </a:r>
            <a:endParaRPr lang="en-US" sz="978" dirty="0"/>
          </a:p>
        </p:txBody>
      </p:sp>
      <p:sp>
        <p:nvSpPr>
          <p:cNvPr id="19" name="Requirement 23"/>
          <p:cNvSpPr txBox="1"/>
          <p:nvPr/>
        </p:nvSpPr>
        <p:spPr>
          <a:xfrm>
            <a:off x="8281501" y="3903133"/>
            <a:ext cx="2421467" cy="745067"/>
          </a:xfrm>
          <a:prstGeom prst="rect">
            <a:avLst/>
          </a:prstGeom>
          <a:noFill/>
          <a:ln/>
        </p:spPr>
        <p:txBody>
          <a:bodyPr wrap="square" lIns="0" tIns="0" rIns="0" bIns="0" rtlCol="0" anchor="t"/>
          <a:lstStyle/>
          <a:p>
            <a:pPr indent="0" marL="0">
              <a:spcAft>
                <a:spcPts val="163"/>
              </a:spcAft>
              <a:buNone/>
            </a:pPr>
            <a:r>
              <a:rPr lang="en-US" sz="1059" b="1" dirty="0">
                <a:solidFill>
                  <a:srgbClr val="1F2937"/>
                </a:solidFill>
              </a:rPr>
              <a:t>Notifications</a:t>
            </a:r>
            <a:endParaRPr lang="en-US" sz="1059" dirty="0"/>
          </a:p>
          <a:p>
            <a:pPr indent="0" marL="0">
              <a:spcAft>
                <a:spcPts val="163"/>
              </a:spcAft>
              <a:buNone/>
            </a:pPr>
            <a:r>
              <a:rPr lang="en-US" sz="937" dirty="0">
                <a:solidFill>
                  <a:srgbClr val="5B6472"/>
                </a:solidFill>
              </a:rPr>
              <a:t>Push notifications on the phone</a:t>
            </a:r>
            <a:endParaRPr lang="en-US" sz="1059"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12</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Beyond the specification</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Annex B: value additions included in the quoted price</a:t>
            </a:r>
            <a:endParaRPr lang="en-US" sz="1467"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32 value additions, included in the price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Annex B: offered in addition to, not in place of, any required item</a:t>
            </a:r>
            <a:endParaRPr lang="en-US" sz="1141" dirty="0"/>
          </a:p>
        </p:txBody>
      </p:sp>
      <p:sp>
        <p:nvSpPr>
          <p:cNvPr id="4" name="Area Secure communications"/>
          <p:cNvSpPr/>
          <p:nvPr/>
        </p:nvSpPr>
        <p:spPr>
          <a:xfrm>
            <a:off x="1501394" y="1928707"/>
            <a:ext cx="2160693" cy="1229360"/>
          </a:xfrm>
          <a:prstGeom prst="roundRect">
            <a:avLst>
              <a:gd name="adj" fmla="val 4848"/>
            </a:avLst>
          </a:prstGeom>
          <a:solidFill>
            <a:srgbClr val="EEF4EE"/>
          </a:solidFill>
          <a:ln w="10348">
            <a:solidFill>
              <a:srgbClr val="EEF4EE"/>
            </a:solidFill>
            <a:prstDash val="solid"/>
          </a:ln>
        </p:spPr>
      </p:sp>
      <p:sp>
        <p:nvSpPr>
          <p:cNvPr id="5" name="Text 3"/>
          <p:cNvSpPr txBox="1"/>
          <p:nvPr/>
        </p:nvSpPr>
        <p:spPr>
          <a:xfrm>
            <a:off x="1613154" y="200321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Secure communications</a:t>
            </a:r>
            <a:endParaRPr lang="en-US" sz="1059" dirty="0"/>
          </a:p>
          <a:p>
            <a:pPr indent="0" marL="0">
              <a:spcAft>
                <a:spcPts val="244"/>
              </a:spcAft>
              <a:buNone/>
            </a:pPr>
            <a:r>
              <a:rPr lang="en-US" sz="856" dirty="0">
                <a:solidFill>
                  <a:srgbClr val="1F2937"/>
                </a:solidFill>
              </a:rPr>
              <a:t>Direct and group messaging · Voice messages · One-to-one voice calls with call log · Group administration</a:t>
            </a:r>
            <a:endParaRPr lang="en-US" sz="1059" dirty="0"/>
          </a:p>
        </p:txBody>
      </p:sp>
      <p:sp>
        <p:nvSpPr>
          <p:cNvPr id="6" name="Area Mobile"/>
          <p:cNvSpPr/>
          <p:nvPr/>
        </p:nvSpPr>
        <p:spPr>
          <a:xfrm>
            <a:off x="3811101" y="1928707"/>
            <a:ext cx="2160693" cy="1229360"/>
          </a:xfrm>
          <a:prstGeom prst="roundRect">
            <a:avLst>
              <a:gd name="adj" fmla="val 4848"/>
            </a:avLst>
          </a:prstGeom>
          <a:solidFill>
            <a:srgbClr val="EEF4EE"/>
          </a:solidFill>
          <a:ln w="10348">
            <a:solidFill>
              <a:srgbClr val="EEF4EE"/>
            </a:solidFill>
            <a:prstDash val="solid"/>
          </a:ln>
        </p:spPr>
      </p:sp>
      <p:sp>
        <p:nvSpPr>
          <p:cNvPr id="7" name="Text 5"/>
          <p:cNvSpPr txBox="1"/>
          <p:nvPr/>
        </p:nvSpPr>
        <p:spPr>
          <a:xfrm>
            <a:off x="3922861" y="200321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Mobile</a:t>
            </a:r>
            <a:endParaRPr lang="en-US" sz="1059" dirty="0"/>
          </a:p>
          <a:p>
            <a:pPr indent="0" marL="0">
              <a:spcAft>
                <a:spcPts val="244"/>
              </a:spcAft>
              <a:buNone/>
            </a:pPr>
            <a:r>
              <a:rPr lang="en-US" sz="856" dirty="0">
                <a:solidFill>
                  <a:srgbClr val="1F2937"/>
                </a:solidFill>
              </a:rPr>
              <a:t>Progressive web app (PWA): install from the browser · Push notifications · Ringing call notification</a:t>
            </a:r>
            <a:endParaRPr lang="en-US" sz="1059" dirty="0"/>
          </a:p>
        </p:txBody>
      </p:sp>
      <p:sp>
        <p:nvSpPr>
          <p:cNvPr id="8" name="Area Evidence integrity"/>
          <p:cNvSpPr/>
          <p:nvPr/>
        </p:nvSpPr>
        <p:spPr>
          <a:xfrm>
            <a:off x="6120807" y="1928707"/>
            <a:ext cx="2160693" cy="1229360"/>
          </a:xfrm>
          <a:prstGeom prst="roundRect">
            <a:avLst>
              <a:gd name="adj" fmla="val 4848"/>
            </a:avLst>
          </a:prstGeom>
          <a:solidFill>
            <a:srgbClr val="EEF4EE"/>
          </a:solidFill>
          <a:ln w="10348">
            <a:solidFill>
              <a:srgbClr val="EEF4EE"/>
            </a:solidFill>
            <a:prstDash val="solid"/>
          </a:ln>
        </p:spPr>
      </p:sp>
      <p:sp>
        <p:nvSpPr>
          <p:cNvPr id="9" name="Text 7"/>
          <p:cNvSpPr txBox="1"/>
          <p:nvPr/>
        </p:nvSpPr>
        <p:spPr>
          <a:xfrm>
            <a:off x="6232567" y="200321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Evidence integrity</a:t>
            </a:r>
            <a:endParaRPr lang="en-US" sz="1059" dirty="0"/>
          </a:p>
          <a:p>
            <a:pPr indent="0" marL="0">
              <a:spcAft>
                <a:spcPts val="244"/>
              </a:spcAft>
              <a:buNone/>
            </a:pPr>
            <a:r>
              <a:rPr lang="en-US" sz="856" dirty="0">
                <a:solidFill>
                  <a:srgbClr val="1F2937"/>
                </a:solidFill>
              </a:rPr>
              <a:t>SHA-256 fingerprint and integrity check · Encryption at rest for all files · Photo EXIF, GPS and document properties shown</a:t>
            </a:r>
            <a:endParaRPr lang="en-US" sz="1059" dirty="0"/>
          </a:p>
        </p:txBody>
      </p:sp>
      <p:sp>
        <p:nvSpPr>
          <p:cNvPr id="10" name="Area Audit"/>
          <p:cNvSpPr/>
          <p:nvPr/>
        </p:nvSpPr>
        <p:spPr>
          <a:xfrm>
            <a:off x="8430514" y="1928707"/>
            <a:ext cx="2160693" cy="1229360"/>
          </a:xfrm>
          <a:prstGeom prst="roundRect">
            <a:avLst>
              <a:gd name="adj" fmla="val 4848"/>
            </a:avLst>
          </a:prstGeom>
          <a:solidFill>
            <a:srgbClr val="EEF4EE"/>
          </a:solidFill>
          <a:ln w="10348">
            <a:solidFill>
              <a:srgbClr val="EEF4EE"/>
            </a:solidFill>
            <a:prstDash val="solid"/>
          </a:ln>
        </p:spPr>
      </p:sp>
      <p:sp>
        <p:nvSpPr>
          <p:cNvPr id="11" name="Text 9"/>
          <p:cNvSpPr txBox="1"/>
          <p:nvPr/>
        </p:nvSpPr>
        <p:spPr>
          <a:xfrm>
            <a:off x="8542274" y="200321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Audit</a:t>
            </a:r>
            <a:endParaRPr lang="en-US" sz="1059" dirty="0"/>
          </a:p>
          <a:p>
            <a:pPr indent="0" marL="0">
              <a:spcAft>
                <a:spcPts val="244"/>
              </a:spcAft>
              <a:buNone/>
            </a:pPr>
            <a:r>
              <a:rPr lang="en-US" sz="856" dirty="0">
                <a:solidFill>
                  <a:srgbClr val="1F2937"/>
                </a:solidFill>
              </a:rPr>
              <a:t>Hash-chained audit log with verification</a:t>
            </a:r>
            <a:endParaRPr lang="en-US" sz="1059" dirty="0"/>
          </a:p>
        </p:txBody>
      </p:sp>
      <p:sp>
        <p:nvSpPr>
          <p:cNvPr id="12" name="Area Work management"/>
          <p:cNvSpPr/>
          <p:nvPr/>
        </p:nvSpPr>
        <p:spPr>
          <a:xfrm>
            <a:off x="1501394" y="3269827"/>
            <a:ext cx="2160693" cy="1229360"/>
          </a:xfrm>
          <a:prstGeom prst="roundRect">
            <a:avLst>
              <a:gd name="adj" fmla="val 4848"/>
            </a:avLst>
          </a:prstGeom>
          <a:solidFill>
            <a:srgbClr val="EEF4EE"/>
          </a:solidFill>
          <a:ln w="10348">
            <a:solidFill>
              <a:srgbClr val="EEF4EE"/>
            </a:solidFill>
            <a:prstDash val="solid"/>
          </a:ln>
        </p:spPr>
      </p:sp>
      <p:sp>
        <p:nvSpPr>
          <p:cNvPr id="13" name="Text 11"/>
          <p:cNvSpPr txBox="1"/>
          <p:nvPr/>
        </p:nvSpPr>
        <p:spPr>
          <a:xfrm>
            <a:off x="1613154" y="334433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Work management</a:t>
            </a:r>
            <a:endParaRPr lang="en-US" sz="1059" dirty="0"/>
          </a:p>
          <a:p>
            <a:pPr indent="0" marL="0">
              <a:spcAft>
                <a:spcPts val="244"/>
              </a:spcAft>
              <a:buNone/>
            </a:pPr>
            <a:r>
              <a:rPr lang="en-US" sz="856" dirty="0">
                <a:solidFill>
                  <a:srgbClr val="1F2937"/>
                </a:solidFill>
              </a:rPr>
              <a:t>"Needs my action" work queue · Overdue flags · Possible-duplicate warning · Related incidents · Comments on incidents · Discard unsubmitted drafts</a:t>
            </a:r>
            <a:endParaRPr lang="en-US" sz="1059" dirty="0"/>
          </a:p>
        </p:txBody>
      </p:sp>
      <p:sp>
        <p:nvSpPr>
          <p:cNvPr id="14" name="Area Reports"/>
          <p:cNvSpPr/>
          <p:nvPr/>
        </p:nvSpPr>
        <p:spPr>
          <a:xfrm>
            <a:off x="3811101" y="3269827"/>
            <a:ext cx="2160693" cy="1229360"/>
          </a:xfrm>
          <a:prstGeom prst="roundRect">
            <a:avLst>
              <a:gd name="adj" fmla="val 4848"/>
            </a:avLst>
          </a:prstGeom>
          <a:solidFill>
            <a:srgbClr val="EEF4EE"/>
          </a:solidFill>
          <a:ln w="10348">
            <a:solidFill>
              <a:srgbClr val="EEF4EE"/>
            </a:solidFill>
            <a:prstDash val="solid"/>
          </a:ln>
        </p:spPr>
      </p:sp>
      <p:sp>
        <p:nvSpPr>
          <p:cNvPr id="15" name="Text 13"/>
          <p:cNvSpPr txBox="1"/>
          <p:nvPr/>
        </p:nvSpPr>
        <p:spPr>
          <a:xfrm>
            <a:off x="3922861" y="334433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Reports</a:t>
            </a:r>
            <a:endParaRPr lang="en-US" sz="1059" dirty="0"/>
          </a:p>
          <a:p>
            <a:pPr indent="0" marL="0">
              <a:spcAft>
                <a:spcPts val="244"/>
              </a:spcAft>
              <a:buNone/>
            </a:pPr>
            <a:r>
              <a:rPr lang="en-US" sz="856" dirty="0">
                <a:solidFill>
                  <a:srgbClr val="1F2937"/>
                </a:solidFill>
              </a:rPr>
              <a:t>Formal printouts · Incident annex with evidence · Audited printing</a:t>
            </a:r>
            <a:endParaRPr lang="en-US" sz="1059" dirty="0"/>
          </a:p>
        </p:txBody>
      </p:sp>
      <p:sp>
        <p:nvSpPr>
          <p:cNvPr id="16" name="Area GIS"/>
          <p:cNvSpPr/>
          <p:nvPr/>
        </p:nvSpPr>
        <p:spPr>
          <a:xfrm>
            <a:off x="6120807" y="3269827"/>
            <a:ext cx="2160693" cy="1229360"/>
          </a:xfrm>
          <a:prstGeom prst="roundRect">
            <a:avLst>
              <a:gd name="adj" fmla="val 4848"/>
            </a:avLst>
          </a:prstGeom>
          <a:solidFill>
            <a:srgbClr val="EEF4EE"/>
          </a:solidFill>
          <a:ln w="10348">
            <a:solidFill>
              <a:srgbClr val="EEF4EE"/>
            </a:solidFill>
            <a:prstDash val="solid"/>
          </a:ln>
        </p:spPr>
      </p:sp>
      <p:sp>
        <p:nvSpPr>
          <p:cNvPr id="17" name="Text 15"/>
          <p:cNvSpPr txBox="1"/>
          <p:nvPr/>
        </p:nvSpPr>
        <p:spPr>
          <a:xfrm>
            <a:off x="6232567" y="334433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GIS</a:t>
            </a:r>
            <a:endParaRPr lang="en-US" sz="1059" dirty="0"/>
          </a:p>
          <a:p>
            <a:pPr indent="0" marL="0">
              <a:spcAft>
                <a:spcPts val="244"/>
              </a:spcAft>
              <a:buNone/>
            </a:pPr>
            <a:r>
              <a:rPr lang="en-US" sz="856" dirty="0">
                <a:solidFill>
                  <a:srgbClr val="1F2937"/>
                </a:solidFill>
              </a:rPr>
              <a:t>Heat map and marker clustering · Map limited to Bangladesh · Location markers with incident counts · Zoom in on a point, show all, back to the map</a:t>
            </a:r>
            <a:endParaRPr lang="en-US" sz="1059" dirty="0"/>
          </a:p>
        </p:txBody>
      </p:sp>
      <p:sp>
        <p:nvSpPr>
          <p:cNvPr id="18" name="Area Analytics"/>
          <p:cNvSpPr/>
          <p:nvPr/>
        </p:nvSpPr>
        <p:spPr>
          <a:xfrm>
            <a:off x="8430514" y="3269827"/>
            <a:ext cx="2160693" cy="1229360"/>
          </a:xfrm>
          <a:prstGeom prst="roundRect">
            <a:avLst>
              <a:gd name="adj" fmla="val 4848"/>
            </a:avLst>
          </a:prstGeom>
          <a:solidFill>
            <a:srgbClr val="EEF4EE"/>
          </a:solidFill>
          <a:ln w="10348">
            <a:solidFill>
              <a:srgbClr val="EEF4EE"/>
            </a:solidFill>
            <a:prstDash val="solid"/>
          </a:ln>
        </p:spPr>
      </p:sp>
      <p:sp>
        <p:nvSpPr>
          <p:cNvPr id="19" name="Text 17"/>
          <p:cNvSpPr txBox="1"/>
          <p:nvPr/>
        </p:nvSpPr>
        <p:spPr>
          <a:xfrm>
            <a:off x="8542274" y="334433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Analytics</a:t>
            </a:r>
            <a:endParaRPr lang="en-US" sz="1059" dirty="0"/>
          </a:p>
          <a:p>
            <a:pPr indent="0" marL="0">
              <a:spcAft>
                <a:spcPts val="244"/>
              </a:spcAft>
              <a:buNone/>
            </a:pPr>
            <a:r>
              <a:rPr lang="en-US" sz="856" dirty="0">
                <a:solidFill>
                  <a:srgbClr val="1F2937"/>
                </a:solidFill>
              </a:rPr>
              <a:t>Hotspots and time patterns · Click-through from every chart</a:t>
            </a:r>
            <a:endParaRPr lang="en-US" sz="1059" dirty="0"/>
          </a:p>
        </p:txBody>
      </p:sp>
      <p:sp>
        <p:nvSpPr>
          <p:cNvPr id="20" name="Area Administration"/>
          <p:cNvSpPr/>
          <p:nvPr/>
        </p:nvSpPr>
        <p:spPr>
          <a:xfrm>
            <a:off x="1501394" y="4610947"/>
            <a:ext cx="2160693" cy="1229360"/>
          </a:xfrm>
          <a:prstGeom prst="roundRect">
            <a:avLst>
              <a:gd name="adj" fmla="val 4848"/>
            </a:avLst>
          </a:prstGeom>
          <a:solidFill>
            <a:srgbClr val="EEF4EE"/>
          </a:solidFill>
          <a:ln w="10348">
            <a:solidFill>
              <a:srgbClr val="EEF4EE"/>
            </a:solidFill>
            <a:prstDash val="solid"/>
          </a:ln>
        </p:spPr>
      </p:sp>
      <p:sp>
        <p:nvSpPr>
          <p:cNvPr id="21" name="Text 19"/>
          <p:cNvSpPr txBox="1"/>
          <p:nvPr/>
        </p:nvSpPr>
        <p:spPr>
          <a:xfrm>
            <a:off x="1613154" y="468545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Administration</a:t>
            </a:r>
            <a:endParaRPr lang="en-US" sz="1059" dirty="0"/>
          </a:p>
          <a:p>
            <a:pPr indent="0" marL="0">
              <a:spcAft>
                <a:spcPts val="244"/>
              </a:spcAft>
              <a:buNone/>
            </a:pPr>
            <a:r>
              <a:rPr lang="en-US" sz="856" dirty="0">
                <a:solidFill>
                  <a:srgbClr val="1F2937"/>
                </a:solidFill>
              </a:rPr>
              <a:t>System status overview</a:t>
            </a:r>
            <a:endParaRPr lang="en-US" sz="1059" dirty="0"/>
          </a:p>
        </p:txBody>
      </p:sp>
      <p:sp>
        <p:nvSpPr>
          <p:cNvPr id="22" name="Area Usability"/>
          <p:cNvSpPr/>
          <p:nvPr/>
        </p:nvSpPr>
        <p:spPr>
          <a:xfrm>
            <a:off x="3811101" y="4610947"/>
            <a:ext cx="2160693" cy="1229360"/>
          </a:xfrm>
          <a:prstGeom prst="roundRect">
            <a:avLst>
              <a:gd name="adj" fmla="val 4848"/>
            </a:avLst>
          </a:prstGeom>
          <a:solidFill>
            <a:srgbClr val="EEF4EE"/>
          </a:solidFill>
          <a:ln w="10348">
            <a:solidFill>
              <a:srgbClr val="EEF4EE"/>
            </a:solidFill>
            <a:prstDash val="solid"/>
          </a:ln>
        </p:spPr>
      </p:sp>
      <p:sp>
        <p:nvSpPr>
          <p:cNvPr id="23" name="Text 21"/>
          <p:cNvSpPr txBox="1"/>
          <p:nvPr/>
        </p:nvSpPr>
        <p:spPr>
          <a:xfrm>
            <a:off x="3922861" y="468545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Usability</a:t>
            </a:r>
            <a:endParaRPr lang="en-US" sz="1059" dirty="0"/>
          </a:p>
          <a:p>
            <a:pPr indent="0" marL="0">
              <a:spcAft>
                <a:spcPts val="244"/>
              </a:spcAft>
              <a:buNone/>
            </a:pPr>
            <a:r>
              <a:rPr lang="en-US" sz="856" dirty="0">
                <a:solidFill>
                  <a:srgbClr val="1F2937"/>
                </a:solidFill>
              </a:rPr>
              <a:t>Full Bangla interface · Global search · Own sessions and sign-in history</a:t>
            </a:r>
            <a:endParaRPr lang="en-US" sz="1059" dirty="0"/>
          </a:p>
        </p:txBody>
      </p:sp>
      <p:sp>
        <p:nvSpPr>
          <p:cNvPr id="24" name="Area Integration"/>
          <p:cNvSpPr/>
          <p:nvPr/>
        </p:nvSpPr>
        <p:spPr>
          <a:xfrm>
            <a:off x="6120807" y="4610947"/>
            <a:ext cx="2160693" cy="1229360"/>
          </a:xfrm>
          <a:prstGeom prst="roundRect">
            <a:avLst>
              <a:gd name="adj" fmla="val 4848"/>
            </a:avLst>
          </a:prstGeom>
          <a:solidFill>
            <a:srgbClr val="EEF4EE"/>
          </a:solidFill>
          <a:ln w="10348">
            <a:solidFill>
              <a:srgbClr val="EEF4EE"/>
            </a:solidFill>
            <a:prstDash val="solid"/>
          </a:ln>
        </p:spPr>
      </p:sp>
      <p:sp>
        <p:nvSpPr>
          <p:cNvPr id="25" name="Text 23"/>
          <p:cNvSpPr txBox="1"/>
          <p:nvPr/>
        </p:nvSpPr>
        <p:spPr>
          <a:xfrm>
            <a:off x="6232567" y="468545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Integration</a:t>
            </a:r>
            <a:endParaRPr lang="en-US" sz="1059" dirty="0"/>
          </a:p>
          <a:p>
            <a:pPr indent="0" marL="0">
              <a:spcAft>
                <a:spcPts val="244"/>
              </a:spcAft>
              <a:buNone/>
            </a:pPr>
            <a:r>
              <a:rPr lang="en-US" sz="856" dirty="0">
                <a:solidFill>
                  <a:srgbClr val="1F2937"/>
                </a:solidFill>
              </a:rPr>
              <a:t>Interactive API documentation</a:t>
            </a:r>
            <a:endParaRPr lang="en-US" sz="1059" dirty="0"/>
          </a:p>
        </p:txBody>
      </p:sp>
      <p:sp>
        <p:nvSpPr>
          <p:cNvPr id="26" name="Area Operations"/>
          <p:cNvSpPr/>
          <p:nvPr/>
        </p:nvSpPr>
        <p:spPr>
          <a:xfrm>
            <a:off x="8430514" y="4610947"/>
            <a:ext cx="2160693" cy="1229360"/>
          </a:xfrm>
          <a:prstGeom prst="roundRect">
            <a:avLst>
              <a:gd name="adj" fmla="val 4848"/>
            </a:avLst>
          </a:prstGeom>
          <a:solidFill>
            <a:srgbClr val="EEF4EE"/>
          </a:solidFill>
          <a:ln w="10348">
            <a:solidFill>
              <a:srgbClr val="EEF4EE"/>
            </a:solidFill>
            <a:prstDash val="solid"/>
          </a:ln>
        </p:spPr>
      </p:sp>
      <p:sp>
        <p:nvSpPr>
          <p:cNvPr id="27" name="Text 25"/>
          <p:cNvSpPr txBox="1"/>
          <p:nvPr/>
        </p:nvSpPr>
        <p:spPr>
          <a:xfrm>
            <a:off x="8542274" y="4685453"/>
            <a:ext cx="1937173" cy="1102699"/>
          </a:xfrm>
          <a:prstGeom prst="rect">
            <a:avLst/>
          </a:prstGeom>
          <a:noFill/>
          <a:ln/>
        </p:spPr>
        <p:txBody>
          <a:bodyPr wrap="square" lIns="0" tIns="0" rIns="0" bIns="0" rtlCol="0" anchor="t">
            <a:normAutofit/>
          </a:bodyPr>
          <a:lstStyle/>
          <a:p>
            <a:pPr indent="0" marL="0">
              <a:spcAft>
                <a:spcPts val="244"/>
              </a:spcAft>
              <a:buNone/>
            </a:pPr>
            <a:r>
              <a:rPr lang="en-US" sz="1059" b="1" dirty="0">
                <a:solidFill>
                  <a:srgbClr val="164716"/>
                </a:solidFill>
              </a:rPr>
              <a:t>Operations</a:t>
            </a:r>
            <a:endParaRPr lang="en-US" sz="1059" dirty="0"/>
          </a:p>
          <a:p>
            <a:pPr indent="0" marL="0">
              <a:spcAft>
                <a:spcPts val="244"/>
              </a:spcAft>
              <a:buNone/>
            </a:pPr>
            <a:r>
              <a:rPr lang="en-US" sz="856" dirty="0">
                <a:solidFill>
                  <a:srgbClr val="1F2937"/>
                </a:solidFill>
              </a:rPr>
              <a:t>E-mail notifications through an outbox</a:t>
            </a:r>
            <a:endParaRPr lang="en-US" sz="1059"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Infrastructure BGB provides for the value additions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Annex B section 3: the 58 specified items do not depend on any of this</a:t>
            </a:r>
            <a:endParaRPr lang="en-US" sz="1141" dirty="0"/>
          </a:p>
        </p:txBody>
      </p:sp>
      <p:graphicFrame>
        <p:nvGraphicFramePr>
          <p:cNvPr id="116" name="Infrastructure"/>
          <p:cNvGraphicFramePr>
            <a:graphicFrameLocks noGrp="1"/>
          </p:cNvGraphicFramePr>
          <p:nvPr>
            <p:extLst>
              <p:ext uri="{D42A27DB-BD31-4B8C-83A1-F6EECF244321}">
                <p14:modId xmlns:p14="http://schemas.microsoft.com/office/powerpoint/2010/main" val="1579011935"/>
              </p:ext>
            </p:extLst>
          </p:nvPr>
        </p:nvGraphicFramePr>
        <p:xfrm>
          <a:off x="1501394" y="1928707"/>
          <a:ext cx="9186672" cy="745067"/>
        </p:xfrm>
        <a:graphic>
          <a:graphicData uri="http://schemas.openxmlformats.org/drawingml/2006/table">
            <a:tbl>
              <a:tblPr/>
              <a:tblGrid>
                <a:gridCol w="2458720"/>
                <a:gridCol w="6727952"/>
              </a:tblGrid>
              <a:tr h="0">
                <a:tc>
                  <a:txBody>
                    <a:bodyPr/>
                    <a:lstStyle/>
                    <a:p>
                      <a:pPr indent="0" marL="0">
                        <a:buNone/>
                      </a:pPr>
                      <a:r>
                        <a:rPr lang="en-US" sz="896" b="1" dirty="0">
                          <a:solidFill>
                            <a:srgbClr val="FFFFFF"/>
                          </a:solidFill>
                        </a:rPr>
                        <a:t>Feature</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896" b="1" dirty="0">
                          <a:solidFill>
                            <a:srgbClr val="FFFFFF"/>
                          </a:solidFill>
                        </a:rPr>
                        <a:t>What is needed</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r>
              <a:tr h="0">
                <a:tc>
                  <a:txBody>
                    <a:bodyPr/>
                    <a:lstStyle/>
                    <a:p>
                      <a:pPr indent="0" marL="0">
                        <a:buNone/>
                      </a:pPr>
                      <a:r>
                        <a:rPr lang="en-US" sz="896" dirty="0">
                          <a:solidFill>
                            <a:srgbClr val="1F2937"/>
                          </a:solidFill>
                        </a:rPr>
                        <a:t>Voice calls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896" dirty="0">
                          <a:solidFill>
                            <a:srgbClr val="1F2937"/>
                          </a:solidFill>
                        </a:rPr>
                        <a:t>A STUN/TURN relay server (e.g. coturn, open source) on a BGB server that all BIRDS users can reach, with UDP/TCP 3478 and TLS 5349 open between clients and that server; network bandwidth…</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0">
                <a:tc>
                  <a:txBody>
                    <a:bodyPr/>
                    <a:lstStyle/>
                    <a:p>
                      <a:pPr indent="0" marL="0">
                        <a:buNone/>
                      </a:pPr>
                      <a:r>
                        <a:rPr lang="en-US" sz="896" dirty="0">
                          <a:solidFill>
                            <a:srgbClr val="1F2937"/>
                          </a:solidFill>
                        </a:rPr>
                        <a:t>Push notifications and ringing call notifications while BIRDS is closed</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896" dirty="0">
                          <a:solidFill>
                            <a:srgbClr val="1F2937"/>
                          </a:solidFill>
                        </a:rPr>
                        <a:t>Outbound HTTPS (port 443) from the BIRDS application server to the browser push services (Google, Mozilla, Apple), and internet/data connectivity on the receiving phones or computers.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0">
                <a:tc>
                  <a:txBody>
                    <a:bodyPr/>
                    <a:lstStyle/>
                    <a:p>
                      <a:pPr indent="0" marL="0">
                        <a:buNone/>
                      </a:pPr>
                      <a:r>
                        <a:rPr lang="en-US" sz="896" dirty="0">
                          <a:solidFill>
                            <a:srgbClr val="1F2937"/>
                          </a:solidFill>
                        </a:rPr>
                        <a:t>Use on phones and tablets in the field (PWA, messaging, calls, push)</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896" dirty="0">
                          <a:solidFill>
                            <a:srgbClr val="1F2937"/>
                          </a:solidFill>
                        </a:rPr>
                        <a:t>Secure mobile access from authorised devices to the BIRDS server (for example VPN or a private mobile network/APN), and BGB-authorised phones/tablets with a current browser (Android…</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0">
                <a:tc>
                  <a:txBody>
                    <a:bodyPr/>
                    <a:lstStyle/>
                    <a:p>
                      <a:pPr indent="0" marL="0">
                        <a:buNone/>
                      </a:pPr>
                      <a:r>
                        <a:rPr lang="en-US" sz="896" dirty="0">
                          <a:solidFill>
                            <a:srgbClr val="1F2937"/>
                          </a:solidFill>
                        </a:rPr>
                        <a:t>Progressive web app installation</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896" dirty="0">
                          <a:solidFill>
                            <a:srgbClr val="1F2937"/>
                          </a:solidFill>
                        </a:rPr>
                        <a:t>An HTTPS certificate trusted by the devices: a public certificate, or BGB's internal certificate authority installed on every device (browsers install a PWA only from a trusted HTTPS…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0">
                <a:tc>
                  <a:txBody>
                    <a:bodyPr/>
                    <a:lstStyle/>
                    <a:p>
                      <a:pPr indent="0" marL="0">
                        <a:buNone/>
                      </a:pPr>
                      <a:r>
                        <a:rPr lang="en-US" sz="896" dirty="0">
                          <a:solidFill>
                            <a:srgbClr val="1F2937"/>
                          </a:solidFill>
                        </a:rPr>
                        <a:t>Voice messages and group photos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896" dirty="0">
                          <a:solidFill>
                            <a:srgbClr val="1F2937"/>
                          </a:solidFill>
                        </a:rPr>
                        <a:t>Additional capacity on the central file storage and its backups, sized at deployment from the expected number of users and messages.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0">
                <a:tc>
                  <a:txBody>
                    <a:bodyPr/>
                    <a:lstStyle/>
                    <a:p>
                      <a:pPr indent="0" marL="0">
                        <a:buNone/>
                      </a:pPr>
                      <a:r>
                        <a:rPr lang="en-US" sz="896" dirty="0">
                          <a:solidFill>
                            <a:srgbClr val="1F2937"/>
                          </a:solidFill>
                        </a:rPr>
                        <a:t>Realtime messaging and calls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896" dirty="0">
                          <a:solidFill>
                            <a:srgbClr val="1F2937"/>
                          </a:solidFill>
                        </a:rPr>
                        <a:t>WebSocket connections allowed through BGB's reverse proxy and firewall to the BIRDS address (configuration only; the supplier provides the settings).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0">
                <a:tc>
                  <a:txBody>
                    <a:bodyPr/>
                    <a:lstStyle/>
                    <a:p>
                      <a:pPr indent="0" marL="0">
                        <a:buNone/>
                      </a:pPr>
                      <a:r>
                        <a:rPr lang="en-US" sz="896" dirty="0">
                          <a:solidFill>
                            <a:srgbClr val="1F2937"/>
                          </a:solidFill>
                        </a:rPr>
                        <a:t>E-mail notifications</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896" dirty="0">
                          <a:solidFill>
                            <a:srgbClr val="1F2937"/>
                          </a:solidFill>
                        </a:rPr>
                        <a:t>An SMTP relay or mail account on BGB's mail system that BIRDS may send from (e-mail is one of the notification channels described under item 23; item 23 is met by the in-app…</a:t>
                      </a:r>
                      <a:endParaRPr lang="en-US" sz="896"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txBox="1"/>
          <p:nvPr/>
        </p:nvSpPr>
        <p:spPr>
          <a:xfrm>
            <a:off x="1650407" y="2003213"/>
            <a:ext cx="2235200" cy="894080"/>
          </a:xfrm>
          <a:prstGeom prst="rect">
            <a:avLst/>
          </a:prstGeom>
          <a:noFill/>
          <a:ln/>
        </p:spPr>
        <p:txBody>
          <a:bodyPr wrap="square" lIns="0" tIns="0" rIns="0" bIns="0" rtlCol="0" anchor="ctr"/>
          <a:lstStyle/>
          <a:p>
            <a:pPr indent="0" marL="0">
              <a:buNone/>
            </a:pPr>
            <a:r>
              <a:rPr lang="en-US" sz="5867" b="1" dirty="0">
                <a:solidFill>
                  <a:srgbClr val="A7C4A6"/>
                </a:solidFill>
                <a:latin typeface="Cambria" pitchFamily="34" charset="0"/>
                <a:ea typeface="Cambria" pitchFamily="34" charset="-122"/>
                <a:cs typeface="Cambria" pitchFamily="34" charset="-120"/>
              </a:rPr>
              <a:t>13</a:t>
            </a:r>
            <a:endParaRPr lang="en-US" sz="5867" dirty="0"/>
          </a:p>
        </p:txBody>
      </p:sp>
      <p:sp>
        <p:nvSpPr>
          <p:cNvPr id="3" name="Title"/>
          <p:cNvSpPr txBox="1"/>
          <p:nvPr/>
        </p:nvSpPr>
        <p:spPr>
          <a:xfrm>
            <a:off x="1650407" y="2934547"/>
            <a:ext cx="8791787" cy="745067"/>
          </a:xfrm>
          <a:prstGeom prst="rect">
            <a:avLst/>
          </a:prstGeom>
          <a:noFill/>
          <a:ln/>
        </p:spPr>
        <p:txBody>
          <a:bodyPr wrap="square" lIns="0" tIns="0" rIns="0" bIns="0" rtlCol="0" anchor="ctr">
            <a:normAutofit/>
          </a:bodyPr>
          <a:lstStyle/>
          <a:p>
            <a:pPr indent="0" marL="0">
              <a:buNone/>
            </a:pPr>
            <a:r>
              <a:rPr lang="en-US" sz="3259" b="1" dirty="0">
                <a:solidFill>
                  <a:srgbClr val="FFFFFF"/>
                </a:solidFill>
                <a:latin typeface="Cambria" pitchFamily="34" charset="0"/>
                <a:ea typeface="Cambria" pitchFamily="34" charset="-122"/>
                <a:cs typeface="Cambria" pitchFamily="34" charset="-120"/>
              </a:rPr>
              <a:t>Delivery, training and support</a:t>
            </a:r>
            <a:endParaRPr lang="en-US" sz="3259" dirty="0"/>
          </a:p>
        </p:txBody>
      </p:sp>
      <p:sp>
        <p:nvSpPr>
          <p:cNvPr id="4" name="Text 2"/>
          <p:cNvSpPr txBox="1"/>
          <p:nvPr/>
        </p:nvSpPr>
        <p:spPr>
          <a:xfrm>
            <a:off x="1650407" y="3754120"/>
            <a:ext cx="8568267" cy="372533"/>
          </a:xfrm>
          <a:prstGeom prst="rect">
            <a:avLst/>
          </a:prstGeom>
          <a:noFill/>
          <a:ln/>
        </p:spPr>
        <p:txBody>
          <a:bodyPr wrap="square" lIns="0" tIns="0" rIns="0" bIns="0" rtlCol="0" anchor="ctr"/>
          <a:lstStyle/>
          <a:p>
            <a:pPr indent="0" marL="0">
              <a:buNone/>
            </a:pPr>
            <a:r>
              <a:rPr lang="en-US" sz="1467" dirty="0">
                <a:solidFill>
                  <a:srgbClr val="D6E4D5"/>
                </a:solidFill>
              </a:rPr>
              <a:t>Items 32–40, 48–57</a:t>
            </a:r>
            <a:endParaRPr lang="en-US" sz="1467"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Delivered during implementation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Items committed as "Comply" that are completed on BGB infrastructure; Annex A says so for each</a:t>
            </a:r>
            <a:endParaRPr lang="en-US" sz="1141" dirty="0"/>
          </a:p>
        </p:txBody>
      </p:sp>
      <p:graphicFrame>
        <p:nvGraphicFramePr>
          <p:cNvPr id="118" name="Implementation items"/>
          <p:cNvGraphicFramePr>
            <a:graphicFrameLocks noGrp="1"/>
          </p:cNvGraphicFramePr>
          <p:nvPr>
            <p:extLst>
              <p:ext uri="{D42A27DB-BD31-4B8C-83A1-F6EECF244321}">
                <p14:modId xmlns:p14="http://schemas.microsoft.com/office/powerpoint/2010/main" val="1579011935"/>
              </p:ext>
            </p:extLst>
          </p:nvPr>
        </p:nvGraphicFramePr>
        <p:xfrm>
          <a:off x="1501394" y="1965960"/>
          <a:ext cx="9186672" cy="745067"/>
        </p:xfrm>
        <a:graphic>
          <a:graphicData uri="http://schemas.openxmlformats.org/drawingml/2006/table">
            <a:tbl>
              <a:tblPr/>
              <a:tblGrid>
                <a:gridCol w="1788160"/>
                <a:gridCol w="7398512"/>
              </a:tblGrid>
              <a:tr h="417237">
                <a:tc>
                  <a:txBody>
                    <a:bodyPr/>
                    <a:lstStyle/>
                    <a:p>
                      <a:pPr indent="0" marL="0">
                        <a:buNone/>
                      </a:pPr>
                      <a:r>
                        <a:rPr lang="en-US" sz="1141" b="1" dirty="0">
                          <a:solidFill>
                            <a:srgbClr val="FFFFFF"/>
                          </a:solidFill>
                        </a:rPr>
                        <a:t>Items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141" b="1" dirty="0">
                          <a:solidFill>
                            <a:srgbClr val="FFFFFF"/>
                          </a:solidFill>
                        </a:rPr>
                        <a:t>Delivered</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r>
              <a:tr h="417237">
                <a:tc>
                  <a:txBody>
                    <a:bodyPr/>
                    <a:lstStyle/>
                    <a:p>
                      <a:pPr indent="0" marL="0">
                        <a:buNone/>
                      </a:pPr>
                      <a:r>
                        <a:rPr lang="en-US" sz="1141" b="1" dirty="0">
                          <a:solidFill>
                            <a:srgbClr val="164716"/>
                          </a:solidFill>
                        </a:rPr>
                        <a:t>#32</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AD/LDAP sign-in, with BGB directory details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417237">
                <a:tc>
                  <a:txBody>
                    <a:bodyPr/>
                    <a:lstStyle/>
                    <a:p>
                      <a:pPr indent="0" marL="0">
                        <a:buNone/>
                      </a:pPr>
                      <a:r>
                        <a:rPr lang="en-US" sz="1141" b="1" dirty="0">
                          <a:solidFill>
                            <a:srgbClr val="164716"/>
                          </a:solidFill>
                        </a:rPr>
                        <a:t>#34, #35, #36</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Automated encrypted backup, DR site replication, high availability</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417237">
                <a:tc>
                  <a:txBody>
                    <a:bodyPr/>
                    <a:lstStyle/>
                    <a:p>
                      <a:pPr indent="0" marL="0">
                        <a:buNone/>
                      </a:pPr>
                      <a:r>
                        <a:rPr lang="en-US" sz="1141" b="1" dirty="0">
                          <a:solidFill>
                            <a:srgbClr val="164716"/>
                          </a:solidFill>
                        </a:rPr>
                        <a:t>#38, #39, #40</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Sized for 500 users with reserve; load test at 100/250/500 users, &lt; 3 s response, 99.5 % availability</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417237">
                <a:tc>
                  <a:txBody>
                    <a:bodyPr/>
                    <a:lstStyle/>
                    <a:p>
                      <a:pPr indent="0" marL="0">
                        <a:buNone/>
                      </a:pPr>
                      <a:r>
                        <a:rPr lang="en-US" sz="1141" b="1" dirty="0">
                          <a:solidFill>
                            <a:srgbClr val="164716"/>
                          </a:solidFill>
                        </a:rPr>
                        <a:t>#48</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Log retention, rotation and monitoring view</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417237">
                <a:tc>
                  <a:txBody>
                    <a:bodyPr/>
                    <a:lstStyle/>
                    <a:p>
                      <a:pPr indent="0" marL="0">
                        <a:buNone/>
                      </a:pPr>
                      <a:r>
                        <a:rPr lang="en-US" sz="1141" b="1" dirty="0">
                          <a:solidFill>
                            <a:srgbClr val="164716"/>
                          </a:solidFill>
                        </a:rPr>
                        <a:t>#50</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OWASP Top 10 assessment and vulnerability scan report</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417237">
                <a:tc>
                  <a:txBody>
                    <a:bodyPr/>
                    <a:lstStyle/>
                    <a:p>
                      <a:pPr indent="0" marL="0">
                        <a:buNone/>
                      </a:pPr>
                      <a:r>
                        <a:rPr lang="en-US" sz="1141" b="1" dirty="0">
                          <a:solidFill>
                            <a:srgbClr val="164716"/>
                          </a:solidFill>
                        </a:rPr>
                        <a:t>#52, #53</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User, administrator, installation, database and backup manuals; training</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417237">
                <a:tc>
                  <a:txBody>
                    <a:bodyPr/>
                    <a:lstStyle/>
                    <a:p>
                      <a:pPr indent="0" marL="0">
                        <a:buNone/>
                      </a:pPr>
                      <a:r>
                        <a:rPr lang="en-US" sz="1141" b="1" dirty="0">
                          <a:solidFill>
                            <a:srgbClr val="164716"/>
                          </a:solidFill>
                        </a:rPr>
                        <a:t>#56, #57</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Deployment and commissioning; UAT with approved test cases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Work plan: ten weeks to go-live</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Technical Proposal, section 11</a:t>
            </a:r>
            <a:endParaRPr lang="en-US" sz="1141" dirty="0"/>
          </a:p>
        </p:txBody>
      </p:sp>
      <p:sp>
        <p:nvSpPr>
          <p:cNvPr id="4" name="Text 2"/>
          <p:cNvSpPr txBox="1"/>
          <p:nvPr/>
        </p:nvSpPr>
        <p:spPr>
          <a:xfrm>
            <a:off x="4928701"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1</a:t>
            </a:r>
            <a:endParaRPr lang="en-US" sz="896" dirty="0"/>
          </a:p>
        </p:txBody>
      </p:sp>
      <p:sp>
        <p:nvSpPr>
          <p:cNvPr id="5" name="Text 3"/>
          <p:cNvSpPr txBox="1"/>
          <p:nvPr/>
        </p:nvSpPr>
        <p:spPr>
          <a:xfrm>
            <a:off x="5502402"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2</a:t>
            </a:r>
            <a:endParaRPr lang="en-US" sz="896" dirty="0"/>
          </a:p>
        </p:txBody>
      </p:sp>
      <p:sp>
        <p:nvSpPr>
          <p:cNvPr id="6" name="Text 4"/>
          <p:cNvSpPr txBox="1"/>
          <p:nvPr/>
        </p:nvSpPr>
        <p:spPr>
          <a:xfrm>
            <a:off x="6076103"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3</a:t>
            </a:r>
            <a:endParaRPr lang="en-US" sz="896" dirty="0"/>
          </a:p>
        </p:txBody>
      </p:sp>
      <p:sp>
        <p:nvSpPr>
          <p:cNvPr id="7" name="Text 5"/>
          <p:cNvSpPr txBox="1"/>
          <p:nvPr/>
        </p:nvSpPr>
        <p:spPr>
          <a:xfrm>
            <a:off x="6649805"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4</a:t>
            </a:r>
            <a:endParaRPr lang="en-US" sz="896" dirty="0"/>
          </a:p>
        </p:txBody>
      </p:sp>
      <p:sp>
        <p:nvSpPr>
          <p:cNvPr id="8" name="Text 6"/>
          <p:cNvSpPr txBox="1"/>
          <p:nvPr/>
        </p:nvSpPr>
        <p:spPr>
          <a:xfrm>
            <a:off x="7223506"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5</a:t>
            </a:r>
            <a:endParaRPr lang="en-US" sz="896" dirty="0"/>
          </a:p>
        </p:txBody>
      </p:sp>
      <p:sp>
        <p:nvSpPr>
          <p:cNvPr id="9" name="Text 7"/>
          <p:cNvSpPr txBox="1"/>
          <p:nvPr/>
        </p:nvSpPr>
        <p:spPr>
          <a:xfrm>
            <a:off x="7797207"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6</a:t>
            </a:r>
            <a:endParaRPr lang="en-US" sz="896" dirty="0"/>
          </a:p>
        </p:txBody>
      </p:sp>
      <p:sp>
        <p:nvSpPr>
          <p:cNvPr id="10" name="Text 8"/>
          <p:cNvSpPr txBox="1"/>
          <p:nvPr/>
        </p:nvSpPr>
        <p:spPr>
          <a:xfrm>
            <a:off x="8370909"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7</a:t>
            </a:r>
            <a:endParaRPr lang="en-US" sz="896" dirty="0"/>
          </a:p>
        </p:txBody>
      </p:sp>
      <p:sp>
        <p:nvSpPr>
          <p:cNvPr id="11" name="Text 9"/>
          <p:cNvSpPr txBox="1"/>
          <p:nvPr/>
        </p:nvSpPr>
        <p:spPr>
          <a:xfrm>
            <a:off x="8944610"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8</a:t>
            </a:r>
            <a:endParaRPr lang="en-US" sz="896" dirty="0"/>
          </a:p>
        </p:txBody>
      </p:sp>
      <p:sp>
        <p:nvSpPr>
          <p:cNvPr id="12" name="Text 10"/>
          <p:cNvSpPr txBox="1"/>
          <p:nvPr/>
        </p:nvSpPr>
        <p:spPr>
          <a:xfrm>
            <a:off x="9518311"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9</a:t>
            </a:r>
            <a:endParaRPr lang="en-US" sz="896" dirty="0"/>
          </a:p>
        </p:txBody>
      </p:sp>
      <p:sp>
        <p:nvSpPr>
          <p:cNvPr id="13" name="Text 11"/>
          <p:cNvSpPr txBox="1"/>
          <p:nvPr/>
        </p:nvSpPr>
        <p:spPr>
          <a:xfrm>
            <a:off x="10092013" y="1891453"/>
            <a:ext cx="573701" cy="223520"/>
          </a:xfrm>
          <a:prstGeom prst="rect">
            <a:avLst/>
          </a:prstGeom>
          <a:noFill/>
          <a:ln/>
        </p:spPr>
        <p:txBody>
          <a:bodyPr wrap="square" lIns="0" tIns="0" rIns="0" bIns="0" rtlCol="0" anchor="ctr"/>
          <a:lstStyle/>
          <a:p>
            <a:pPr algn="ctr" indent="0" marL="0">
              <a:buNone/>
            </a:pPr>
            <a:r>
              <a:rPr lang="en-US" sz="896" dirty="0">
                <a:solidFill>
                  <a:srgbClr val="5B6472"/>
                </a:solidFill>
              </a:rPr>
              <a:t>10</a:t>
            </a:r>
            <a:endParaRPr lang="en-US" sz="896" dirty="0"/>
          </a:p>
        </p:txBody>
      </p:sp>
      <p:sp>
        <p:nvSpPr>
          <p:cNvPr id="14" name="Text 12"/>
          <p:cNvSpPr txBox="1"/>
          <p:nvPr/>
        </p:nvSpPr>
        <p:spPr>
          <a:xfrm>
            <a:off x="1501394" y="2189480"/>
            <a:ext cx="3352800" cy="312928"/>
          </a:xfrm>
          <a:prstGeom prst="rect">
            <a:avLst/>
          </a:prstGeom>
          <a:noFill/>
          <a:ln/>
        </p:spPr>
        <p:txBody>
          <a:bodyPr wrap="square" lIns="0" tIns="0" rIns="0" bIns="0" rtlCol="0" anchor="ctr"/>
          <a:lstStyle/>
          <a:p>
            <a:pPr indent="0" marL="0">
              <a:buNone/>
            </a:pPr>
            <a:r>
              <a:rPr lang="en-US" sz="1059" dirty="0">
                <a:solidFill>
                  <a:srgbClr val="1F2937"/>
                </a:solidFill>
              </a:rPr>
              <a:t>1. Mobilisation and requirement confirmation</a:t>
            </a:r>
            <a:endParaRPr lang="en-US" sz="1059" dirty="0"/>
          </a:p>
        </p:txBody>
      </p:sp>
      <p:sp>
        <p:nvSpPr>
          <p:cNvPr id="15" name="Phase 1"/>
          <p:cNvSpPr/>
          <p:nvPr/>
        </p:nvSpPr>
        <p:spPr>
          <a:xfrm>
            <a:off x="4958503" y="2234184"/>
            <a:ext cx="1087797" cy="238421"/>
          </a:xfrm>
          <a:prstGeom prst="roundRect">
            <a:avLst>
              <a:gd name="adj" fmla="val 15625"/>
            </a:avLst>
          </a:prstGeom>
          <a:solidFill>
            <a:srgbClr val="164716"/>
          </a:solidFill>
          <a:ln w="10348">
            <a:solidFill>
              <a:srgbClr val="164716"/>
            </a:solidFill>
            <a:prstDash val="solid"/>
          </a:ln>
        </p:spPr>
      </p:sp>
      <p:sp>
        <p:nvSpPr>
          <p:cNvPr id="16" name="Text 14"/>
          <p:cNvSpPr txBox="1"/>
          <p:nvPr/>
        </p:nvSpPr>
        <p:spPr>
          <a:xfrm>
            <a:off x="1501394" y="2576915"/>
            <a:ext cx="3352800" cy="312928"/>
          </a:xfrm>
          <a:prstGeom prst="rect">
            <a:avLst/>
          </a:prstGeom>
          <a:noFill/>
          <a:ln/>
        </p:spPr>
        <p:txBody>
          <a:bodyPr wrap="square" lIns="0" tIns="0" rIns="0" bIns="0" rtlCol="0" anchor="ctr"/>
          <a:lstStyle/>
          <a:p>
            <a:pPr indent="0" marL="0">
              <a:buNone/>
            </a:pPr>
            <a:r>
              <a:rPr lang="en-US" sz="1059" dirty="0">
                <a:solidFill>
                  <a:srgbClr val="1F2937"/>
                </a:solidFill>
              </a:rPr>
              <a:t>2. Configuration and customisation</a:t>
            </a:r>
            <a:endParaRPr lang="en-US" sz="1059" dirty="0"/>
          </a:p>
        </p:txBody>
      </p:sp>
      <p:sp>
        <p:nvSpPr>
          <p:cNvPr id="17" name="Phase 2"/>
          <p:cNvSpPr/>
          <p:nvPr/>
        </p:nvSpPr>
        <p:spPr>
          <a:xfrm>
            <a:off x="5532205" y="2621619"/>
            <a:ext cx="2235200" cy="238421"/>
          </a:xfrm>
          <a:prstGeom prst="roundRect">
            <a:avLst>
              <a:gd name="adj" fmla="val 15625"/>
            </a:avLst>
          </a:prstGeom>
          <a:solidFill>
            <a:srgbClr val="164716"/>
          </a:solidFill>
          <a:ln w="10348">
            <a:solidFill>
              <a:srgbClr val="164716"/>
            </a:solidFill>
            <a:prstDash val="solid"/>
          </a:ln>
        </p:spPr>
      </p:sp>
      <p:sp>
        <p:nvSpPr>
          <p:cNvPr id="18" name="Text 16"/>
          <p:cNvSpPr txBox="1"/>
          <p:nvPr/>
        </p:nvSpPr>
        <p:spPr>
          <a:xfrm>
            <a:off x="1501394" y="2964349"/>
            <a:ext cx="3352800" cy="312928"/>
          </a:xfrm>
          <a:prstGeom prst="rect">
            <a:avLst/>
          </a:prstGeom>
          <a:noFill/>
          <a:ln/>
        </p:spPr>
        <p:txBody>
          <a:bodyPr wrap="square" lIns="0" tIns="0" rIns="0" bIns="0" rtlCol="0" anchor="ctr"/>
          <a:lstStyle/>
          <a:p>
            <a:pPr indent="0" marL="0">
              <a:buNone/>
            </a:pPr>
            <a:r>
              <a:rPr lang="en-US" sz="1059" dirty="0">
                <a:solidFill>
                  <a:srgbClr val="1F2937"/>
                </a:solidFill>
              </a:rPr>
              <a:t>3. Infrastructure and installation (main and DR)</a:t>
            </a:r>
            <a:endParaRPr lang="en-US" sz="1059" dirty="0"/>
          </a:p>
        </p:txBody>
      </p:sp>
      <p:sp>
        <p:nvSpPr>
          <p:cNvPr id="19" name="Phase 3"/>
          <p:cNvSpPr/>
          <p:nvPr/>
        </p:nvSpPr>
        <p:spPr>
          <a:xfrm>
            <a:off x="6679607" y="3009053"/>
            <a:ext cx="1661499" cy="238421"/>
          </a:xfrm>
          <a:prstGeom prst="roundRect">
            <a:avLst>
              <a:gd name="adj" fmla="val 15625"/>
            </a:avLst>
          </a:prstGeom>
          <a:solidFill>
            <a:srgbClr val="164716"/>
          </a:solidFill>
          <a:ln w="10348">
            <a:solidFill>
              <a:srgbClr val="164716"/>
            </a:solidFill>
            <a:prstDash val="solid"/>
          </a:ln>
        </p:spPr>
      </p:sp>
      <p:sp>
        <p:nvSpPr>
          <p:cNvPr id="20" name="Text 18"/>
          <p:cNvSpPr txBox="1"/>
          <p:nvPr/>
        </p:nvSpPr>
        <p:spPr>
          <a:xfrm>
            <a:off x="1501394" y="3351784"/>
            <a:ext cx="3352800" cy="312928"/>
          </a:xfrm>
          <a:prstGeom prst="rect">
            <a:avLst/>
          </a:prstGeom>
          <a:noFill/>
          <a:ln/>
        </p:spPr>
        <p:txBody>
          <a:bodyPr wrap="square" lIns="0" tIns="0" rIns="0" bIns="0" rtlCol="0" anchor="ctr"/>
          <a:lstStyle/>
          <a:p>
            <a:pPr indent="0" marL="0">
              <a:buNone/>
            </a:pPr>
            <a:r>
              <a:rPr lang="en-US" sz="1059" dirty="0">
                <a:solidFill>
                  <a:srgbClr val="1F2937"/>
                </a:solidFill>
              </a:rPr>
              <a:t>4. Integration: directory, SMTP, antivirus, map tiles</a:t>
            </a:r>
            <a:endParaRPr lang="en-US" sz="1059" dirty="0"/>
          </a:p>
        </p:txBody>
      </p:sp>
      <p:sp>
        <p:nvSpPr>
          <p:cNvPr id="21" name="Phase 4"/>
          <p:cNvSpPr/>
          <p:nvPr/>
        </p:nvSpPr>
        <p:spPr>
          <a:xfrm>
            <a:off x="7253309" y="3396488"/>
            <a:ext cx="1087797" cy="238421"/>
          </a:xfrm>
          <a:prstGeom prst="roundRect">
            <a:avLst>
              <a:gd name="adj" fmla="val 15625"/>
            </a:avLst>
          </a:prstGeom>
          <a:solidFill>
            <a:srgbClr val="164716"/>
          </a:solidFill>
          <a:ln w="10348">
            <a:solidFill>
              <a:srgbClr val="164716"/>
            </a:solidFill>
            <a:prstDash val="solid"/>
          </a:ln>
        </p:spPr>
      </p:sp>
      <p:sp>
        <p:nvSpPr>
          <p:cNvPr id="22" name="Text 20"/>
          <p:cNvSpPr txBox="1"/>
          <p:nvPr/>
        </p:nvSpPr>
        <p:spPr>
          <a:xfrm>
            <a:off x="1501394" y="3739219"/>
            <a:ext cx="3352800" cy="312928"/>
          </a:xfrm>
          <a:prstGeom prst="rect">
            <a:avLst/>
          </a:prstGeom>
          <a:noFill/>
          <a:ln/>
        </p:spPr>
        <p:txBody>
          <a:bodyPr wrap="square" lIns="0" tIns="0" rIns="0" bIns="0" rtlCol="0" anchor="ctr"/>
          <a:lstStyle/>
          <a:p>
            <a:pPr indent="0" marL="0">
              <a:buNone/>
            </a:pPr>
            <a:r>
              <a:rPr lang="en-US" sz="1059" dirty="0">
                <a:solidFill>
                  <a:srgbClr val="1F2937"/>
                </a:solidFill>
              </a:rPr>
              <a:t>5. Data migration (if applicable)</a:t>
            </a:r>
            <a:endParaRPr lang="en-US" sz="1059" dirty="0"/>
          </a:p>
        </p:txBody>
      </p:sp>
      <p:sp>
        <p:nvSpPr>
          <p:cNvPr id="23" name="Phase 5"/>
          <p:cNvSpPr/>
          <p:nvPr/>
        </p:nvSpPr>
        <p:spPr>
          <a:xfrm>
            <a:off x="7253309" y="3783923"/>
            <a:ext cx="1661499" cy="238421"/>
          </a:xfrm>
          <a:prstGeom prst="roundRect">
            <a:avLst>
              <a:gd name="adj" fmla="val 15625"/>
            </a:avLst>
          </a:prstGeom>
          <a:solidFill>
            <a:srgbClr val="164716"/>
          </a:solidFill>
          <a:ln w="10348">
            <a:solidFill>
              <a:srgbClr val="164716"/>
            </a:solidFill>
            <a:prstDash val="solid"/>
          </a:ln>
        </p:spPr>
      </p:sp>
      <p:sp>
        <p:nvSpPr>
          <p:cNvPr id="24" name="Text 22"/>
          <p:cNvSpPr txBox="1"/>
          <p:nvPr/>
        </p:nvSpPr>
        <p:spPr>
          <a:xfrm>
            <a:off x="1501394" y="4126653"/>
            <a:ext cx="3352800" cy="312928"/>
          </a:xfrm>
          <a:prstGeom prst="rect">
            <a:avLst/>
          </a:prstGeom>
          <a:noFill/>
          <a:ln/>
        </p:spPr>
        <p:txBody>
          <a:bodyPr wrap="square" lIns="0" tIns="0" rIns="0" bIns="0" rtlCol="0" anchor="ctr"/>
          <a:lstStyle/>
          <a:p>
            <a:pPr indent="0" marL="0">
              <a:buNone/>
            </a:pPr>
            <a:r>
              <a:rPr lang="en-US" sz="1059" dirty="0">
                <a:solidFill>
                  <a:srgbClr val="1F2937"/>
                </a:solidFill>
              </a:rPr>
              <a:t>6. Testing: security, load, backup/restore, DR</a:t>
            </a:r>
            <a:endParaRPr lang="en-US" sz="1059" dirty="0"/>
          </a:p>
        </p:txBody>
      </p:sp>
      <p:sp>
        <p:nvSpPr>
          <p:cNvPr id="25" name="Phase 6"/>
          <p:cNvSpPr/>
          <p:nvPr/>
        </p:nvSpPr>
        <p:spPr>
          <a:xfrm>
            <a:off x="7827010" y="4171357"/>
            <a:ext cx="1661499" cy="238421"/>
          </a:xfrm>
          <a:prstGeom prst="roundRect">
            <a:avLst>
              <a:gd name="adj" fmla="val 15625"/>
            </a:avLst>
          </a:prstGeom>
          <a:solidFill>
            <a:srgbClr val="164716"/>
          </a:solidFill>
          <a:ln w="10348">
            <a:solidFill>
              <a:srgbClr val="164716"/>
            </a:solidFill>
            <a:prstDash val="solid"/>
          </a:ln>
        </p:spPr>
      </p:sp>
      <p:sp>
        <p:nvSpPr>
          <p:cNvPr id="26" name="Text 24"/>
          <p:cNvSpPr txBox="1"/>
          <p:nvPr/>
        </p:nvSpPr>
        <p:spPr>
          <a:xfrm>
            <a:off x="1501394" y="4514088"/>
            <a:ext cx="3352800" cy="312928"/>
          </a:xfrm>
          <a:prstGeom prst="rect">
            <a:avLst/>
          </a:prstGeom>
          <a:noFill/>
          <a:ln/>
        </p:spPr>
        <p:txBody>
          <a:bodyPr wrap="square" lIns="0" tIns="0" rIns="0" bIns="0" rtlCol="0" anchor="ctr"/>
          <a:lstStyle/>
          <a:p>
            <a:pPr indent="0" marL="0">
              <a:buNone/>
            </a:pPr>
            <a:r>
              <a:rPr lang="en-US" sz="1059" dirty="0">
                <a:solidFill>
                  <a:srgbClr val="1F2937"/>
                </a:solidFill>
              </a:rPr>
              <a:t>7. User acceptance test</a:t>
            </a:r>
            <a:endParaRPr lang="en-US" sz="1059" dirty="0"/>
          </a:p>
        </p:txBody>
      </p:sp>
      <p:sp>
        <p:nvSpPr>
          <p:cNvPr id="27" name="Phase 7"/>
          <p:cNvSpPr/>
          <p:nvPr/>
        </p:nvSpPr>
        <p:spPr>
          <a:xfrm>
            <a:off x="8974413" y="4558792"/>
            <a:ext cx="1087797" cy="238421"/>
          </a:xfrm>
          <a:prstGeom prst="roundRect">
            <a:avLst>
              <a:gd name="adj" fmla="val 15625"/>
            </a:avLst>
          </a:prstGeom>
          <a:solidFill>
            <a:srgbClr val="164716"/>
          </a:solidFill>
          <a:ln w="10348">
            <a:solidFill>
              <a:srgbClr val="164716"/>
            </a:solidFill>
            <a:prstDash val="solid"/>
          </a:ln>
        </p:spPr>
      </p:sp>
      <p:sp>
        <p:nvSpPr>
          <p:cNvPr id="28" name="Text 26"/>
          <p:cNvSpPr txBox="1"/>
          <p:nvPr/>
        </p:nvSpPr>
        <p:spPr>
          <a:xfrm>
            <a:off x="1501394" y="4901523"/>
            <a:ext cx="3352800" cy="312928"/>
          </a:xfrm>
          <a:prstGeom prst="rect">
            <a:avLst/>
          </a:prstGeom>
          <a:noFill/>
          <a:ln/>
        </p:spPr>
        <p:txBody>
          <a:bodyPr wrap="square" lIns="0" tIns="0" rIns="0" bIns="0" rtlCol="0" anchor="ctr"/>
          <a:lstStyle/>
          <a:p>
            <a:pPr indent="0" marL="0">
              <a:buNone/>
            </a:pPr>
            <a:r>
              <a:rPr lang="en-US" sz="1059" dirty="0">
                <a:solidFill>
                  <a:srgbClr val="1F2937"/>
                </a:solidFill>
              </a:rPr>
              <a:t>8. Training</a:t>
            </a:r>
            <a:endParaRPr lang="en-US" sz="1059" dirty="0"/>
          </a:p>
        </p:txBody>
      </p:sp>
      <p:sp>
        <p:nvSpPr>
          <p:cNvPr id="29" name="Phase 8"/>
          <p:cNvSpPr/>
          <p:nvPr/>
        </p:nvSpPr>
        <p:spPr>
          <a:xfrm>
            <a:off x="9548114" y="4946227"/>
            <a:ext cx="1087797" cy="238421"/>
          </a:xfrm>
          <a:prstGeom prst="roundRect">
            <a:avLst>
              <a:gd name="adj" fmla="val 15625"/>
            </a:avLst>
          </a:prstGeom>
          <a:solidFill>
            <a:srgbClr val="164716"/>
          </a:solidFill>
          <a:ln w="10348">
            <a:solidFill>
              <a:srgbClr val="164716"/>
            </a:solidFill>
            <a:prstDash val="solid"/>
          </a:ln>
        </p:spPr>
      </p:sp>
      <p:sp>
        <p:nvSpPr>
          <p:cNvPr id="30" name="Text 28"/>
          <p:cNvSpPr txBox="1"/>
          <p:nvPr/>
        </p:nvSpPr>
        <p:spPr>
          <a:xfrm>
            <a:off x="1501394" y="5288957"/>
            <a:ext cx="3352800" cy="312928"/>
          </a:xfrm>
          <a:prstGeom prst="rect">
            <a:avLst/>
          </a:prstGeom>
          <a:noFill/>
          <a:ln/>
        </p:spPr>
        <p:txBody>
          <a:bodyPr wrap="square" lIns="0" tIns="0" rIns="0" bIns="0" rtlCol="0" anchor="ctr"/>
          <a:lstStyle/>
          <a:p>
            <a:pPr indent="0" marL="0">
              <a:buNone/>
            </a:pPr>
            <a:r>
              <a:rPr lang="en-US" sz="1059" dirty="0">
                <a:solidFill>
                  <a:srgbClr val="1F2937"/>
                </a:solidFill>
              </a:rPr>
              <a:t>9. Go-live, commissioning, handover</a:t>
            </a:r>
            <a:endParaRPr lang="en-US" sz="1059" dirty="0"/>
          </a:p>
        </p:txBody>
      </p:sp>
      <p:sp>
        <p:nvSpPr>
          <p:cNvPr id="31" name="Phase 9"/>
          <p:cNvSpPr/>
          <p:nvPr/>
        </p:nvSpPr>
        <p:spPr>
          <a:xfrm>
            <a:off x="10121815" y="5333661"/>
            <a:ext cx="514096" cy="238421"/>
          </a:xfrm>
          <a:prstGeom prst="roundRect">
            <a:avLst>
              <a:gd name="adj" fmla="val 15625"/>
            </a:avLst>
          </a:prstGeom>
          <a:solidFill>
            <a:srgbClr val="4C8C4A"/>
          </a:solidFill>
          <a:ln w="10348">
            <a:solidFill>
              <a:srgbClr val="4C8C4A"/>
            </a:solidFill>
            <a:prstDash val="solid"/>
          </a:ln>
        </p:spPr>
      </p:sp>
      <p:sp>
        <p:nvSpPr>
          <p:cNvPr id="32" name="Text 30"/>
          <p:cNvSpPr txBox="1"/>
          <p:nvPr/>
        </p:nvSpPr>
        <p:spPr>
          <a:xfrm>
            <a:off x="4928701" y="5728547"/>
            <a:ext cx="5737013" cy="223520"/>
          </a:xfrm>
          <a:prstGeom prst="rect">
            <a:avLst/>
          </a:prstGeom>
          <a:noFill/>
          <a:ln/>
        </p:spPr>
        <p:txBody>
          <a:bodyPr wrap="square" lIns="0" tIns="0" rIns="0" bIns="0" rtlCol="0" anchor="ctr"/>
          <a:lstStyle/>
          <a:p>
            <a:pPr algn="ctr" indent="0" marL="0">
              <a:buNone/>
            </a:pPr>
            <a:r>
              <a:rPr lang="en-US" sz="896" dirty="0">
                <a:solidFill>
                  <a:srgbClr val="5B6472"/>
                </a:solidFill>
              </a:rPr>
              <a:t>Weeks</a:t>
            </a:r>
            <a:endParaRPr lang="en-US" sz="896"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Training and documentation</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Items 52, 53: hands-on training on the installed system; material in English and Bangla</a:t>
            </a:r>
            <a:endParaRPr lang="en-US" sz="1141" dirty="0"/>
          </a:p>
        </p:txBody>
      </p:sp>
      <p:sp>
        <p:nvSpPr>
          <p:cNvPr id="4" name="Course 1"/>
          <p:cNvSpPr/>
          <p:nvPr/>
        </p:nvSpPr>
        <p:spPr>
          <a:xfrm>
            <a:off x="1501394" y="2003213"/>
            <a:ext cx="2160693" cy="1266613"/>
          </a:xfrm>
          <a:prstGeom prst="roundRect">
            <a:avLst>
              <a:gd name="adj" fmla="val 5882"/>
            </a:avLst>
          </a:prstGeom>
          <a:solidFill>
            <a:srgbClr val="EEF4EE"/>
          </a:solidFill>
          <a:ln w="10348">
            <a:solidFill>
              <a:srgbClr val="EEF4EE"/>
            </a:solidFill>
            <a:prstDash val="solid"/>
          </a:ln>
        </p:spPr>
      </p:sp>
      <p:sp>
        <p:nvSpPr>
          <p:cNvPr id="5" name="Text 3"/>
          <p:cNvSpPr txBox="1"/>
          <p:nvPr/>
        </p:nvSpPr>
        <p:spPr>
          <a:xfrm>
            <a:off x="1650407" y="2092621"/>
            <a:ext cx="1862667" cy="1117600"/>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2 days</a:t>
            </a:r>
            <a:endParaRPr lang="en-US" sz="2444" dirty="0"/>
          </a:p>
          <a:p>
            <a:pPr indent="0" marL="0">
              <a:buNone/>
            </a:pPr>
            <a:r>
              <a:rPr lang="en-US" sz="1141" dirty="0">
                <a:solidFill>
                  <a:srgbClr val="1F2937"/>
                </a:solidFill>
              </a:rPr>
              <a:t>System administrators</a:t>
            </a:r>
            <a:endParaRPr lang="en-US" sz="2444" dirty="0"/>
          </a:p>
        </p:txBody>
      </p:sp>
      <p:sp>
        <p:nvSpPr>
          <p:cNvPr id="6" name="Course 2"/>
          <p:cNvSpPr/>
          <p:nvPr/>
        </p:nvSpPr>
        <p:spPr>
          <a:xfrm>
            <a:off x="3811101" y="2003213"/>
            <a:ext cx="2160693" cy="1266613"/>
          </a:xfrm>
          <a:prstGeom prst="roundRect">
            <a:avLst>
              <a:gd name="adj" fmla="val 5882"/>
            </a:avLst>
          </a:prstGeom>
          <a:solidFill>
            <a:srgbClr val="EEF4EE"/>
          </a:solidFill>
          <a:ln w="10348">
            <a:solidFill>
              <a:srgbClr val="EEF4EE"/>
            </a:solidFill>
            <a:prstDash val="solid"/>
          </a:ln>
        </p:spPr>
      </p:sp>
      <p:sp>
        <p:nvSpPr>
          <p:cNvPr id="7" name="Text 5"/>
          <p:cNvSpPr txBox="1"/>
          <p:nvPr/>
        </p:nvSpPr>
        <p:spPr>
          <a:xfrm>
            <a:off x="3960114" y="2092621"/>
            <a:ext cx="1862667" cy="1117600"/>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1 day</a:t>
            </a:r>
            <a:endParaRPr lang="en-US" sz="2444" dirty="0"/>
          </a:p>
          <a:p>
            <a:pPr indent="0" marL="0">
              <a:buNone/>
            </a:pPr>
            <a:r>
              <a:rPr lang="en-US" sz="1141" dirty="0">
                <a:solidFill>
                  <a:srgbClr val="1F2937"/>
                </a:solidFill>
              </a:rPr>
              <a:t>Operators (BOP / Battalion)</a:t>
            </a:r>
            <a:endParaRPr lang="en-US" sz="2444" dirty="0"/>
          </a:p>
        </p:txBody>
      </p:sp>
      <p:sp>
        <p:nvSpPr>
          <p:cNvPr id="8" name="Course 3"/>
          <p:cNvSpPr/>
          <p:nvPr/>
        </p:nvSpPr>
        <p:spPr>
          <a:xfrm>
            <a:off x="6120807" y="2003213"/>
            <a:ext cx="2160693" cy="1266613"/>
          </a:xfrm>
          <a:prstGeom prst="roundRect">
            <a:avLst>
              <a:gd name="adj" fmla="val 5882"/>
            </a:avLst>
          </a:prstGeom>
          <a:solidFill>
            <a:srgbClr val="EEF4EE"/>
          </a:solidFill>
          <a:ln w="10348">
            <a:solidFill>
              <a:srgbClr val="EEF4EE"/>
            </a:solidFill>
            <a:prstDash val="solid"/>
          </a:ln>
        </p:spPr>
      </p:sp>
      <p:sp>
        <p:nvSpPr>
          <p:cNvPr id="9" name="Text 7"/>
          <p:cNvSpPr txBox="1"/>
          <p:nvPr/>
        </p:nvSpPr>
        <p:spPr>
          <a:xfrm>
            <a:off x="6269821" y="2092621"/>
            <a:ext cx="1862667" cy="1117600"/>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1 day</a:t>
            </a:r>
            <a:endParaRPr lang="en-US" sz="2444" dirty="0"/>
          </a:p>
          <a:p>
            <a:pPr indent="0" marL="0">
              <a:buNone/>
            </a:pPr>
            <a:r>
              <a:rPr lang="en-US" sz="1141" dirty="0">
                <a:solidFill>
                  <a:srgbClr val="1F2937"/>
                </a:solidFill>
              </a:rPr>
              <a:t>Supervisory officers</a:t>
            </a:r>
            <a:endParaRPr lang="en-US" sz="2444" dirty="0"/>
          </a:p>
        </p:txBody>
      </p:sp>
      <p:sp>
        <p:nvSpPr>
          <p:cNvPr id="10" name="Course 4"/>
          <p:cNvSpPr/>
          <p:nvPr/>
        </p:nvSpPr>
        <p:spPr>
          <a:xfrm>
            <a:off x="8430514" y="2003213"/>
            <a:ext cx="2160693" cy="1266613"/>
          </a:xfrm>
          <a:prstGeom prst="roundRect">
            <a:avLst>
              <a:gd name="adj" fmla="val 5882"/>
            </a:avLst>
          </a:prstGeom>
          <a:solidFill>
            <a:srgbClr val="EEF4EE"/>
          </a:solidFill>
          <a:ln w="10348">
            <a:solidFill>
              <a:srgbClr val="EEF4EE"/>
            </a:solidFill>
            <a:prstDash val="solid"/>
          </a:ln>
        </p:spPr>
      </p:sp>
      <p:sp>
        <p:nvSpPr>
          <p:cNvPr id="11" name="Text 9"/>
          <p:cNvSpPr txBox="1"/>
          <p:nvPr/>
        </p:nvSpPr>
        <p:spPr>
          <a:xfrm>
            <a:off x="8579527" y="2092621"/>
            <a:ext cx="1862667" cy="1117600"/>
          </a:xfrm>
          <a:prstGeom prst="rect">
            <a:avLst/>
          </a:prstGeom>
          <a:noFill/>
          <a:ln/>
        </p:spPr>
        <p:txBody>
          <a:bodyPr wrap="square" lIns="0" tIns="0" rIns="0" bIns="0" rtlCol="0" anchor="t"/>
          <a:lstStyle/>
          <a:p>
            <a:pPr indent="0" marL="0">
              <a:buNone/>
            </a:pPr>
            <a:r>
              <a:rPr lang="en-US" sz="2444" b="1" dirty="0">
                <a:solidFill>
                  <a:srgbClr val="164716"/>
                </a:solidFill>
                <a:latin typeface="Cambria" pitchFamily="34" charset="0"/>
                <a:ea typeface="Cambria" pitchFamily="34" charset="-122"/>
                <a:cs typeface="Cambria" pitchFamily="34" charset="-120"/>
              </a:rPr>
              <a:t>½ day</a:t>
            </a:r>
            <a:endParaRPr lang="en-US" sz="2444" dirty="0"/>
          </a:p>
          <a:p>
            <a:pPr indent="0" marL="0">
              <a:buNone/>
            </a:pPr>
            <a:r>
              <a:rPr lang="en-US" sz="1141" dirty="0">
                <a:solidFill>
                  <a:srgbClr val="1F2937"/>
                </a:solidFill>
              </a:rPr>
              <a:t>Auditors</a:t>
            </a:r>
            <a:endParaRPr lang="en-US" sz="2444" dirty="0"/>
          </a:p>
        </p:txBody>
      </p:sp>
      <p:sp>
        <p:nvSpPr>
          <p:cNvPr id="12" name="Text 10"/>
          <p:cNvSpPr txBox="1"/>
          <p:nvPr/>
        </p:nvSpPr>
        <p:spPr>
          <a:xfrm>
            <a:off x="1501394" y="3530600"/>
            <a:ext cx="8940800" cy="298027"/>
          </a:xfrm>
          <a:prstGeom prst="rect">
            <a:avLst/>
          </a:prstGeom>
          <a:noFill/>
          <a:ln/>
        </p:spPr>
        <p:txBody>
          <a:bodyPr wrap="square" lIns="0" tIns="0" rIns="0" bIns="0" rtlCol="0" anchor="ctr"/>
          <a:lstStyle/>
          <a:p>
            <a:pPr indent="0" marL="0">
              <a:buNone/>
            </a:pPr>
            <a:r>
              <a:rPr lang="en-US" sz="1304" b="1" dirty="0">
                <a:solidFill>
                  <a:srgbClr val="164716"/>
                </a:solidFill>
              </a:rPr>
              <a:t>Documents delivered</a:t>
            </a:r>
            <a:endParaRPr lang="en-US" sz="1304" dirty="0"/>
          </a:p>
        </p:txBody>
      </p:sp>
      <p:sp>
        <p:nvSpPr>
          <p:cNvPr id="13" name="Text 11"/>
          <p:cNvSpPr txBox="1"/>
          <p:nvPr/>
        </p:nvSpPr>
        <p:spPr>
          <a:xfrm>
            <a:off x="1501394" y="3865880"/>
            <a:ext cx="9089813" cy="1788160"/>
          </a:xfrm>
          <a:prstGeom prst="rect">
            <a:avLst/>
          </a:prstGeom>
          <a:noFill/>
          <a:ln/>
        </p:spPr>
        <p:txBody>
          <a:bodyPr wrap="square" lIns="0" tIns="0" rIns="0" bIns="0" rtlCol="0" anchor="t"/>
          <a:lstStyle/>
          <a:p>
            <a:pPr marL="279400" indent="-279400">
              <a:spcAft>
                <a:spcPts val="489"/>
              </a:spcAft>
              <a:buSzPct val="100000"/>
              <a:buChar char="•"/>
            </a:pPr>
            <a:r>
              <a:rPr lang="en-US" sz="1141" dirty="0">
                <a:solidFill>
                  <a:srgbClr val="1F2937"/>
                </a:solidFill>
              </a:rPr>
              <a:t>System Administration Manual</a:t>
            </a:r>
            <a:endParaRPr lang="en-US" sz="1141" dirty="0"/>
          </a:p>
          <a:p>
            <a:pPr marL="279400" indent="-279400">
              <a:spcAft>
                <a:spcPts val="489"/>
              </a:spcAft>
              <a:buSzPct val="100000"/>
              <a:buChar char="•"/>
            </a:pPr>
            <a:r>
              <a:rPr lang="en-US" sz="1141" dirty="0">
                <a:solidFill>
                  <a:srgbClr val="1F2937"/>
                </a:solidFill>
              </a:rPr>
              <a:t>User Manual</a:t>
            </a:r>
            <a:endParaRPr lang="en-US" sz="1141" dirty="0"/>
          </a:p>
          <a:p>
            <a:pPr marL="279400" indent="-279400">
              <a:spcAft>
                <a:spcPts val="489"/>
              </a:spcAft>
              <a:buSzPct val="100000"/>
              <a:buChar char="•"/>
            </a:pPr>
            <a:r>
              <a:rPr lang="en-US" sz="1141" dirty="0">
                <a:solidFill>
                  <a:srgbClr val="1F2937"/>
                </a:solidFill>
              </a:rPr>
              <a:t>Installation / Deployment Guide</a:t>
            </a:r>
            <a:endParaRPr lang="en-US" sz="1141" dirty="0"/>
          </a:p>
          <a:p>
            <a:pPr marL="279400" indent="-279400">
              <a:spcAft>
                <a:spcPts val="489"/>
              </a:spcAft>
              <a:buSzPct val="100000"/>
              <a:buChar char="•"/>
            </a:pPr>
            <a:r>
              <a:rPr lang="en-US" sz="1141" dirty="0">
                <a:solidFill>
                  <a:srgbClr val="1F2937"/>
                </a:solidFill>
              </a:rPr>
              <a:t>API Documentation (OpenAPI 3.1, in the demo at /api/docs)</a:t>
            </a:r>
            <a:endParaRPr lang="en-US" sz="1141" dirty="0"/>
          </a:p>
          <a:p>
            <a:pPr marL="279400" indent="-279400">
              <a:spcAft>
                <a:spcPts val="489"/>
              </a:spcAft>
              <a:buSzPct val="100000"/>
              <a:buChar char="•"/>
            </a:pPr>
            <a:r>
              <a:rPr lang="en-US" sz="1141" dirty="0">
                <a:solidFill>
                  <a:srgbClr val="1F2937"/>
                </a:solidFill>
              </a:rPr>
              <a:t>Database Documentation (ERD, dictionary, integrity rules)</a:t>
            </a:r>
            <a:endParaRPr lang="en-US" sz="1141" dirty="0"/>
          </a:p>
          <a:p>
            <a:pPr marL="279400" indent="-279400">
              <a:spcAft>
                <a:spcPts val="489"/>
              </a:spcAft>
              <a:buSzPct val="100000"/>
              <a:buChar char="•"/>
            </a:pPr>
            <a:r>
              <a:rPr lang="en-US" sz="1141" dirty="0">
                <a:solidFill>
                  <a:srgbClr val="1F2937"/>
                </a:solidFill>
              </a:rPr>
              <a:t>Backup / Recovery Procedure</a:t>
            </a:r>
            <a:endParaRPr lang="en-US" sz="1141"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Warranty and support</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Item 54: one year from acceptance; bug fixing, security patches, configuration support, troubleshooting</a:t>
            </a:r>
            <a:endParaRPr lang="en-US" sz="1141" dirty="0"/>
          </a:p>
        </p:txBody>
      </p:sp>
      <p:graphicFrame>
        <p:nvGraphicFramePr>
          <p:cNvPr id="121" name="Support levels"/>
          <p:cNvGraphicFramePr>
            <a:graphicFrameLocks noGrp="1"/>
          </p:cNvGraphicFramePr>
          <p:nvPr>
            <p:extLst>
              <p:ext uri="{D42A27DB-BD31-4B8C-83A1-F6EECF244321}">
                <p14:modId xmlns:p14="http://schemas.microsoft.com/office/powerpoint/2010/main" val="1579011935"/>
              </p:ext>
            </p:extLst>
          </p:nvPr>
        </p:nvGraphicFramePr>
        <p:xfrm>
          <a:off x="1501394" y="2003213"/>
          <a:ext cx="9186672" cy="745067"/>
        </p:xfrm>
        <a:graphic>
          <a:graphicData uri="http://schemas.openxmlformats.org/drawingml/2006/table">
            <a:tbl>
              <a:tblPr/>
              <a:tblGrid>
                <a:gridCol w="1639147"/>
                <a:gridCol w="4470400"/>
                <a:gridCol w="3077125"/>
              </a:tblGrid>
              <a:tr h="447040">
                <a:tc>
                  <a:txBody>
                    <a:bodyPr/>
                    <a:lstStyle/>
                    <a:p>
                      <a:pPr indent="0" marL="0">
                        <a:buNone/>
                      </a:pPr>
                      <a:r>
                        <a:rPr lang="en-US" sz="1141" b="1" dirty="0">
                          <a:solidFill>
                            <a:srgbClr val="FFFFFF"/>
                          </a:solidFill>
                        </a:rPr>
                        <a:t>Priority</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141" b="1" dirty="0">
                          <a:solidFill>
                            <a:srgbClr val="FFFFFF"/>
                          </a:solidFill>
                        </a:rPr>
                        <a:t>Example</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c>
                  <a:txBody>
                    <a:bodyPr/>
                    <a:lstStyle/>
                    <a:p>
                      <a:pPr indent="0" marL="0">
                        <a:buNone/>
                      </a:pPr>
                      <a:r>
                        <a:rPr lang="en-US" sz="1141" b="1" dirty="0">
                          <a:solidFill>
                            <a:srgbClr val="FFFFFF"/>
                          </a:solidFill>
                        </a:rPr>
                        <a:t>Response / resolution</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164716"/>
                    </a:solidFill>
                  </a:tcPr>
                </a:tc>
              </a:tr>
              <a:tr h="447040">
                <a:tc>
                  <a:txBody>
                    <a:bodyPr/>
                    <a:lstStyle/>
                    <a:p>
                      <a:pPr indent="0" marL="0">
                        <a:buNone/>
                      </a:pPr>
                      <a:r>
                        <a:rPr lang="en-US" sz="1141" dirty="0">
                          <a:solidFill>
                            <a:srgbClr val="1F2937"/>
                          </a:solidFill>
                        </a:rPr>
                        <a:t>Critical</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System unavailable or data at risk</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2 hours / 8 hours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447040">
                <a:tc>
                  <a:txBody>
                    <a:bodyPr/>
                    <a:lstStyle/>
                    <a:p>
                      <a:pPr indent="0" marL="0">
                        <a:buNone/>
                      </a:pPr>
                      <a:r>
                        <a:rPr lang="en-US" sz="1141" dirty="0">
                          <a:solidFill>
                            <a:srgbClr val="1F2937"/>
                          </a:solidFill>
                        </a:rPr>
                        <a:t>High</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A main function unusable for many users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4 hours / 2 working days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r h="447040">
                <a:tc>
                  <a:txBody>
                    <a:bodyPr/>
                    <a:lstStyle/>
                    <a:p>
                      <a:pPr indent="0" marL="0">
                        <a:buNone/>
                      </a:pPr>
                      <a:r>
                        <a:rPr lang="en-US" sz="1141" dirty="0">
                          <a:solidFill>
                            <a:srgbClr val="1F2937"/>
                          </a:solidFill>
                        </a:rPr>
                        <a:t>Medium</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A function impaired; workaround exists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c>
                  <a:txBody>
                    <a:bodyPr/>
                    <a:lstStyle/>
                    <a:p>
                      <a:pPr indent="0" marL="0">
                        <a:buNone/>
                      </a:pPr>
                      <a:r>
                        <a:rPr lang="en-US" sz="1141" dirty="0">
                          <a:solidFill>
                            <a:srgbClr val="1F2937"/>
                          </a:solidFill>
                        </a:rPr>
                        <a:t>1 working day / 5 working days</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FFFFFF"/>
                    </a:solidFill>
                  </a:tcPr>
                </a:tc>
              </a:tr>
              <a:tr h="447040">
                <a:tc>
                  <a:txBody>
                    <a:bodyPr/>
                    <a:lstStyle/>
                    <a:p>
                      <a:pPr indent="0" marL="0">
                        <a:buNone/>
                      </a:pPr>
                      <a:r>
                        <a:rPr lang="en-US" sz="1141" dirty="0">
                          <a:solidFill>
                            <a:srgbClr val="1F2937"/>
                          </a:solidFill>
                        </a:rPr>
                        <a:t>Low</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Question, cosmetic issue</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c>
                  <a:txBody>
                    <a:bodyPr/>
                    <a:lstStyle/>
                    <a:p>
                      <a:pPr indent="0" marL="0">
                        <a:buNone/>
                      </a:pPr>
                      <a:r>
                        <a:rPr lang="en-US" sz="1141" dirty="0">
                          <a:solidFill>
                            <a:srgbClr val="1F2937"/>
                          </a:solidFill>
                        </a:rPr>
                        <a:t>2 working days / next release</a:t>
                      </a:r>
                      <a:endParaRPr lang="en-US" sz="1141" dirty="0"/>
                    </a:p>
                  </a:txBody>
                  <a:tcPr marL="74507" marR="74507" marT="37253" marB="37253" anchor="ctr">
                    <a:lnL w="7761" cap="flat" cmpd="sng" algn="ctr">
                      <a:solidFill>
                        <a:srgbClr val="D7DED8"/>
                      </a:solidFill>
                      <a:prstDash val="solid"/>
                      <a:round/>
                      <a:headEnd type="none" w="med" len="med"/>
                      <a:tailEnd type="none" w="med" len="med"/>
                    </a:lnL>
                    <a:lnR w="7761" cap="flat" cmpd="sng" algn="ctr">
                      <a:solidFill>
                        <a:srgbClr val="D7DED8"/>
                      </a:solidFill>
                      <a:prstDash val="solid"/>
                      <a:round/>
                      <a:headEnd type="none" w="med" len="med"/>
                      <a:tailEnd type="none" w="med" len="med"/>
                    </a:lnR>
                    <a:lnT w="7761" cap="flat" cmpd="sng" algn="ctr">
                      <a:solidFill>
                        <a:srgbClr val="D7DED8"/>
                      </a:solidFill>
                      <a:prstDash val="solid"/>
                      <a:round/>
                      <a:headEnd type="none" w="med" len="med"/>
                      <a:tailEnd type="none" w="med" len="med"/>
                    </a:lnT>
                    <a:lnB w="7761" cap="flat" cmpd="sng" algn="ctr">
                      <a:solidFill>
                        <a:srgbClr val="D7DED8"/>
                      </a:solidFill>
                      <a:prstDash val="solid"/>
                      <a:round/>
                      <a:headEnd type="none" w="med" len="med"/>
                      <a:tailEnd type="none" w="med" len="med"/>
                    </a:lnB>
                    <a:solidFill>
                      <a:srgbClr val="EEF4EE"/>
                    </a:solidFill>
                  </a:tcPr>
                </a:tc>
              </a:tr>
            </a:tbl>
          </a:graphicData>
        </a:graphic>
      </p:graphicFrame>
      <p:sp>
        <p:nvSpPr>
          <p:cNvPr id="5" name="Text 2"/>
          <p:cNvSpPr txBox="1"/>
          <p:nvPr/>
        </p:nvSpPr>
        <p:spPr>
          <a:xfrm>
            <a:off x="1501394" y="4536440"/>
            <a:ext cx="9186672" cy="447040"/>
          </a:xfrm>
          <a:prstGeom prst="rect">
            <a:avLst/>
          </a:prstGeom>
          <a:noFill/>
          <a:ln/>
        </p:spPr>
        <p:txBody>
          <a:bodyPr wrap="square" lIns="0" tIns="0" rIns="0" bIns="0" rtlCol="0" anchor="ctr"/>
          <a:lstStyle/>
          <a:p>
            <a:pPr indent="0" marL="0">
              <a:buNone/>
            </a:pPr>
            <a:r>
              <a:rPr lang="en-US" sz="1222" dirty="0">
                <a:solidFill>
                  <a:srgbClr val="1F2937"/>
                </a:solidFill>
              </a:rPr>
              <a:t>Telephone, e-mail and on-site visits, Sunday to Thursday, 9:00–17:00 Bangladesh time; critical incidents accepted at any time.</a:t>
            </a:r>
            <a:endParaRPr lang="en-US" sz="1222"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itle"/>
          <p:cNvSpPr txBox="1"/>
          <p:nvPr/>
        </p:nvSpPr>
        <p:spPr>
          <a:xfrm>
            <a:off x="1501394" y="1034627"/>
            <a:ext cx="8642773" cy="484293"/>
          </a:xfrm>
          <a:prstGeom prst="rect">
            <a:avLst/>
          </a:prstGeom>
          <a:noFill/>
          <a:ln/>
        </p:spPr>
        <p:txBody>
          <a:bodyPr wrap="square" lIns="0" tIns="0" rIns="0" bIns="0" rtlCol="0" anchor="ctr">
            <a:normAutofit/>
          </a:bodyPr>
          <a:lstStyle/>
          <a:p>
            <a:pPr indent="0" marL="0">
              <a:buNone/>
            </a:pPr>
            <a:r>
              <a:rPr lang="en-US" sz="2281" b="1" dirty="0">
                <a:solidFill>
                  <a:srgbClr val="1F2937"/>
                </a:solidFill>
                <a:latin typeface="Cambria" pitchFamily="34" charset="0"/>
                <a:ea typeface="Cambria" pitchFamily="34" charset="-122"/>
                <a:cs typeface="Cambria" pitchFamily="34" charset="-120"/>
              </a:rPr>
              <a:t>Compliance matrix: all 58 items</a:t>
            </a:r>
            <a:endParaRPr lang="en-US" sz="2281" dirty="0"/>
          </a:p>
        </p:txBody>
      </p:sp>
      <p:sp>
        <p:nvSpPr>
          <p:cNvPr id="3" name="Subtitle"/>
          <p:cNvSpPr txBox="1"/>
          <p:nvPr/>
        </p:nvSpPr>
        <p:spPr>
          <a:xfrm>
            <a:off x="1501394" y="1496568"/>
            <a:ext cx="8642773" cy="298027"/>
          </a:xfrm>
          <a:prstGeom prst="rect">
            <a:avLst/>
          </a:prstGeom>
          <a:noFill/>
          <a:ln/>
        </p:spPr>
        <p:txBody>
          <a:bodyPr wrap="square" lIns="0" tIns="0" rIns="0" bIns="0" rtlCol="0" anchor="ctr"/>
          <a:lstStyle/>
          <a:p>
            <a:pPr indent="0" marL="0">
              <a:buNone/>
            </a:pPr>
            <a:r>
              <a:rPr lang="en-US" sz="1141" dirty="0">
                <a:solidFill>
                  <a:srgbClr val="5B6472"/>
                </a:solidFill>
              </a:rPr>
              <a:t>Each square is one specification item; detail in Annex A</a:t>
            </a:r>
            <a:endParaRPr lang="en-US" sz="1141" dirty="0"/>
          </a:p>
        </p:txBody>
      </p:sp>
      <p:sp>
        <p:nvSpPr>
          <p:cNvPr id="4" name="Item 1"/>
          <p:cNvSpPr/>
          <p:nvPr/>
        </p:nvSpPr>
        <p:spPr>
          <a:xfrm>
            <a:off x="1501394" y="1928707"/>
            <a:ext cx="521547" cy="521547"/>
          </a:xfrm>
          <a:prstGeom prst="roundRect">
            <a:avLst>
              <a:gd name="adj" fmla="val 8571"/>
            </a:avLst>
          </a:prstGeom>
          <a:solidFill>
            <a:srgbClr val="164716"/>
          </a:solidFill>
          <a:ln w="10348">
            <a:solidFill>
              <a:srgbClr val="164716"/>
            </a:solidFill>
            <a:prstDash val="solid"/>
          </a:ln>
        </p:spPr>
      </p:sp>
      <p:sp>
        <p:nvSpPr>
          <p:cNvPr id="5" name="Text 3"/>
          <p:cNvSpPr txBox="1"/>
          <p:nvPr/>
        </p:nvSpPr>
        <p:spPr>
          <a:xfrm>
            <a:off x="1501394"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a:t>
            </a:r>
            <a:endParaRPr lang="en-US" sz="1141" dirty="0"/>
          </a:p>
        </p:txBody>
      </p:sp>
      <p:sp>
        <p:nvSpPr>
          <p:cNvPr id="6" name="Item 2"/>
          <p:cNvSpPr/>
          <p:nvPr/>
        </p:nvSpPr>
        <p:spPr>
          <a:xfrm>
            <a:off x="2112349" y="1928707"/>
            <a:ext cx="521547" cy="521547"/>
          </a:xfrm>
          <a:prstGeom prst="roundRect">
            <a:avLst>
              <a:gd name="adj" fmla="val 8571"/>
            </a:avLst>
          </a:prstGeom>
          <a:solidFill>
            <a:srgbClr val="164716"/>
          </a:solidFill>
          <a:ln w="10348">
            <a:solidFill>
              <a:srgbClr val="164716"/>
            </a:solidFill>
            <a:prstDash val="solid"/>
          </a:ln>
        </p:spPr>
      </p:sp>
      <p:sp>
        <p:nvSpPr>
          <p:cNvPr id="7" name="Text 5"/>
          <p:cNvSpPr txBox="1"/>
          <p:nvPr/>
        </p:nvSpPr>
        <p:spPr>
          <a:xfrm>
            <a:off x="2112349"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a:t>
            </a:r>
            <a:endParaRPr lang="en-US" sz="1141" dirty="0"/>
          </a:p>
        </p:txBody>
      </p:sp>
      <p:sp>
        <p:nvSpPr>
          <p:cNvPr id="8" name="Item 3"/>
          <p:cNvSpPr/>
          <p:nvPr/>
        </p:nvSpPr>
        <p:spPr>
          <a:xfrm>
            <a:off x="2723303" y="1928707"/>
            <a:ext cx="521547" cy="521547"/>
          </a:xfrm>
          <a:prstGeom prst="roundRect">
            <a:avLst>
              <a:gd name="adj" fmla="val 8571"/>
            </a:avLst>
          </a:prstGeom>
          <a:solidFill>
            <a:srgbClr val="164716"/>
          </a:solidFill>
          <a:ln w="10348">
            <a:solidFill>
              <a:srgbClr val="164716"/>
            </a:solidFill>
            <a:prstDash val="solid"/>
          </a:ln>
        </p:spPr>
      </p:sp>
      <p:sp>
        <p:nvSpPr>
          <p:cNvPr id="9" name="Text 7"/>
          <p:cNvSpPr txBox="1"/>
          <p:nvPr/>
        </p:nvSpPr>
        <p:spPr>
          <a:xfrm>
            <a:off x="2723303"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a:t>
            </a:r>
            <a:endParaRPr lang="en-US" sz="1141" dirty="0"/>
          </a:p>
        </p:txBody>
      </p:sp>
      <p:sp>
        <p:nvSpPr>
          <p:cNvPr id="10" name="Item 4"/>
          <p:cNvSpPr/>
          <p:nvPr/>
        </p:nvSpPr>
        <p:spPr>
          <a:xfrm>
            <a:off x="3334258" y="1928707"/>
            <a:ext cx="521547" cy="521547"/>
          </a:xfrm>
          <a:prstGeom prst="roundRect">
            <a:avLst>
              <a:gd name="adj" fmla="val 8571"/>
            </a:avLst>
          </a:prstGeom>
          <a:solidFill>
            <a:srgbClr val="4C8C4A"/>
          </a:solidFill>
          <a:ln w="10348">
            <a:solidFill>
              <a:srgbClr val="4C8C4A"/>
            </a:solidFill>
            <a:prstDash val="solid"/>
          </a:ln>
        </p:spPr>
      </p:sp>
      <p:sp>
        <p:nvSpPr>
          <p:cNvPr id="11" name="Text 9"/>
          <p:cNvSpPr txBox="1"/>
          <p:nvPr/>
        </p:nvSpPr>
        <p:spPr>
          <a:xfrm>
            <a:off x="3334258"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a:t>
            </a:r>
            <a:endParaRPr lang="en-US" sz="1141" dirty="0"/>
          </a:p>
        </p:txBody>
      </p:sp>
      <p:sp>
        <p:nvSpPr>
          <p:cNvPr id="12" name="Item 5"/>
          <p:cNvSpPr/>
          <p:nvPr/>
        </p:nvSpPr>
        <p:spPr>
          <a:xfrm>
            <a:off x="3945213" y="1928707"/>
            <a:ext cx="521547" cy="521547"/>
          </a:xfrm>
          <a:prstGeom prst="roundRect">
            <a:avLst>
              <a:gd name="adj" fmla="val 8571"/>
            </a:avLst>
          </a:prstGeom>
          <a:solidFill>
            <a:srgbClr val="164716"/>
          </a:solidFill>
          <a:ln w="10348">
            <a:solidFill>
              <a:srgbClr val="164716"/>
            </a:solidFill>
            <a:prstDash val="solid"/>
          </a:ln>
        </p:spPr>
      </p:sp>
      <p:sp>
        <p:nvSpPr>
          <p:cNvPr id="13" name="Text 11"/>
          <p:cNvSpPr txBox="1"/>
          <p:nvPr/>
        </p:nvSpPr>
        <p:spPr>
          <a:xfrm>
            <a:off x="3945213"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a:t>
            </a:r>
            <a:endParaRPr lang="en-US" sz="1141" dirty="0"/>
          </a:p>
        </p:txBody>
      </p:sp>
      <p:sp>
        <p:nvSpPr>
          <p:cNvPr id="14" name="Item 6"/>
          <p:cNvSpPr/>
          <p:nvPr/>
        </p:nvSpPr>
        <p:spPr>
          <a:xfrm>
            <a:off x="4556167" y="1928707"/>
            <a:ext cx="521547" cy="521547"/>
          </a:xfrm>
          <a:prstGeom prst="roundRect">
            <a:avLst>
              <a:gd name="adj" fmla="val 8571"/>
            </a:avLst>
          </a:prstGeom>
          <a:solidFill>
            <a:srgbClr val="164716"/>
          </a:solidFill>
          <a:ln w="10348">
            <a:solidFill>
              <a:srgbClr val="164716"/>
            </a:solidFill>
            <a:prstDash val="solid"/>
          </a:ln>
        </p:spPr>
      </p:sp>
      <p:sp>
        <p:nvSpPr>
          <p:cNvPr id="15" name="Text 13"/>
          <p:cNvSpPr txBox="1"/>
          <p:nvPr/>
        </p:nvSpPr>
        <p:spPr>
          <a:xfrm>
            <a:off x="4556167"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6</a:t>
            </a:r>
            <a:endParaRPr lang="en-US" sz="1141" dirty="0"/>
          </a:p>
        </p:txBody>
      </p:sp>
      <p:sp>
        <p:nvSpPr>
          <p:cNvPr id="16" name="Item 7"/>
          <p:cNvSpPr/>
          <p:nvPr/>
        </p:nvSpPr>
        <p:spPr>
          <a:xfrm>
            <a:off x="5167122" y="1928707"/>
            <a:ext cx="521547" cy="521547"/>
          </a:xfrm>
          <a:prstGeom prst="roundRect">
            <a:avLst>
              <a:gd name="adj" fmla="val 8571"/>
            </a:avLst>
          </a:prstGeom>
          <a:solidFill>
            <a:srgbClr val="164716"/>
          </a:solidFill>
          <a:ln w="10348">
            <a:solidFill>
              <a:srgbClr val="164716"/>
            </a:solidFill>
            <a:prstDash val="solid"/>
          </a:ln>
        </p:spPr>
      </p:sp>
      <p:sp>
        <p:nvSpPr>
          <p:cNvPr id="17" name="Text 15"/>
          <p:cNvSpPr txBox="1"/>
          <p:nvPr/>
        </p:nvSpPr>
        <p:spPr>
          <a:xfrm>
            <a:off x="5167122"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7</a:t>
            </a:r>
            <a:endParaRPr lang="en-US" sz="1141" dirty="0"/>
          </a:p>
        </p:txBody>
      </p:sp>
      <p:sp>
        <p:nvSpPr>
          <p:cNvPr id="18" name="Item 8"/>
          <p:cNvSpPr/>
          <p:nvPr/>
        </p:nvSpPr>
        <p:spPr>
          <a:xfrm>
            <a:off x="5778077" y="1928707"/>
            <a:ext cx="521547" cy="521547"/>
          </a:xfrm>
          <a:prstGeom prst="roundRect">
            <a:avLst>
              <a:gd name="adj" fmla="val 8571"/>
            </a:avLst>
          </a:prstGeom>
          <a:solidFill>
            <a:srgbClr val="164716"/>
          </a:solidFill>
          <a:ln w="10348">
            <a:solidFill>
              <a:srgbClr val="164716"/>
            </a:solidFill>
            <a:prstDash val="solid"/>
          </a:ln>
        </p:spPr>
      </p:sp>
      <p:sp>
        <p:nvSpPr>
          <p:cNvPr id="19" name="Text 17"/>
          <p:cNvSpPr txBox="1"/>
          <p:nvPr/>
        </p:nvSpPr>
        <p:spPr>
          <a:xfrm>
            <a:off x="5778077"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8</a:t>
            </a:r>
            <a:endParaRPr lang="en-US" sz="1141" dirty="0"/>
          </a:p>
        </p:txBody>
      </p:sp>
      <p:sp>
        <p:nvSpPr>
          <p:cNvPr id="20" name="Item 9"/>
          <p:cNvSpPr/>
          <p:nvPr/>
        </p:nvSpPr>
        <p:spPr>
          <a:xfrm>
            <a:off x="6389031" y="1928707"/>
            <a:ext cx="521547" cy="521547"/>
          </a:xfrm>
          <a:prstGeom prst="roundRect">
            <a:avLst>
              <a:gd name="adj" fmla="val 8571"/>
            </a:avLst>
          </a:prstGeom>
          <a:solidFill>
            <a:srgbClr val="4C8C4A"/>
          </a:solidFill>
          <a:ln w="10348">
            <a:solidFill>
              <a:srgbClr val="4C8C4A"/>
            </a:solidFill>
            <a:prstDash val="solid"/>
          </a:ln>
        </p:spPr>
      </p:sp>
      <p:sp>
        <p:nvSpPr>
          <p:cNvPr id="21" name="Text 19"/>
          <p:cNvSpPr txBox="1"/>
          <p:nvPr/>
        </p:nvSpPr>
        <p:spPr>
          <a:xfrm>
            <a:off x="6389031"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9</a:t>
            </a:r>
            <a:endParaRPr lang="en-US" sz="1141" dirty="0"/>
          </a:p>
        </p:txBody>
      </p:sp>
      <p:sp>
        <p:nvSpPr>
          <p:cNvPr id="22" name="Item 10"/>
          <p:cNvSpPr/>
          <p:nvPr/>
        </p:nvSpPr>
        <p:spPr>
          <a:xfrm>
            <a:off x="6999986" y="1928707"/>
            <a:ext cx="521547" cy="521547"/>
          </a:xfrm>
          <a:prstGeom prst="roundRect">
            <a:avLst>
              <a:gd name="adj" fmla="val 8571"/>
            </a:avLst>
          </a:prstGeom>
          <a:solidFill>
            <a:srgbClr val="164716"/>
          </a:solidFill>
          <a:ln w="10348">
            <a:solidFill>
              <a:srgbClr val="164716"/>
            </a:solidFill>
            <a:prstDash val="solid"/>
          </a:ln>
        </p:spPr>
      </p:sp>
      <p:sp>
        <p:nvSpPr>
          <p:cNvPr id="23" name="Text 21"/>
          <p:cNvSpPr txBox="1"/>
          <p:nvPr/>
        </p:nvSpPr>
        <p:spPr>
          <a:xfrm>
            <a:off x="6999986" y="1928707"/>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10</a:t>
            </a:r>
            <a:endParaRPr lang="en-US" sz="1141" dirty="0"/>
          </a:p>
        </p:txBody>
      </p:sp>
      <p:sp>
        <p:nvSpPr>
          <p:cNvPr id="24" name="Item 11"/>
          <p:cNvSpPr/>
          <p:nvPr/>
        </p:nvSpPr>
        <p:spPr>
          <a:xfrm>
            <a:off x="1501394" y="2539661"/>
            <a:ext cx="521547" cy="521547"/>
          </a:xfrm>
          <a:prstGeom prst="roundRect">
            <a:avLst>
              <a:gd name="adj" fmla="val 8571"/>
            </a:avLst>
          </a:prstGeom>
          <a:solidFill>
            <a:srgbClr val="164716"/>
          </a:solidFill>
          <a:ln w="10348">
            <a:solidFill>
              <a:srgbClr val="164716"/>
            </a:solidFill>
            <a:prstDash val="solid"/>
          </a:ln>
        </p:spPr>
      </p:sp>
      <p:sp>
        <p:nvSpPr>
          <p:cNvPr id="25" name="Text 23"/>
          <p:cNvSpPr txBox="1"/>
          <p:nvPr/>
        </p:nvSpPr>
        <p:spPr>
          <a:xfrm>
            <a:off x="1501394"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11</a:t>
            </a:r>
            <a:endParaRPr lang="en-US" sz="1141" dirty="0"/>
          </a:p>
        </p:txBody>
      </p:sp>
      <p:sp>
        <p:nvSpPr>
          <p:cNvPr id="26" name="Item 12"/>
          <p:cNvSpPr/>
          <p:nvPr/>
        </p:nvSpPr>
        <p:spPr>
          <a:xfrm>
            <a:off x="2112349" y="2539661"/>
            <a:ext cx="521547" cy="521547"/>
          </a:xfrm>
          <a:prstGeom prst="roundRect">
            <a:avLst>
              <a:gd name="adj" fmla="val 8571"/>
            </a:avLst>
          </a:prstGeom>
          <a:solidFill>
            <a:srgbClr val="164716"/>
          </a:solidFill>
          <a:ln w="10348">
            <a:solidFill>
              <a:srgbClr val="164716"/>
            </a:solidFill>
            <a:prstDash val="solid"/>
          </a:ln>
        </p:spPr>
      </p:sp>
      <p:sp>
        <p:nvSpPr>
          <p:cNvPr id="27" name="Text 25"/>
          <p:cNvSpPr txBox="1"/>
          <p:nvPr/>
        </p:nvSpPr>
        <p:spPr>
          <a:xfrm>
            <a:off x="2112349"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12</a:t>
            </a:r>
            <a:endParaRPr lang="en-US" sz="1141" dirty="0"/>
          </a:p>
        </p:txBody>
      </p:sp>
      <p:sp>
        <p:nvSpPr>
          <p:cNvPr id="28" name="Item 13"/>
          <p:cNvSpPr/>
          <p:nvPr/>
        </p:nvSpPr>
        <p:spPr>
          <a:xfrm>
            <a:off x="2723303" y="2539661"/>
            <a:ext cx="521547" cy="521547"/>
          </a:xfrm>
          <a:prstGeom prst="roundRect">
            <a:avLst>
              <a:gd name="adj" fmla="val 8571"/>
            </a:avLst>
          </a:prstGeom>
          <a:solidFill>
            <a:srgbClr val="4C8C4A"/>
          </a:solidFill>
          <a:ln w="10348">
            <a:solidFill>
              <a:srgbClr val="4C8C4A"/>
            </a:solidFill>
            <a:prstDash val="solid"/>
          </a:ln>
        </p:spPr>
      </p:sp>
      <p:sp>
        <p:nvSpPr>
          <p:cNvPr id="29" name="Text 27"/>
          <p:cNvSpPr txBox="1"/>
          <p:nvPr/>
        </p:nvSpPr>
        <p:spPr>
          <a:xfrm>
            <a:off x="2723303"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13</a:t>
            </a:r>
            <a:endParaRPr lang="en-US" sz="1141" dirty="0"/>
          </a:p>
        </p:txBody>
      </p:sp>
      <p:sp>
        <p:nvSpPr>
          <p:cNvPr id="30" name="Item 14"/>
          <p:cNvSpPr/>
          <p:nvPr/>
        </p:nvSpPr>
        <p:spPr>
          <a:xfrm>
            <a:off x="3334258" y="2539661"/>
            <a:ext cx="521547" cy="521547"/>
          </a:xfrm>
          <a:prstGeom prst="roundRect">
            <a:avLst>
              <a:gd name="adj" fmla="val 8571"/>
            </a:avLst>
          </a:prstGeom>
          <a:solidFill>
            <a:srgbClr val="164716"/>
          </a:solidFill>
          <a:ln w="10348">
            <a:solidFill>
              <a:srgbClr val="164716"/>
            </a:solidFill>
            <a:prstDash val="solid"/>
          </a:ln>
        </p:spPr>
      </p:sp>
      <p:sp>
        <p:nvSpPr>
          <p:cNvPr id="31" name="Text 29"/>
          <p:cNvSpPr txBox="1"/>
          <p:nvPr/>
        </p:nvSpPr>
        <p:spPr>
          <a:xfrm>
            <a:off x="3334258"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14</a:t>
            </a:r>
            <a:endParaRPr lang="en-US" sz="1141" dirty="0"/>
          </a:p>
        </p:txBody>
      </p:sp>
      <p:sp>
        <p:nvSpPr>
          <p:cNvPr id="32" name="Item 15"/>
          <p:cNvSpPr/>
          <p:nvPr/>
        </p:nvSpPr>
        <p:spPr>
          <a:xfrm>
            <a:off x="3945213" y="2539661"/>
            <a:ext cx="521547" cy="521547"/>
          </a:xfrm>
          <a:prstGeom prst="roundRect">
            <a:avLst>
              <a:gd name="adj" fmla="val 8571"/>
            </a:avLst>
          </a:prstGeom>
          <a:solidFill>
            <a:srgbClr val="164716"/>
          </a:solidFill>
          <a:ln w="10348">
            <a:solidFill>
              <a:srgbClr val="164716"/>
            </a:solidFill>
            <a:prstDash val="solid"/>
          </a:ln>
        </p:spPr>
      </p:sp>
      <p:sp>
        <p:nvSpPr>
          <p:cNvPr id="33" name="Text 31"/>
          <p:cNvSpPr txBox="1"/>
          <p:nvPr/>
        </p:nvSpPr>
        <p:spPr>
          <a:xfrm>
            <a:off x="3945213"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15</a:t>
            </a:r>
            <a:endParaRPr lang="en-US" sz="1141" dirty="0"/>
          </a:p>
        </p:txBody>
      </p:sp>
      <p:sp>
        <p:nvSpPr>
          <p:cNvPr id="34" name="Item 16"/>
          <p:cNvSpPr/>
          <p:nvPr/>
        </p:nvSpPr>
        <p:spPr>
          <a:xfrm>
            <a:off x="4556167" y="2539661"/>
            <a:ext cx="521547" cy="521547"/>
          </a:xfrm>
          <a:prstGeom prst="roundRect">
            <a:avLst>
              <a:gd name="adj" fmla="val 8571"/>
            </a:avLst>
          </a:prstGeom>
          <a:solidFill>
            <a:srgbClr val="164716"/>
          </a:solidFill>
          <a:ln w="10348">
            <a:solidFill>
              <a:srgbClr val="164716"/>
            </a:solidFill>
            <a:prstDash val="solid"/>
          </a:ln>
        </p:spPr>
      </p:sp>
      <p:sp>
        <p:nvSpPr>
          <p:cNvPr id="35" name="Text 33"/>
          <p:cNvSpPr txBox="1"/>
          <p:nvPr/>
        </p:nvSpPr>
        <p:spPr>
          <a:xfrm>
            <a:off x="4556167"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16</a:t>
            </a:r>
            <a:endParaRPr lang="en-US" sz="1141" dirty="0"/>
          </a:p>
        </p:txBody>
      </p:sp>
      <p:sp>
        <p:nvSpPr>
          <p:cNvPr id="36" name="Item 17"/>
          <p:cNvSpPr/>
          <p:nvPr/>
        </p:nvSpPr>
        <p:spPr>
          <a:xfrm>
            <a:off x="5167122" y="2539661"/>
            <a:ext cx="521547" cy="521547"/>
          </a:xfrm>
          <a:prstGeom prst="roundRect">
            <a:avLst>
              <a:gd name="adj" fmla="val 8571"/>
            </a:avLst>
          </a:prstGeom>
          <a:solidFill>
            <a:srgbClr val="164716"/>
          </a:solidFill>
          <a:ln w="10348">
            <a:solidFill>
              <a:srgbClr val="164716"/>
            </a:solidFill>
            <a:prstDash val="solid"/>
          </a:ln>
        </p:spPr>
      </p:sp>
      <p:sp>
        <p:nvSpPr>
          <p:cNvPr id="37" name="Text 35"/>
          <p:cNvSpPr txBox="1"/>
          <p:nvPr/>
        </p:nvSpPr>
        <p:spPr>
          <a:xfrm>
            <a:off x="5167122"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17</a:t>
            </a:r>
            <a:endParaRPr lang="en-US" sz="1141" dirty="0"/>
          </a:p>
        </p:txBody>
      </p:sp>
      <p:sp>
        <p:nvSpPr>
          <p:cNvPr id="38" name="Item 18"/>
          <p:cNvSpPr/>
          <p:nvPr/>
        </p:nvSpPr>
        <p:spPr>
          <a:xfrm>
            <a:off x="5778077" y="2539661"/>
            <a:ext cx="521547" cy="521547"/>
          </a:xfrm>
          <a:prstGeom prst="roundRect">
            <a:avLst>
              <a:gd name="adj" fmla="val 8571"/>
            </a:avLst>
          </a:prstGeom>
          <a:solidFill>
            <a:srgbClr val="164716"/>
          </a:solidFill>
          <a:ln w="10348">
            <a:solidFill>
              <a:srgbClr val="164716"/>
            </a:solidFill>
            <a:prstDash val="solid"/>
          </a:ln>
        </p:spPr>
      </p:sp>
      <p:sp>
        <p:nvSpPr>
          <p:cNvPr id="39" name="Text 37"/>
          <p:cNvSpPr txBox="1"/>
          <p:nvPr/>
        </p:nvSpPr>
        <p:spPr>
          <a:xfrm>
            <a:off x="5778077"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18</a:t>
            </a:r>
            <a:endParaRPr lang="en-US" sz="1141" dirty="0"/>
          </a:p>
        </p:txBody>
      </p:sp>
      <p:sp>
        <p:nvSpPr>
          <p:cNvPr id="40" name="Item 19"/>
          <p:cNvSpPr/>
          <p:nvPr/>
        </p:nvSpPr>
        <p:spPr>
          <a:xfrm>
            <a:off x="6389031" y="2539661"/>
            <a:ext cx="521547" cy="521547"/>
          </a:xfrm>
          <a:prstGeom prst="roundRect">
            <a:avLst>
              <a:gd name="adj" fmla="val 8571"/>
            </a:avLst>
          </a:prstGeom>
          <a:solidFill>
            <a:srgbClr val="164716"/>
          </a:solidFill>
          <a:ln w="10348">
            <a:solidFill>
              <a:srgbClr val="164716"/>
            </a:solidFill>
            <a:prstDash val="solid"/>
          </a:ln>
        </p:spPr>
      </p:sp>
      <p:sp>
        <p:nvSpPr>
          <p:cNvPr id="41" name="Text 39"/>
          <p:cNvSpPr txBox="1"/>
          <p:nvPr/>
        </p:nvSpPr>
        <p:spPr>
          <a:xfrm>
            <a:off x="6389031"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19</a:t>
            </a:r>
            <a:endParaRPr lang="en-US" sz="1141" dirty="0"/>
          </a:p>
        </p:txBody>
      </p:sp>
      <p:sp>
        <p:nvSpPr>
          <p:cNvPr id="42" name="Item 20"/>
          <p:cNvSpPr/>
          <p:nvPr/>
        </p:nvSpPr>
        <p:spPr>
          <a:xfrm>
            <a:off x="6999986" y="2539661"/>
            <a:ext cx="521547" cy="521547"/>
          </a:xfrm>
          <a:prstGeom prst="roundRect">
            <a:avLst>
              <a:gd name="adj" fmla="val 8571"/>
            </a:avLst>
          </a:prstGeom>
          <a:solidFill>
            <a:srgbClr val="164716"/>
          </a:solidFill>
          <a:ln w="10348">
            <a:solidFill>
              <a:srgbClr val="164716"/>
            </a:solidFill>
            <a:prstDash val="solid"/>
          </a:ln>
        </p:spPr>
      </p:sp>
      <p:sp>
        <p:nvSpPr>
          <p:cNvPr id="43" name="Text 41"/>
          <p:cNvSpPr txBox="1"/>
          <p:nvPr/>
        </p:nvSpPr>
        <p:spPr>
          <a:xfrm>
            <a:off x="6999986" y="253966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20</a:t>
            </a:r>
            <a:endParaRPr lang="en-US" sz="1141" dirty="0"/>
          </a:p>
        </p:txBody>
      </p:sp>
      <p:sp>
        <p:nvSpPr>
          <p:cNvPr id="44" name="Item 21"/>
          <p:cNvSpPr/>
          <p:nvPr/>
        </p:nvSpPr>
        <p:spPr>
          <a:xfrm>
            <a:off x="1501394" y="3150616"/>
            <a:ext cx="521547" cy="521547"/>
          </a:xfrm>
          <a:prstGeom prst="roundRect">
            <a:avLst>
              <a:gd name="adj" fmla="val 8571"/>
            </a:avLst>
          </a:prstGeom>
          <a:solidFill>
            <a:srgbClr val="164716"/>
          </a:solidFill>
          <a:ln w="10348">
            <a:solidFill>
              <a:srgbClr val="164716"/>
            </a:solidFill>
            <a:prstDash val="solid"/>
          </a:ln>
        </p:spPr>
      </p:sp>
      <p:sp>
        <p:nvSpPr>
          <p:cNvPr id="45" name="Text 43"/>
          <p:cNvSpPr txBox="1"/>
          <p:nvPr/>
        </p:nvSpPr>
        <p:spPr>
          <a:xfrm>
            <a:off x="1501394"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21</a:t>
            </a:r>
            <a:endParaRPr lang="en-US" sz="1141" dirty="0"/>
          </a:p>
        </p:txBody>
      </p:sp>
      <p:sp>
        <p:nvSpPr>
          <p:cNvPr id="46" name="Item 22"/>
          <p:cNvSpPr/>
          <p:nvPr/>
        </p:nvSpPr>
        <p:spPr>
          <a:xfrm>
            <a:off x="2112349" y="3150616"/>
            <a:ext cx="521547" cy="521547"/>
          </a:xfrm>
          <a:prstGeom prst="roundRect">
            <a:avLst>
              <a:gd name="adj" fmla="val 8571"/>
            </a:avLst>
          </a:prstGeom>
          <a:solidFill>
            <a:srgbClr val="164716"/>
          </a:solidFill>
          <a:ln w="10348">
            <a:solidFill>
              <a:srgbClr val="164716"/>
            </a:solidFill>
            <a:prstDash val="solid"/>
          </a:ln>
        </p:spPr>
      </p:sp>
      <p:sp>
        <p:nvSpPr>
          <p:cNvPr id="47" name="Text 45"/>
          <p:cNvSpPr txBox="1"/>
          <p:nvPr/>
        </p:nvSpPr>
        <p:spPr>
          <a:xfrm>
            <a:off x="2112349"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22</a:t>
            </a:r>
            <a:endParaRPr lang="en-US" sz="1141" dirty="0"/>
          </a:p>
        </p:txBody>
      </p:sp>
      <p:sp>
        <p:nvSpPr>
          <p:cNvPr id="48" name="Item 23"/>
          <p:cNvSpPr/>
          <p:nvPr/>
        </p:nvSpPr>
        <p:spPr>
          <a:xfrm>
            <a:off x="2723303" y="3150616"/>
            <a:ext cx="521547" cy="521547"/>
          </a:xfrm>
          <a:prstGeom prst="roundRect">
            <a:avLst>
              <a:gd name="adj" fmla="val 8571"/>
            </a:avLst>
          </a:prstGeom>
          <a:solidFill>
            <a:srgbClr val="4C8C4A"/>
          </a:solidFill>
          <a:ln w="10348">
            <a:solidFill>
              <a:srgbClr val="4C8C4A"/>
            </a:solidFill>
            <a:prstDash val="solid"/>
          </a:ln>
        </p:spPr>
      </p:sp>
      <p:sp>
        <p:nvSpPr>
          <p:cNvPr id="49" name="Text 47"/>
          <p:cNvSpPr txBox="1"/>
          <p:nvPr/>
        </p:nvSpPr>
        <p:spPr>
          <a:xfrm>
            <a:off x="2723303"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23</a:t>
            </a:r>
            <a:endParaRPr lang="en-US" sz="1141" dirty="0"/>
          </a:p>
        </p:txBody>
      </p:sp>
      <p:sp>
        <p:nvSpPr>
          <p:cNvPr id="50" name="Item 24"/>
          <p:cNvSpPr/>
          <p:nvPr/>
        </p:nvSpPr>
        <p:spPr>
          <a:xfrm>
            <a:off x="3334258" y="3150616"/>
            <a:ext cx="521547" cy="521547"/>
          </a:xfrm>
          <a:prstGeom prst="roundRect">
            <a:avLst>
              <a:gd name="adj" fmla="val 8571"/>
            </a:avLst>
          </a:prstGeom>
          <a:solidFill>
            <a:srgbClr val="164716"/>
          </a:solidFill>
          <a:ln w="10348">
            <a:solidFill>
              <a:srgbClr val="164716"/>
            </a:solidFill>
            <a:prstDash val="solid"/>
          </a:ln>
        </p:spPr>
      </p:sp>
      <p:sp>
        <p:nvSpPr>
          <p:cNvPr id="51" name="Text 49"/>
          <p:cNvSpPr txBox="1"/>
          <p:nvPr/>
        </p:nvSpPr>
        <p:spPr>
          <a:xfrm>
            <a:off x="3334258"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24</a:t>
            </a:r>
            <a:endParaRPr lang="en-US" sz="1141" dirty="0"/>
          </a:p>
        </p:txBody>
      </p:sp>
      <p:sp>
        <p:nvSpPr>
          <p:cNvPr id="52" name="Item 25"/>
          <p:cNvSpPr/>
          <p:nvPr/>
        </p:nvSpPr>
        <p:spPr>
          <a:xfrm>
            <a:off x="3945213" y="3150616"/>
            <a:ext cx="521547" cy="521547"/>
          </a:xfrm>
          <a:prstGeom prst="roundRect">
            <a:avLst>
              <a:gd name="adj" fmla="val 8571"/>
            </a:avLst>
          </a:prstGeom>
          <a:solidFill>
            <a:srgbClr val="164716"/>
          </a:solidFill>
          <a:ln w="10348">
            <a:solidFill>
              <a:srgbClr val="164716"/>
            </a:solidFill>
            <a:prstDash val="solid"/>
          </a:ln>
        </p:spPr>
      </p:sp>
      <p:sp>
        <p:nvSpPr>
          <p:cNvPr id="53" name="Text 51"/>
          <p:cNvSpPr txBox="1"/>
          <p:nvPr/>
        </p:nvSpPr>
        <p:spPr>
          <a:xfrm>
            <a:off x="3945213"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25</a:t>
            </a:r>
            <a:endParaRPr lang="en-US" sz="1141" dirty="0"/>
          </a:p>
        </p:txBody>
      </p:sp>
      <p:sp>
        <p:nvSpPr>
          <p:cNvPr id="54" name="Item 26"/>
          <p:cNvSpPr/>
          <p:nvPr/>
        </p:nvSpPr>
        <p:spPr>
          <a:xfrm>
            <a:off x="4556167" y="3150616"/>
            <a:ext cx="521547" cy="521547"/>
          </a:xfrm>
          <a:prstGeom prst="roundRect">
            <a:avLst>
              <a:gd name="adj" fmla="val 8571"/>
            </a:avLst>
          </a:prstGeom>
          <a:solidFill>
            <a:srgbClr val="164716"/>
          </a:solidFill>
          <a:ln w="10348">
            <a:solidFill>
              <a:srgbClr val="164716"/>
            </a:solidFill>
            <a:prstDash val="solid"/>
          </a:ln>
        </p:spPr>
      </p:sp>
      <p:sp>
        <p:nvSpPr>
          <p:cNvPr id="55" name="Text 53"/>
          <p:cNvSpPr txBox="1"/>
          <p:nvPr/>
        </p:nvSpPr>
        <p:spPr>
          <a:xfrm>
            <a:off x="4556167"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26</a:t>
            </a:r>
            <a:endParaRPr lang="en-US" sz="1141" dirty="0"/>
          </a:p>
        </p:txBody>
      </p:sp>
      <p:sp>
        <p:nvSpPr>
          <p:cNvPr id="56" name="Item 27"/>
          <p:cNvSpPr/>
          <p:nvPr/>
        </p:nvSpPr>
        <p:spPr>
          <a:xfrm>
            <a:off x="5167122" y="3150616"/>
            <a:ext cx="521547" cy="521547"/>
          </a:xfrm>
          <a:prstGeom prst="roundRect">
            <a:avLst>
              <a:gd name="adj" fmla="val 8571"/>
            </a:avLst>
          </a:prstGeom>
          <a:solidFill>
            <a:srgbClr val="4C8C4A"/>
          </a:solidFill>
          <a:ln w="10348">
            <a:solidFill>
              <a:srgbClr val="4C8C4A"/>
            </a:solidFill>
            <a:prstDash val="solid"/>
          </a:ln>
        </p:spPr>
      </p:sp>
      <p:sp>
        <p:nvSpPr>
          <p:cNvPr id="57" name="Text 55"/>
          <p:cNvSpPr txBox="1"/>
          <p:nvPr/>
        </p:nvSpPr>
        <p:spPr>
          <a:xfrm>
            <a:off x="5167122"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27</a:t>
            </a:r>
            <a:endParaRPr lang="en-US" sz="1141" dirty="0"/>
          </a:p>
        </p:txBody>
      </p:sp>
      <p:sp>
        <p:nvSpPr>
          <p:cNvPr id="58" name="Item 28"/>
          <p:cNvSpPr/>
          <p:nvPr/>
        </p:nvSpPr>
        <p:spPr>
          <a:xfrm>
            <a:off x="5778077" y="3150616"/>
            <a:ext cx="521547" cy="521547"/>
          </a:xfrm>
          <a:prstGeom prst="roundRect">
            <a:avLst>
              <a:gd name="adj" fmla="val 8571"/>
            </a:avLst>
          </a:prstGeom>
          <a:solidFill>
            <a:srgbClr val="164716"/>
          </a:solidFill>
          <a:ln w="10348">
            <a:solidFill>
              <a:srgbClr val="164716"/>
            </a:solidFill>
            <a:prstDash val="solid"/>
          </a:ln>
        </p:spPr>
      </p:sp>
      <p:sp>
        <p:nvSpPr>
          <p:cNvPr id="59" name="Text 57"/>
          <p:cNvSpPr txBox="1"/>
          <p:nvPr/>
        </p:nvSpPr>
        <p:spPr>
          <a:xfrm>
            <a:off x="5778077"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28</a:t>
            </a:r>
            <a:endParaRPr lang="en-US" sz="1141" dirty="0"/>
          </a:p>
        </p:txBody>
      </p:sp>
      <p:sp>
        <p:nvSpPr>
          <p:cNvPr id="60" name="Item 29"/>
          <p:cNvSpPr/>
          <p:nvPr/>
        </p:nvSpPr>
        <p:spPr>
          <a:xfrm>
            <a:off x="6389031" y="3150616"/>
            <a:ext cx="521547" cy="521547"/>
          </a:xfrm>
          <a:prstGeom prst="roundRect">
            <a:avLst>
              <a:gd name="adj" fmla="val 8571"/>
            </a:avLst>
          </a:prstGeom>
          <a:solidFill>
            <a:srgbClr val="4C8C4A"/>
          </a:solidFill>
          <a:ln w="10348">
            <a:solidFill>
              <a:srgbClr val="4C8C4A"/>
            </a:solidFill>
            <a:prstDash val="solid"/>
          </a:ln>
        </p:spPr>
      </p:sp>
      <p:sp>
        <p:nvSpPr>
          <p:cNvPr id="61" name="Text 59"/>
          <p:cNvSpPr txBox="1"/>
          <p:nvPr/>
        </p:nvSpPr>
        <p:spPr>
          <a:xfrm>
            <a:off x="6389031"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29</a:t>
            </a:r>
            <a:endParaRPr lang="en-US" sz="1141" dirty="0"/>
          </a:p>
        </p:txBody>
      </p:sp>
      <p:sp>
        <p:nvSpPr>
          <p:cNvPr id="62" name="Item 30"/>
          <p:cNvSpPr/>
          <p:nvPr/>
        </p:nvSpPr>
        <p:spPr>
          <a:xfrm>
            <a:off x="6999986" y="3150616"/>
            <a:ext cx="521547" cy="521547"/>
          </a:xfrm>
          <a:prstGeom prst="roundRect">
            <a:avLst>
              <a:gd name="adj" fmla="val 8571"/>
            </a:avLst>
          </a:prstGeom>
          <a:solidFill>
            <a:srgbClr val="164716"/>
          </a:solidFill>
          <a:ln w="10348">
            <a:solidFill>
              <a:srgbClr val="164716"/>
            </a:solidFill>
            <a:prstDash val="solid"/>
          </a:ln>
        </p:spPr>
      </p:sp>
      <p:sp>
        <p:nvSpPr>
          <p:cNvPr id="63" name="Text 61"/>
          <p:cNvSpPr txBox="1"/>
          <p:nvPr/>
        </p:nvSpPr>
        <p:spPr>
          <a:xfrm>
            <a:off x="6999986" y="3150616"/>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30</a:t>
            </a:r>
            <a:endParaRPr lang="en-US" sz="1141" dirty="0"/>
          </a:p>
        </p:txBody>
      </p:sp>
      <p:sp>
        <p:nvSpPr>
          <p:cNvPr id="64" name="Item 31"/>
          <p:cNvSpPr/>
          <p:nvPr/>
        </p:nvSpPr>
        <p:spPr>
          <a:xfrm>
            <a:off x="1501394" y="3761571"/>
            <a:ext cx="521547" cy="521547"/>
          </a:xfrm>
          <a:prstGeom prst="roundRect">
            <a:avLst>
              <a:gd name="adj" fmla="val 8571"/>
            </a:avLst>
          </a:prstGeom>
          <a:solidFill>
            <a:srgbClr val="164716"/>
          </a:solidFill>
          <a:ln w="10348">
            <a:solidFill>
              <a:srgbClr val="164716"/>
            </a:solidFill>
            <a:prstDash val="solid"/>
          </a:ln>
        </p:spPr>
      </p:sp>
      <p:sp>
        <p:nvSpPr>
          <p:cNvPr id="65" name="Text 63"/>
          <p:cNvSpPr txBox="1"/>
          <p:nvPr/>
        </p:nvSpPr>
        <p:spPr>
          <a:xfrm>
            <a:off x="1501394"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31</a:t>
            </a:r>
            <a:endParaRPr lang="en-US" sz="1141" dirty="0"/>
          </a:p>
        </p:txBody>
      </p:sp>
      <p:sp>
        <p:nvSpPr>
          <p:cNvPr id="66" name="Item 32"/>
          <p:cNvSpPr/>
          <p:nvPr/>
        </p:nvSpPr>
        <p:spPr>
          <a:xfrm>
            <a:off x="2112349" y="3761571"/>
            <a:ext cx="521547" cy="521547"/>
          </a:xfrm>
          <a:prstGeom prst="roundRect">
            <a:avLst>
              <a:gd name="adj" fmla="val 8571"/>
            </a:avLst>
          </a:prstGeom>
          <a:solidFill>
            <a:srgbClr val="64748B"/>
          </a:solidFill>
          <a:ln w="10348">
            <a:solidFill>
              <a:srgbClr val="64748B"/>
            </a:solidFill>
            <a:prstDash val="solid"/>
          </a:ln>
        </p:spPr>
      </p:sp>
      <p:sp>
        <p:nvSpPr>
          <p:cNvPr id="67" name="Text 65"/>
          <p:cNvSpPr txBox="1"/>
          <p:nvPr/>
        </p:nvSpPr>
        <p:spPr>
          <a:xfrm>
            <a:off x="2112349"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32</a:t>
            </a:r>
            <a:endParaRPr lang="en-US" sz="1141" dirty="0"/>
          </a:p>
        </p:txBody>
      </p:sp>
      <p:sp>
        <p:nvSpPr>
          <p:cNvPr id="68" name="Item 33"/>
          <p:cNvSpPr/>
          <p:nvPr/>
        </p:nvSpPr>
        <p:spPr>
          <a:xfrm>
            <a:off x="2723303" y="3761571"/>
            <a:ext cx="521547" cy="521547"/>
          </a:xfrm>
          <a:prstGeom prst="roundRect">
            <a:avLst>
              <a:gd name="adj" fmla="val 8571"/>
            </a:avLst>
          </a:prstGeom>
          <a:solidFill>
            <a:srgbClr val="4C8C4A"/>
          </a:solidFill>
          <a:ln w="10348">
            <a:solidFill>
              <a:srgbClr val="4C8C4A"/>
            </a:solidFill>
            <a:prstDash val="solid"/>
          </a:ln>
        </p:spPr>
      </p:sp>
      <p:sp>
        <p:nvSpPr>
          <p:cNvPr id="69" name="Text 67"/>
          <p:cNvSpPr txBox="1"/>
          <p:nvPr/>
        </p:nvSpPr>
        <p:spPr>
          <a:xfrm>
            <a:off x="2723303"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33</a:t>
            </a:r>
            <a:endParaRPr lang="en-US" sz="1141" dirty="0"/>
          </a:p>
        </p:txBody>
      </p:sp>
      <p:sp>
        <p:nvSpPr>
          <p:cNvPr id="70" name="Item 34"/>
          <p:cNvSpPr/>
          <p:nvPr/>
        </p:nvSpPr>
        <p:spPr>
          <a:xfrm>
            <a:off x="3334258" y="3761571"/>
            <a:ext cx="521547" cy="521547"/>
          </a:xfrm>
          <a:prstGeom prst="roundRect">
            <a:avLst>
              <a:gd name="adj" fmla="val 8571"/>
            </a:avLst>
          </a:prstGeom>
          <a:solidFill>
            <a:srgbClr val="64748B"/>
          </a:solidFill>
          <a:ln w="10348">
            <a:solidFill>
              <a:srgbClr val="64748B"/>
            </a:solidFill>
            <a:prstDash val="solid"/>
          </a:ln>
        </p:spPr>
      </p:sp>
      <p:sp>
        <p:nvSpPr>
          <p:cNvPr id="71" name="Text 69"/>
          <p:cNvSpPr txBox="1"/>
          <p:nvPr/>
        </p:nvSpPr>
        <p:spPr>
          <a:xfrm>
            <a:off x="3334258"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34</a:t>
            </a:r>
            <a:endParaRPr lang="en-US" sz="1141" dirty="0"/>
          </a:p>
        </p:txBody>
      </p:sp>
      <p:sp>
        <p:nvSpPr>
          <p:cNvPr id="72" name="Item 35"/>
          <p:cNvSpPr/>
          <p:nvPr/>
        </p:nvSpPr>
        <p:spPr>
          <a:xfrm>
            <a:off x="3945213" y="3761571"/>
            <a:ext cx="521547" cy="521547"/>
          </a:xfrm>
          <a:prstGeom prst="roundRect">
            <a:avLst>
              <a:gd name="adj" fmla="val 8571"/>
            </a:avLst>
          </a:prstGeom>
          <a:solidFill>
            <a:srgbClr val="64748B"/>
          </a:solidFill>
          <a:ln w="10348">
            <a:solidFill>
              <a:srgbClr val="64748B"/>
            </a:solidFill>
            <a:prstDash val="solid"/>
          </a:ln>
        </p:spPr>
      </p:sp>
      <p:sp>
        <p:nvSpPr>
          <p:cNvPr id="73" name="Text 71"/>
          <p:cNvSpPr txBox="1"/>
          <p:nvPr/>
        </p:nvSpPr>
        <p:spPr>
          <a:xfrm>
            <a:off x="3945213"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35</a:t>
            </a:r>
            <a:endParaRPr lang="en-US" sz="1141" dirty="0"/>
          </a:p>
        </p:txBody>
      </p:sp>
      <p:sp>
        <p:nvSpPr>
          <p:cNvPr id="74" name="Item 36"/>
          <p:cNvSpPr/>
          <p:nvPr/>
        </p:nvSpPr>
        <p:spPr>
          <a:xfrm>
            <a:off x="4556167" y="3761571"/>
            <a:ext cx="521547" cy="521547"/>
          </a:xfrm>
          <a:prstGeom prst="roundRect">
            <a:avLst>
              <a:gd name="adj" fmla="val 8571"/>
            </a:avLst>
          </a:prstGeom>
          <a:solidFill>
            <a:srgbClr val="64748B"/>
          </a:solidFill>
          <a:ln w="10348">
            <a:solidFill>
              <a:srgbClr val="64748B"/>
            </a:solidFill>
            <a:prstDash val="solid"/>
          </a:ln>
        </p:spPr>
      </p:sp>
      <p:sp>
        <p:nvSpPr>
          <p:cNvPr id="75" name="Text 73"/>
          <p:cNvSpPr txBox="1"/>
          <p:nvPr/>
        </p:nvSpPr>
        <p:spPr>
          <a:xfrm>
            <a:off x="4556167"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36</a:t>
            </a:r>
            <a:endParaRPr lang="en-US" sz="1141" dirty="0"/>
          </a:p>
        </p:txBody>
      </p:sp>
      <p:sp>
        <p:nvSpPr>
          <p:cNvPr id="76" name="Item 37"/>
          <p:cNvSpPr/>
          <p:nvPr/>
        </p:nvSpPr>
        <p:spPr>
          <a:xfrm>
            <a:off x="5167122" y="3761571"/>
            <a:ext cx="521547" cy="521547"/>
          </a:xfrm>
          <a:prstGeom prst="roundRect">
            <a:avLst>
              <a:gd name="adj" fmla="val 8571"/>
            </a:avLst>
          </a:prstGeom>
          <a:solidFill>
            <a:srgbClr val="4C8C4A"/>
          </a:solidFill>
          <a:ln w="10348">
            <a:solidFill>
              <a:srgbClr val="4C8C4A"/>
            </a:solidFill>
            <a:prstDash val="solid"/>
          </a:ln>
        </p:spPr>
      </p:sp>
      <p:sp>
        <p:nvSpPr>
          <p:cNvPr id="77" name="Text 75"/>
          <p:cNvSpPr txBox="1"/>
          <p:nvPr/>
        </p:nvSpPr>
        <p:spPr>
          <a:xfrm>
            <a:off x="5167122"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37</a:t>
            </a:r>
            <a:endParaRPr lang="en-US" sz="1141" dirty="0"/>
          </a:p>
        </p:txBody>
      </p:sp>
      <p:sp>
        <p:nvSpPr>
          <p:cNvPr id="78" name="Item 38"/>
          <p:cNvSpPr/>
          <p:nvPr/>
        </p:nvSpPr>
        <p:spPr>
          <a:xfrm>
            <a:off x="5778077" y="3761571"/>
            <a:ext cx="521547" cy="521547"/>
          </a:xfrm>
          <a:prstGeom prst="roundRect">
            <a:avLst>
              <a:gd name="adj" fmla="val 8571"/>
            </a:avLst>
          </a:prstGeom>
          <a:solidFill>
            <a:srgbClr val="64748B"/>
          </a:solidFill>
          <a:ln w="10348">
            <a:solidFill>
              <a:srgbClr val="64748B"/>
            </a:solidFill>
            <a:prstDash val="solid"/>
          </a:ln>
        </p:spPr>
      </p:sp>
      <p:sp>
        <p:nvSpPr>
          <p:cNvPr id="79" name="Text 77"/>
          <p:cNvSpPr txBox="1"/>
          <p:nvPr/>
        </p:nvSpPr>
        <p:spPr>
          <a:xfrm>
            <a:off x="5778077"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38</a:t>
            </a:r>
            <a:endParaRPr lang="en-US" sz="1141" dirty="0"/>
          </a:p>
        </p:txBody>
      </p:sp>
      <p:sp>
        <p:nvSpPr>
          <p:cNvPr id="80" name="Item 39"/>
          <p:cNvSpPr/>
          <p:nvPr/>
        </p:nvSpPr>
        <p:spPr>
          <a:xfrm>
            <a:off x="6389031" y="3761571"/>
            <a:ext cx="521547" cy="521547"/>
          </a:xfrm>
          <a:prstGeom prst="roundRect">
            <a:avLst>
              <a:gd name="adj" fmla="val 8571"/>
            </a:avLst>
          </a:prstGeom>
          <a:solidFill>
            <a:srgbClr val="64748B"/>
          </a:solidFill>
          <a:ln w="10348">
            <a:solidFill>
              <a:srgbClr val="64748B"/>
            </a:solidFill>
            <a:prstDash val="solid"/>
          </a:ln>
        </p:spPr>
      </p:sp>
      <p:sp>
        <p:nvSpPr>
          <p:cNvPr id="81" name="Text 79"/>
          <p:cNvSpPr txBox="1"/>
          <p:nvPr/>
        </p:nvSpPr>
        <p:spPr>
          <a:xfrm>
            <a:off x="6389031"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39</a:t>
            </a:r>
            <a:endParaRPr lang="en-US" sz="1141" dirty="0"/>
          </a:p>
        </p:txBody>
      </p:sp>
      <p:sp>
        <p:nvSpPr>
          <p:cNvPr id="82" name="Item 40"/>
          <p:cNvSpPr/>
          <p:nvPr/>
        </p:nvSpPr>
        <p:spPr>
          <a:xfrm>
            <a:off x="6999986" y="3761571"/>
            <a:ext cx="521547" cy="521547"/>
          </a:xfrm>
          <a:prstGeom prst="roundRect">
            <a:avLst>
              <a:gd name="adj" fmla="val 8571"/>
            </a:avLst>
          </a:prstGeom>
          <a:solidFill>
            <a:srgbClr val="64748B"/>
          </a:solidFill>
          <a:ln w="10348">
            <a:solidFill>
              <a:srgbClr val="64748B"/>
            </a:solidFill>
            <a:prstDash val="solid"/>
          </a:ln>
        </p:spPr>
      </p:sp>
      <p:sp>
        <p:nvSpPr>
          <p:cNvPr id="83" name="Text 81"/>
          <p:cNvSpPr txBox="1"/>
          <p:nvPr/>
        </p:nvSpPr>
        <p:spPr>
          <a:xfrm>
            <a:off x="6999986" y="3761571"/>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40</a:t>
            </a:r>
            <a:endParaRPr lang="en-US" sz="1141" dirty="0"/>
          </a:p>
        </p:txBody>
      </p:sp>
      <p:sp>
        <p:nvSpPr>
          <p:cNvPr id="84" name="Item 41"/>
          <p:cNvSpPr/>
          <p:nvPr/>
        </p:nvSpPr>
        <p:spPr>
          <a:xfrm>
            <a:off x="1501394" y="4372525"/>
            <a:ext cx="521547" cy="521547"/>
          </a:xfrm>
          <a:prstGeom prst="roundRect">
            <a:avLst>
              <a:gd name="adj" fmla="val 8571"/>
            </a:avLst>
          </a:prstGeom>
          <a:solidFill>
            <a:srgbClr val="164716"/>
          </a:solidFill>
          <a:ln w="10348">
            <a:solidFill>
              <a:srgbClr val="164716"/>
            </a:solidFill>
            <a:prstDash val="solid"/>
          </a:ln>
        </p:spPr>
      </p:sp>
      <p:sp>
        <p:nvSpPr>
          <p:cNvPr id="85" name="Text 83"/>
          <p:cNvSpPr txBox="1"/>
          <p:nvPr/>
        </p:nvSpPr>
        <p:spPr>
          <a:xfrm>
            <a:off x="1501394"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41</a:t>
            </a:r>
            <a:endParaRPr lang="en-US" sz="1141" dirty="0"/>
          </a:p>
        </p:txBody>
      </p:sp>
      <p:sp>
        <p:nvSpPr>
          <p:cNvPr id="86" name="Item 42"/>
          <p:cNvSpPr/>
          <p:nvPr/>
        </p:nvSpPr>
        <p:spPr>
          <a:xfrm>
            <a:off x="2112349" y="4372525"/>
            <a:ext cx="521547" cy="521547"/>
          </a:xfrm>
          <a:prstGeom prst="roundRect">
            <a:avLst>
              <a:gd name="adj" fmla="val 8571"/>
            </a:avLst>
          </a:prstGeom>
          <a:solidFill>
            <a:srgbClr val="164716"/>
          </a:solidFill>
          <a:ln w="10348">
            <a:solidFill>
              <a:srgbClr val="164716"/>
            </a:solidFill>
            <a:prstDash val="solid"/>
          </a:ln>
        </p:spPr>
      </p:sp>
      <p:sp>
        <p:nvSpPr>
          <p:cNvPr id="87" name="Text 85"/>
          <p:cNvSpPr txBox="1"/>
          <p:nvPr/>
        </p:nvSpPr>
        <p:spPr>
          <a:xfrm>
            <a:off x="2112349"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42</a:t>
            </a:r>
            <a:endParaRPr lang="en-US" sz="1141" dirty="0"/>
          </a:p>
        </p:txBody>
      </p:sp>
      <p:sp>
        <p:nvSpPr>
          <p:cNvPr id="88" name="Item 43"/>
          <p:cNvSpPr/>
          <p:nvPr/>
        </p:nvSpPr>
        <p:spPr>
          <a:xfrm>
            <a:off x="2723303" y="4372525"/>
            <a:ext cx="521547" cy="521547"/>
          </a:xfrm>
          <a:prstGeom prst="roundRect">
            <a:avLst>
              <a:gd name="adj" fmla="val 8571"/>
            </a:avLst>
          </a:prstGeom>
          <a:solidFill>
            <a:srgbClr val="164716"/>
          </a:solidFill>
          <a:ln w="10348">
            <a:solidFill>
              <a:srgbClr val="164716"/>
            </a:solidFill>
            <a:prstDash val="solid"/>
          </a:ln>
        </p:spPr>
      </p:sp>
      <p:sp>
        <p:nvSpPr>
          <p:cNvPr id="89" name="Text 87"/>
          <p:cNvSpPr txBox="1"/>
          <p:nvPr/>
        </p:nvSpPr>
        <p:spPr>
          <a:xfrm>
            <a:off x="2723303"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43</a:t>
            </a:r>
            <a:endParaRPr lang="en-US" sz="1141" dirty="0"/>
          </a:p>
        </p:txBody>
      </p:sp>
      <p:sp>
        <p:nvSpPr>
          <p:cNvPr id="90" name="Item 44"/>
          <p:cNvSpPr/>
          <p:nvPr/>
        </p:nvSpPr>
        <p:spPr>
          <a:xfrm>
            <a:off x="3334258" y="4372525"/>
            <a:ext cx="521547" cy="521547"/>
          </a:xfrm>
          <a:prstGeom prst="roundRect">
            <a:avLst>
              <a:gd name="adj" fmla="val 8571"/>
            </a:avLst>
          </a:prstGeom>
          <a:solidFill>
            <a:srgbClr val="164716"/>
          </a:solidFill>
          <a:ln w="10348">
            <a:solidFill>
              <a:srgbClr val="164716"/>
            </a:solidFill>
            <a:prstDash val="solid"/>
          </a:ln>
        </p:spPr>
      </p:sp>
      <p:sp>
        <p:nvSpPr>
          <p:cNvPr id="91" name="Text 89"/>
          <p:cNvSpPr txBox="1"/>
          <p:nvPr/>
        </p:nvSpPr>
        <p:spPr>
          <a:xfrm>
            <a:off x="3334258"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44</a:t>
            </a:r>
            <a:endParaRPr lang="en-US" sz="1141" dirty="0"/>
          </a:p>
        </p:txBody>
      </p:sp>
      <p:sp>
        <p:nvSpPr>
          <p:cNvPr id="92" name="Item 45"/>
          <p:cNvSpPr/>
          <p:nvPr/>
        </p:nvSpPr>
        <p:spPr>
          <a:xfrm>
            <a:off x="3945213" y="4372525"/>
            <a:ext cx="521547" cy="521547"/>
          </a:xfrm>
          <a:prstGeom prst="roundRect">
            <a:avLst>
              <a:gd name="adj" fmla="val 8571"/>
            </a:avLst>
          </a:prstGeom>
          <a:solidFill>
            <a:srgbClr val="164716"/>
          </a:solidFill>
          <a:ln w="10348">
            <a:solidFill>
              <a:srgbClr val="164716"/>
            </a:solidFill>
            <a:prstDash val="solid"/>
          </a:ln>
        </p:spPr>
      </p:sp>
      <p:sp>
        <p:nvSpPr>
          <p:cNvPr id="93" name="Text 91"/>
          <p:cNvSpPr txBox="1"/>
          <p:nvPr/>
        </p:nvSpPr>
        <p:spPr>
          <a:xfrm>
            <a:off x="3945213"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45</a:t>
            </a:r>
            <a:endParaRPr lang="en-US" sz="1141" dirty="0"/>
          </a:p>
        </p:txBody>
      </p:sp>
      <p:sp>
        <p:nvSpPr>
          <p:cNvPr id="94" name="Item 46"/>
          <p:cNvSpPr/>
          <p:nvPr/>
        </p:nvSpPr>
        <p:spPr>
          <a:xfrm>
            <a:off x="4556167" y="4372525"/>
            <a:ext cx="521547" cy="521547"/>
          </a:xfrm>
          <a:prstGeom prst="roundRect">
            <a:avLst>
              <a:gd name="adj" fmla="val 8571"/>
            </a:avLst>
          </a:prstGeom>
          <a:solidFill>
            <a:srgbClr val="164716"/>
          </a:solidFill>
          <a:ln w="10348">
            <a:solidFill>
              <a:srgbClr val="164716"/>
            </a:solidFill>
            <a:prstDash val="solid"/>
          </a:ln>
        </p:spPr>
      </p:sp>
      <p:sp>
        <p:nvSpPr>
          <p:cNvPr id="95" name="Text 93"/>
          <p:cNvSpPr txBox="1"/>
          <p:nvPr/>
        </p:nvSpPr>
        <p:spPr>
          <a:xfrm>
            <a:off x="4556167"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46</a:t>
            </a:r>
            <a:endParaRPr lang="en-US" sz="1141" dirty="0"/>
          </a:p>
        </p:txBody>
      </p:sp>
      <p:sp>
        <p:nvSpPr>
          <p:cNvPr id="96" name="Item 47"/>
          <p:cNvSpPr/>
          <p:nvPr/>
        </p:nvSpPr>
        <p:spPr>
          <a:xfrm>
            <a:off x="5167122" y="4372525"/>
            <a:ext cx="521547" cy="521547"/>
          </a:xfrm>
          <a:prstGeom prst="roundRect">
            <a:avLst>
              <a:gd name="adj" fmla="val 8571"/>
            </a:avLst>
          </a:prstGeom>
          <a:solidFill>
            <a:srgbClr val="4C8C4A"/>
          </a:solidFill>
          <a:ln w="10348">
            <a:solidFill>
              <a:srgbClr val="4C8C4A"/>
            </a:solidFill>
            <a:prstDash val="solid"/>
          </a:ln>
        </p:spPr>
      </p:sp>
      <p:sp>
        <p:nvSpPr>
          <p:cNvPr id="97" name="Text 95"/>
          <p:cNvSpPr txBox="1"/>
          <p:nvPr/>
        </p:nvSpPr>
        <p:spPr>
          <a:xfrm>
            <a:off x="5167122"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47</a:t>
            </a:r>
            <a:endParaRPr lang="en-US" sz="1141" dirty="0"/>
          </a:p>
        </p:txBody>
      </p:sp>
      <p:sp>
        <p:nvSpPr>
          <p:cNvPr id="98" name="Item 48"/>
          <p:cNvSpPr/>
          <p:nvPr/>
        </p:nvSpPr>
        <p:spPr>
          <a:xfrm>
            <a:off x="5778077" y="4372525"/>
            <a:ext cx="521547" cy="521547"/>
          </a:xfrm>
          <a:prstGeom prst="roundRect">
            <a:avLst>
              <a:gd name="adj" fmla="val 8571"/>
            </a:avLst>
          </a:prstGeom>
          <a:solidFill>
            <a:srgbClr val="4C8C4A"/>
          </a:solidFill>
          <a:ln w="10348">
            <a:solidFill>
              <a:srgbClr val="4C8C4A"/>
            </a:solidFill>
            <a:prstDash val="solid"/>
          </a:ln>
        </p:spPr>
      </p:sp>
      <p:sp>
        <p:nvSpPr>
          <p:cNvPr id="99" name="Text 97"/>
          <p:cNvSpPr txBox="1"/>
          <p:nvPr/>
        </p:nvSpPr>
        <p:spPr>
          <a:xfrm>
            <a:off x="5778077"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48</a:t>
            </a:r>
            <a:endParaRPr lang="en-US" sz="1141" dirty="0"/>
          </a:p>
        </p:txBody>
      </p:sp>
      <p:sp>
        <p:nvSpPr>
          <p:cNvPr id="100" name="Item 49"/>
          <p:cNvSpPr/>
          <p:nvPr/>
        </p:nvSpPr>
        <p:spPr>
          <a:xfrm>
            <a:off x="6389031" y="4372525"/>
            <a:ext cx="521547" cy="521547"/>
          </a:xfrm>
          <a:prstGeom prst="roundRect">
            <a:avLst>
              <a:gd name="adj" fmla="val 8571"/>
            </a:avLst>
          </a:prstGeom>
          <a:solidFill>
            <a:srgbClr val="4C8C4A"/>
          </a:solidFill>
          <a:ln w="10348">
            <a:solidFill>
              <a:srgbClr val="4C8C4A"/>
            </a:solidFill>
            <a:prstDash val="solid"/>
          </a:ln>
        </p:spPr>
      </p:sp>
      <p:sp>
        <p:nvSpPr>
          <p:cNvPr id="101" name="Text 99"/>
          <p:cNvSpPr txBox="1"/>
          <p:nvPr/>
        </p:nvSpPr>
        <p:spPr>
          <a:xfrm>
            <a:off x="6389031"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49</a:t>
            </a:r>
            <a:endParaRPr lang="en-US" sz="1141" dirty="0"/>
          </a:p>
        </p:txBody>
      </p:sp>
      <p:sp>
        <p:nvSpPr>
          <p:cNvPr id="102" name="Item 50"/>
          <p:cNvSpPr/>
          <p:nvPr/>
        </p:nvSpPr>
        <p:spPr>
          <a:xfrm>
            <a:off x="6999986" y="4372525"/>
            <a:ext cx="521547" cy="521547"/>
          </a:xfrm>
          <a:prstGeom prst="roundRect">
            <a:avLst>
              <a:gd name="adj" fmla="val 8571"/>
            </a:avLst>
          </a:prstGeom>
          <a:solidFill>
            <a:srgbClr val="64748B"/>
          </a:solidFill>
          <a:ln w="10348">
            <a:solidFill>
              <a:srgbClr val="64748B"/>
            </a:solidFill>
            <a:prstDash val="solid"/>
          </a:ln>
        </p:spPr>
      </p:sp>
      <p:sp>
        <p:nvSpPr>
          <p:cNvPr id="103" name="Text 101"/>
          <p:cNvSpPr txBox="1"/>
          <p:nvPr/>
        </p:nvSpPr>
        <p:spPr>
          <a:xfrm>
            <a:off x="6999986" y="4372525"/>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50</a:t>
            </a:r>
            <a:endParaRPr lang="en-US" sz="1141" dirty="0"/>
          </a:p>
        </p:txBody>
      </p:sp>
      <p:sp>
        <p:nvSpPr>
          <p:cNvPr id="104" name="Item 51"/>
          <p:cNvSpPr/>
          <p:nvPr/>
        </p:nvSpPr>
        <p:spPr>
          <a:xfrm>
            <a:off x="1501394" y="4983480"/>
            <a:ext cx="521547" cy="521547"/>
          </a:xfrm>
          <a:prstGeom prst="roundRect">
            <a:avLst>
              <a:gd name="adj" fmla="val 8571"/>
            </a:avLst>
          </a:prstGeom>
          <a:solidFill>
            <a:srgbClr val="64748B"/>
          </a:solidFill>
          <a:ln w="10348">
            <a:solidFill>
              <a:srgbClr val="64748B"/>
            </a:solidFill>
            <a:prstDash val="solid"/>
          </a:ln>
        </p:spPr>
      </p:sp>
      <p:sp>
        <p:nvSpPr>
          <p:cNvPr id="105" name="Text 103"/>
          <p:cNvSpPr txBox="1"/>
          <p:nvPr/>
        </p:nvSpPr>
        <p:spPr>
          <a:xfrm>
            <a:off x="1501394"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51</a:t>
            </a:r>
            <a:endParaRPr lang="en-US" sz="1141" dirty="0"/>
          </a:p>
        </p:txBody>
      </p:sp>
      <p:sp>
        <p:nvSpPr>
          <p:cNvPr id="106" name="Item 52"/>
          <p:cNvSpPr/>
          <p:nvPr/>
        </p:nvSpPr>
        <p:spPr>
          <a:xfrm>
            <a:off x="2112349" y="4983480"/>
            <a:ext cx="521547" cy="521547"/>
          </a:xfrm>
          <a:prstGeom prst="roundRect">
            <a:avLst>
              <a:gd name="adj" fmla="val 8571"/>
            </a:avLst>
          </a:prstGeom>
          <a:solidFill>
            <a:srgbClr val="64748B"/>
          </a:solidFill>
          <a:ln w="10348">
            <a:solidFill>
              <a:srgbClr val="64748B"/>
            </a:solidFill>
            <a:prstDash val="solid"/>
          </a:ln>
        </p:spPr>
      </p:sp>
      <p:sp>
        <p:nvSpPr>
          <p:cNvPr id="107" name="Text 105"/>
          <p:cNvSpPr txBox="1"/>
          <p:nvPr/>
        </p:nvSpPr>
        <p:spPr>
          <a:xfrm>
            <a:off x="2112349"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52</a:t>
            </a:r>
            <a:endParaRPr lang="en-US" sz="1141" dirty="0"/>
          </a:p>
        </p:txBody>
      </p:sp>
      <p:sp>
        <p:nvSpPr>
          <p:cNvPr id="108" name="Item 53"/>
          <p:cNvSpPr/>
          <p:nvPr/>
        </p:nvSpPr>
        <p:spPr>
          <a:xfrm>
            <a:off x="2723303" y="4983480"/>
            <a:ext cx="521547" cy="521547"/>
          </a:xfrm>
          <a:prstGeom prst="roundRect">
            <a:avLst>
              <a:gd name="adj" fmla="val 8571"/>
            </a:avLst>
          </a:prstGeom>
          <a:solidFill>
            <a:srgbClr val="64748B"/>
          </a:solidFill>
          <a:ln w="10348">
            <a:solidFill>
              <a:srgbClr val="64748B"/>
            </a:solidFill>
            <a:prstDash val="solid"/>
          </a:ln>
        </p:spPr>
      </p:sp>
      <p:sp>
        <p:nvSpPr>
          <p:cNvPr id="109" name="Text 107"/>
          <p:cNvSpPr txBox="1"/>
          <p:nvPr/>
        </p:nvSpPr>
        <p:spPr>
          <a:xfrm>
            <a:off x="2723303"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53</a:t>
            </a:r>
            <a:endParaRPr lang="en-US" sz="1141" dirty="0"/>
          </a:p>
        </p:txBody>
      </p:sp>
      <p:sp>
        <p:nvSpPr>
          <p:cNvPr id="110" name="Item 54"/>
          <p:cNvSpPr/>
          <p:nvPr/>
        </p:nvSpPr>
        <p:spPr>
          <a:xfrm>
            <a:off x="3334258" y="4983480"/>
            <a:ext cx="521547" cy="521547"/>
          </a:xfrm>
          <a:prstGeom prst="roundRect">
            <a:avLst>
              <a:gd name="adj" fmla="val 8571"/>
            </a:avLst>
          </a:prstGeom>
          <a:solidFill>
            <a:srgbClr val="64748B"/>
          </a:solidFill>
          <a:ln w="10348">
            <a:solidFill>
              <a:srgbClr val="64748B"/>
            </a:solidFill>
            <a:prstDash val="solid"/>
          </a:ln>
        </p:spPr>
      </p:sp>
      <p:sp>
        <p:nvSpPr>
          <p:cNvPr id="111" name="Text 109"/>
          <p:cNvSpPr txBox="1"/>
          <p:nvPr/>
        </p:nvSpPr>
        <p:spPr>
          <a:xfrm>
            <a:off x="3334258"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54</a:t>
            </a:r>
            <a:endParaRPr lang="en-US" sz="1141" dirty="0"/>
          </a:p>
        </p:txBody>
      </p:sp>
      <p:sp>
        <p:nvSpPr>
          <p:cNvPr id="112" name="Item 55"/>
          <p:cNvSpPr/>
          <p:nvPr/>
        </p:nvSpPr>
        <p:spPr>
          <a:xfrm>
            <a:off x="3945213" y="4983480"/>
            <a:ext cx="521547" cy="521547"/>
          </a:xfrm>
          <a:prstGeom prst="roundRect">
            <a:avLst>
              <a:gd name="adj" fmla="val 8571"/>
            </a:avLst>
          </a:prstGeom>
          <a:solidFill>
            <a:srgbClr val="4C8C4A"/>
          </a:solidFill>
          <a:ln w="10348">
            <a:solidFill>
              <a:srgbClr val="4C8C4A"/>
            </a:solidFill>
            <a:prstDash val="solid"/>
          </a:ln>
        </p:spPr>
      </p:sp>
      <p:sp>
        <p:nvSpPr>
          <p:cNvPr id="113" name="Text 111"/>
          <p:cNvSpPr txBox="1"/>
          <p:nvPr/>
        </p:nvSpPr>
        <p:spPr>
          <a:xfrm>
            <a:off x="3945213"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55</a:t>
            </a:r>
            <a:endParaRPr lang="en-US" sz="1141" dirty="0"/>
          </a:p>
        </p:txBody>
      </p:sp>
      <p:sp>
        <p:nvSpPr>
          <p:cNvPr id="114" name="Item 56"/>
          <p:cNvSpPr/>
          <p:nvPr/>
        </p:nvSpPr>
        <p:spPr>
          <a:xfrm>
            <a:off x="4556167" y="4983480"/>
            <a:ext cx="521547" cy="521547"/>
          </a:xfrm>
          <a:prstGeom prst="roundRect">
            <a:avLst>
              <a:gd name="adj" fmla="val 8571"/>
            </a:avLst>
          </a:prstGeom>
          <a:solidFill>
            <a:srgbClr val="64748B"/>
          </a:solidFill>
          <a:ln w="10348">
            <a:solidFill>
              <a:srgbClr val="64748B"/>
            </a:solidFill>
            <a:prstDash val="solid"/>
          </a:ln>
        </p:spPr>
      </p:sp>
      <p:sp>
        <p:nvSpPr>
          <p:cNvPr id="115" name="Text 113"/>
          <p:cNvSpPr txBox="1"/>
          <p:nvPr/>
        </p:nvSpPr>
        <p:spPr>
          <a:xfrm>
            <a:off x="4556167"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56</a:t>
            </a:r>
            <a:endParaRPr lang="en-US" sz="1141" dirty="0"/>
          </a:p>
        </p:txBody>
      </p:sp>
      <p:sp>
        <p:nvSpPr>
          <p:cNvPr id="116" name="Item 57"/>
          <p:cNvSpPr/>
          <p:nvPr/>
        </p:nvSpPr>
        <p:spPr>
          <a:xfrm>
            <a:off x="5167122" y="4983480"/>
            <a:ext cx="521547" cy="521547"/>
          </a:xfrm>
          <a:prstGeom prst="roundRect">
            <a:avLst>
              <a:gd name="adj" fmla="val 8571"/>
            </a:avLst>
          </a:prstGeom>
          <a:solidFill>
            <a:srgbClr val="64748B"/>
          </a:solidFill>
          <a:ln w="10348">
            <a:solidFill>
              <a:srgbClr val="64748B"/>
            </a:solidFill>
            <a:prstDash val="solid"/>
          </a:ln>
        </p:spPr>
      </p:sp>
      <p:sp>
        <p:nvSpPr>
          <p:cNvPr id="117" name="Text 115"/>
          <p:cNvSpPr txBox="1"/>
          <p:nvPr/>
        </p:nvSpPr>
        <p:spPr>
          <a:xfrm>
            <a:off x="5167122"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57</a:t>
            </a:r>
            <a:endParaRPr lang="en-US" sz="1141" dirty="0"/>
          </a:p>
        </p:txBody>
      </p:sp>
      <p:sp>
        <p:nvSpPr>
          <p:cNvPr id="118" name="Item 58"/>
          <p:cNvSpPr/>
          <p:nvPr/>
        </p:nvSpPr>
        <p:spPr>
          <a:xfrm>
            <a:off x="5778077" y="4983480"/>
            <a:ext cx="521547" cy="521547"/>
          </a:xfrm>
          <a:prstGeom prst="roundRect">
            <a:avLst>
              <a:gd name="adj" fmla="val 8571"/>
            </a:avLst>
          </a:prstGeom>
          <a:solidFill>
            <a:srgbClr val="164716"/>
          </a:solidFill>
          <a:ln w="10348">
            <a:solidFill>
              <a:srgbClr val="164716"/>
            </a:solidFill>
            <a:prstDash val="solid"/>
          </a:ln>
        </p:spPr>
      </p:sp>
      <p:sp>
        <p:nvSpPr>
          <p:cNvPr id="119" name="Text 117"/>
          <p:cNvSpPr txBox="1"/>
          <p:nvPr/>
        </p:nvSpPr>
        <p:spPr>
          <a:xfrm>
            <a:off x="5778077" y="4983480"/>
            <a:ext cx="521547" cy="521547"/>
          </a:xfrm>
          <a:prstGeom prst="rect">
            <a:avLst/>
          </a:prstGeom>
          <a:noFill/>
          <a:ln/>
        </p:spPr>
        <p:txBody>
          <a:bodyPr wrap="square" lIns="0" tIns="0" rIns="0" bIns="0" rtlCol="0" anchor="ctr"/>
          <a:lstStyle/>
          <a:p>
            <a:pPr algn="ctr" indent="0" marL="0">
              <a:buNone/>
            </a:pPr>
            <a:r>
              <a:rPr lang="en-US" sz="1141" b="1" dirty="0">
                <a:solidFill>
                  <a:srgbClr val="FFFFFF"/>
                </a:solidFill>
              </a:rPr>
              <a:t>58</a:t>
            </a:r>
            <a:endParaRPr lang="en-US" sz="1141" dirty="0"/>
          </a:p>
        </p:txBody>
      </p:sp>
      <p:sp>
        <p:nvSpPr>
          <p:cNvPr id="120" name="Shape 118"/>
          <p:cNvSpPr/>
          <p:nvPr/>
        </p:nvSpPr>
        <p:spPr>
          <a:xfrm>
            <a:off x="7834461" y="2003213"/>
            <a:ext cx="335280" cy="335280"/>
          </a:xfrm>
          <a:prstGeom prst="roundRect">
            <a:avLst>
              <a:gd name="adj" fmla="val 11111"/>
            </a:avLst>
          </a:prstGeom>
          <a:solidFill>
            <a:srgbClr val="164716"/>
          </a:solidFill>
          <a:ln w="10348">
            <a:solidFill>
              <a:srgbClr val="164716"/>
            </a:solidFill>
            <a:prstDash val="solid"/>
          </a:ln>
        </p:spPr>
      </p:sp>
      <p:sp>
        <p:nvSpPr>
          <p:cNvPr id="121" name="Text 119"/>
          <p:cNvSpPr txBox="1"/>
          <p:nvPr/>
        </p:nvSpPr>
        <p:spPr>
          <a:xfrm>
            <a:off x="8281501" y="1965960"/>
            <a:ext cx="2458720" cy="409787"/>
          </a:xfrm>
          <a:prstGeom prst="rect">
            <a:avLst/>
          </a:prstGeom>
          <a:noFill/>
          <a:ln/>
        </p:spPr>
        <p:txBody>
          <a:bodyPr wrap="square" lIns="0" tIns="0" rIns="0" bIns="0" rtlCol="0" anchor="ctr"/>
          <a:lstStyle/>
          <a:p>
            <a:pPr indent="0" marL="0">
              <a:buNone/>
            </a:pPr>
            <a:r>
              <a:rPr lang="en-US" sz="1141" b="1" dirty="0">
                <a:solidFill>
                  <a:srgbClr val="1F2937"/>
                </a:solidFill>
              </a:rPr>
              <a:t>32  </a:t>
            </a:r>
            <a:pPr indent="0" marL="0">
              <a:buNone/>
            </a:pPr>
            <a:r>
              <a:rPr lang="en-US" sz="1141" dirty="0">
                <a:solidFill>
                  <a:srgbClr val="1F2937"/>
                </a:solidFill>
              </a:rPr>
              <a:t>Demonstrated in the demo</a:t>
            </a:r>
            <a:endParaRPr lang="en-US" sz="1141" dirty="0"/>
          </a:p>
        </p:txBody>
      </p:sp>
      <p:sp>
        <p:nvSpPr>
          <p:cNvPr id="122" name="Shape 120"/>
          <p:cNvSpPr/>
          <p:nvPr/>
        </p:nvSpPr>
        <p:spPr>
          <a:xfrm>
            <a:off x="7834461" y="2562013"/>
            <a:ext cx="335280" cy="335280"/>
          </a:xfrm>
          <a:prstGeom prst="roundRect">
            <a:avLst>
              <a:gd name="adj" fmla="val 11111"/>
            </a:avLst>
          </a:prstGeom>
          <a:solidFill>
            <a:srgbClr val="4C8C4A"/>
          </a:solidFill>
          <a:ln w="10348">
            <a:solidFill>
              <a:srgbClr val="4C8C4A"/>
            </a:solidFill>
            <a:prstDash val="solid"/>
          </a:ln>
        </p:spPr>
      </p:sp>
      <p:sp>
        <p:nvSpPr>
          <p:cNvPr id="123" name="Text 121"/>
          <p:cNvSpPr txBox="1"/>
          <p:nvPr/>
        </p:nvSpPr>
        <p:spPr>
          <a:xfrm>
            <a:off x="8281501" y="2524760"/>
            <a:ext cx="2458720" cy="409787"/>
          </a:xfrm>
          <a:prstGeom prst="rect">
            <a:avLst/>
          </a:prstGeom>
          <a:noFill/>
          <a:ln/>
        </p:spPr>
        <p:txBody>
          <a:bodyPr wrap="square" lIns="0" tIns="0" rIns="0" bIns="0" rtlCol="0" anchor="ctr"/>
          <a:lstStyle/>
          <a:p>
            <a:pPr indent="0" marL="0">
              <a:buNone/>
            </a:pPr>
            <a:r>
              <a:rPr lang="en-US" sz="1141" b="1" dirty="0">
                <a:solidFill>
                  <a:srgbClr val="1F2937"/>
                </a:solidFill>
              </a:rPr>
              <a:t>12  </a:t>
            </a:r>
            <a:pPr indent="0" marL="0">
              <a:buNone/>
            </a:pPr>
            <a:r>
              <a:rPr lang="en-US" sz="1141" dirty="0">
                <a:solidFill>
                  <a:srgbClr val="1F2937"/>
                </a:solidFill>
              </a:rPr>
              <a:t>Demonstrated; completed at deployment</a:t>
            </a:r>
            <a:endParaRPr lang="en-US" sz="1141" dirty="0"/>
          </a:p>
        </p:txBody>
      </p:sp>
      <p:sp>
        <p:nvSpPr>
          <p:cNvPr id="124" name="Shape 122"/>
          <p:cNvSpPr/>
          <p:nvPr/>
        </p:nvSpPr>
        <p:spPr>
          <a:xfrm>
            <a:off x="7834461" y="3120813"/>
            <a:ext cx="335280" cy="335280"/>
          </a:xfrm>
          <a:prstGeom prst="roundRect">
            <a:avLst>
              <a:gd name="adj" fmla="val 11111"/>
            </a:avLst>
          </a:prstGeom>
          <a:solidFill>
            <a:srgbClr val="64748B"/>
          </a:solidFill>
          <a:ln w="10348">
            <a:solidFill>
              <a:srgbClr val="64748B"/>
            </a:solidFill>
            <a:prstDash val="solid"/>
          </a:ln>
        </p:spPr>
      </p:sp>
      <p:sp>
        <p:nvSpPr>
          <p:cNvPr id="125" name="Text 123"/>
          <p:cNvSpPr txBox="1"/>
          <p:nvPr/>
        </p:nvSpPr>
        <p:spPr>
          <a:xfrm>
            <a:off x="8281501" y="3083560"/>
            <a:ext cx="2458720" cy="409787"/>
          </a:xfrm>
          <a:prstGeom prst="rect">
            <a:avLst/>
          </a:prstGeom>
          <a:noFill/>
          <a:ln/>
        </p:spPr>
        <p:txBody>
          <a:bodyPr wrap="square" lIns="0" tIns="0" rIns="0" bIns="0" rtlCol="0" anchor="ctr"/>
          <a:lstStyle/>
          <a:p>
            <a:pPr indent="0" marL="0">
              <a:buNone/>
            </a:pPr>
            <a:r>
              <a:rPr lang="en-US" sz="1141" b="1" dirty="0">
                <a:solidFill>
                  <a:srgbClr val="1F2937"/>
                </a:solidFill>
              </a:rPr>
              <a:t>14  </a:t>
            </a:r>
            <a:pPr indent="0" marL="0">
              <a:buNone/>
            </a:pPr>
            <a:r>
              <a:rPr lang="en-US" sz="1141" dirty="0">
                <a:solidFill>
                  <a:srgbClr val="1F2937"/>
                </a:solidFill>
              </a:rPr>
              <a:t>Delivered during implementation</a:t>
            </a:r>
            <a:endParaRPr lang="en-US" sz="1141" dirty="0"/>
          </a:p>
        </p:txBody>
      </p:sp>
      <p:sp>
        <p:nvSpPr>
          <p:cNvPr id="126" name="Text 124"/>
          <p:cNvSpPr txBox="1"/>
          <p:nvPr/>
        </p:nvSpPr>
        <p:spPr>
          <a:xfrm>
            <a:off x="7834461" y="3791373"/>
            <a:ext cx="2868507" cy="1788160"/>
          </a:xfrm>
          <a:prstGeom prst="rect">
            <a:avLst/>
          </a:prstGeom>
          <a:noFill/>
          <a:ln/>
        </p:spPr>
        <p:txBody>
          <a:bodyPr wrap="square" lIns="0" tIns="0" rIns="0" bIns="0" rtlCol="0" anchor="t"/>
          <a:lstStyle/>
          <a:p>
            <a:pPr indent="0" marL="0">
              <a:buNone/>
            </a:pPr>
            <a:r>
              <a:rPr lang="en-US" sz="978" dirty="0">
                <a:solidFill>
                  <a:srgbClr val="5B6472"/>
                </a:solidFill>
              </a:rPr>
              <a:t>Items delivered during implementation: AD/LDAP, backup, DR, high availability, load and performance testing, availability, vulnerability assessment, documentation, training, warranty, deployment and UAT; see the Technical Proposal.</a:t>
            </a:r>
            <a:endParaRPr lang="en-US" sz="978"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itle"/>
          <p:cNvSpPr txBox="1"/>
          <p:nvPr/>
        </p:nvSpPr>
        <p:spPr>
          <a:xfrm>
            <a:off x="1650407" y="2748280"/>
            <a:ext cx="8791787" cy="745067"/>
          </a:xfrm>
          <a:prstGeom prst="rect">
            <a:avLst/>
          </a:prstGeom>
          <a:noFill/>
          <a:ln/>
        </p:spPr>
        <p:txBody>
          <a:bodyPr wrap="square" lIns="0" tIns="0" rIns="0" bIns="0" rtlCol="0" anchor="ctr"/>
          <a:lstStyle/>
          <a:p>
            <a:pPr indent="0" marL="0">
              <a:buNone/>
            </a:pPr>
            <a:r>
              <a:rPr lang="en-US" sz="3911" b="1" dirty="0">
                <a:solidFill>
                  <a:srgbClr val="FFFFFF"/>
                </a:solidFill>
                <a:latin typeface="Cambria" pitchFamily="34" charset="0"/>
                <a:ea typeface="Cambria" pitchFamily="34" charset="-122"/>
                <a:cs typeface="Cambria" pitchFamily="34" charset="-120"/>
              </a:rPr>
              <a:t>Thank you</a:t>
            </a:r>
            <a:endParaRPr lang="en-US" sz="3911" dirty="0"/>
          </a:p>
        </p:txBody>
      </p:sp>
      <p:sp>
        <p:nvSpPr>
          <p:cNvPr id="3" name="Text 1"/>
          <p:cNvSpPr txBox="1"/>
          <p:nvPr/>
        </p:nvSpPr>
        <p:spPr>
          <a:xfrm>
            <a:off x="1650407" y="3605107"/>
            <a:ext cx="8791787" cy="1117600"/>
          </a:xfrm>
          <a:prstGeom prst="rect">
            <a:avLst/>
          </a:prstGeom>
          <a:noFill/>
          <a:ln/>
        </p:spPr>
        <p:txBody>
          <a:bodyPr wrap="square" lIns="0" tIns="0" rIns="0" bIns="0" rtlCol="0" anchor="ctr"/>
          <a:lstStyle/>
          <a:p>
            <a:pPr indent="0" marL="0">
              <a:spcAft>
                <a:spcPts val="489"/>
              </a:spcAft>
              <a:buNone/>
            </a:pPr>
            <a:r>
              <a:rPr lang="en-US" sz="1304" dirty="0">
                <a:solidFill>
                  <a:srgbClr val="D6E4D5"/>
                </a:solidFill>
              </a:rPr>
              <a:t>Live demo: https://birds-demo.onrender.com</a:t>
            </a:r>
            <a:endParaRPr lang="en-US" sz="1304" dirty="0"/>
          </a:p>
          <a:p>
            <a:pPr indent="0" marL="0">
              <a:spcAft>
                <a:spcPts val="489"/>
              </a:spcAft>
              <a:buNone/>
            </a:pPr>
            <a:r>
              <a:rPr lang="en-US" sz="1304" dirty="0">
                <a:solidFill>
                  <a:srgbClr val="D6E4D5"/>
                </a:solidFill>
              </a:rPr>
              <a:t>API documentation: https://birds-demo.onrender.com/api/docs</a:t>
            </a:r>
            <a:endParaRPr lang="en-US" sz="1304" dirty="0"/>
          </a:p>
          <a:p>
            <a:pPr indent="0" marL="0">
              <a:spcAft>
                <a:spcPts val="489"/>
              </a:spcAft>
              <a:buNone/>
            </a:pPr>
            <a:r>
              <a:rPr lang="en-US" sz="1304" dirty="0">
                <a:solidFill>
                  <a:srgbClr val="D6E4D5"/>
                </a:solidFill>
              </a:rPr>
              <a:t>Compliance Statement, Annex A, Annex B, Technical Proposal and Demonstration Guide are submitted with the offer.</a:t>
            </a:r>
            <a:endParaRPr lang="en-US" sz="1304" dirty="0"/>
          </a:p>
        </p:txBody>
      </p:sp>
      <p:sp>
        <p:nvSpPr>
          <p:cNvPr id="4" name="Text 2"/>
          <p:cNvSpPr txBox="1"/>
          <p:nvPr/>
        </p:nvSpPr>
        <p:spPr>
          <a:xfrm>
            <a:off x="1650407" y="4983480"/>
            <a:ext cx="8791787" cy="298027"/>
          </a:xfrm>
          <a:prstGeom prst="rect">
            <a:avLst/>
          </a:prstGeom>
          <a:noFill/>
          <a:ln/>
        </p:spPr>
        <p:txBody>
          <a:bodyPr wrap="square" lIns="0" tIns="0" rIns="0" bIns="0" rtlCol="0" anchor="ctr"/>
          <a:lstStyle/>
          <a:p>
            <a:pPr indent="0" marL="0">
              <a:buNone/>
            </a:pPr>
            <a:r>
              <a:rPr lang="en-US" sz="1141" b="1" dirty="0">
                <a:solidFill>
                  <a:srgbClr val="FFFFFF"/>
                </a:solidFill>
              </a:rPr>
              <a:t>Grace International  ·  e-GP tender tracking no. 1347267</a:t>
            </a:r>
            <a:endParaRPr lang="en-US" sz="1141" dirty="0"/>
          </a:p>
        </p:txBody>
      </p:sp>
    </p:spTree>
  </p:cSld>
  <p:clrMapOvr>
    <a:masterClrMapping/>
  </p:clrMapOvr>
</p:sld>
</file>

<file path=ppt/theme/theme1.xml><?xml version="1.0" encoding="utf-8"?>
<a:theme xmlns:a="http://schemas.openxmlformats.org/drawingml/2006/main" name="BIRDS">
  <a:themeElements>
    <a:clrScheme name="BIRDS">
      <a:dk1>
        <a:srgbClr val="1F2937"/>
      </a:dk1>
      <a:lt1>
        <a:srgbClr val="FFFFFF"/>
      </a:lt1>
      <a:dk2>
        <a:srgbClr val="164716"/>
      </a:dk2>
      <a:lt2>
        <a:srgbClr val="F1F5F2"/>
      </a:lt2>
      <a:accent1>
        <a:srgbClr val="164716"/>
      </a:accent1>
      <a:accent2>
        <a:srgbClr val="4C8C4A"/>
      </a:accent2>
      <a:accent3>
        <a:srgbClr val="64748B"/>
      </a:accent3>
      <a:accent4>
        <a:srgbClr val="B45309"/>
      </a:accent4>
      <a:accent5>
        <a:srgbClr val="0F766E"/>
      </a:accent5>
      <a:accent6>
        <a:srgbClr val="991B1B"/>
      </a:accent6>
      <a:hlink>
        <a:srgbClr val="164716"/>
      </a:hlink>
      <a:folHlink>
        <a:srgbClr val="4C8C4A"/>
      </a:folHlink>
    </a:clrScheme>
    <a:fontScheme name="BIR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122</Slides>
  <Notes>122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122</vt:i4>
      </vt:variant>
    </vt:vector>
  </HeadingPairs>
  <TitlesOfParts>
    <vt:vector size="1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BIRDS Phase II — Requirement validation</dc:title>
  <dc:subject>PptxGenJS Presentation</dc:subject>
  <dc:creator>Grace International</dc:creator>
  <cp:lastModifiedBy>Grace International</cp:lastModifiedBy>
  <cp:revision>1</cp:revision>
  <dcterms:created xsi:type="dcterms:W3CDTF">2026-10-15T08:53:40Z</dcterms:created>
  <dcterms:modified xsi:type="dcterms:W3CDTF">2026-10-15T08:53:40Z</dcterms:modified>
</cp:coreProperties>
</file>